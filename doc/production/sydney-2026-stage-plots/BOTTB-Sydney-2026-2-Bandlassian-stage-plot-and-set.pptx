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65836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Arial"/>
              </a:rPr>
              <a:t>Bandlassian (Atlassian) — stage plot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0" y="182880"/>
            <a:ext cx="470001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rial"/>
              </a:rPr>
              <a:t>Set 7:50–8:15 pm · soundcheck 5:45 pm · contact on the day: Steve Kraynov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621792"/>
            <a:ext cx="10049256" cy="274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86384"/>
            <a:ext cx="10049256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700" b="0">
                <a:solidFill>
                  <a:srgbClr val="6B7280"/>
                </a:solidFill>
                <a:latin typeface="Arial"/>
              </a:rPr>
              <a:t>UPSTAGE (back wall)</a:t>
            </a:r>
          </a:p>
        </p:txBody>
      </p:sp>
      <p:sp>
        <p:nvSpPr>
          <p:cNvPr id="6" name="Stage"/>
          <p:cNvSpPr/>
          <p:nvPr/>
        </p:nvSpPr>
        <p:spPr>
          <a:xfrm>
            <a:off x="320040" y="978408"/>
            <a:ext cx="10049256" cy="5136286"/>
          </a:xfrm>
          <a:prstGeom prst="rect">
            <a:avLst/>
          </a:prstGeom>
          <a:solidFill>
            <a:srgbClr val="FAFAFA"/>
          </a:solidFill>
          <a:ln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334150"/>
            <a:ext cx="10049256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700" b="1">
                <a:solidFill>
                  <a:srgbClr val="6B7280"/>
                </a:solidFill>
                <a:latin typeface="Arial"/>
              </a:rPr>
              <a:t>AUDIENCE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334150"/>
            <a:ext cx="20116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Arial"/>
              </a:rPr>
              <a:t>◀ house left (stage right)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57616" y="6334150"/>
            <a:ext cx="20116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00" b="0">
                <a:solidFill>
                  <a:srgbClr val="6B7280"/>
                </a:solidFill>
                <a:latin typeface="Arial"/>
              </a:rPr>
              <a:t>house right (stage left) ▶</a:t>
            </a:r>
          </a:p>
        </p:txBody>
      </p:sp>
      <p:grpSp>
        <p:nvGrpSpPr>
          <p:cNvPr id="10" name="DW kit · ch 1–10"/>
          <p:cNvGrpSpPr/>
          <p:nvPr/>
        </p:nvGrpSpPr>
        <p:grpSpPr>
          <a:xfrm>
            <a:off x="4004767" y="1425041"/>
            <a:ext cx="2679801" cy="2009851"/>
            <a:chOff x="4004767" y="1425041"/>
            <a:chExt cx="2679801" cy="2009851"/>
          </a:xfrm>
        </p:grpSpPr>
        <p:sp>
          <p:nvSpPr>
            <p:cNvPr id="11" name="Rounded Rectangle 10"/>
            <p:cNvSpPr/>
            <p:nvPr/>
          </p:nvSpPr>
          <p:spPr>
            <a:xfrm>
              <a:off x="4004767" y="1425041"/>
              <a:ext cx="2679801" cy="2009851"/>
            </a:xfrm>
            <a:prstGeom prst="roundRect">
              <a:avLst/>
            </a:prstGeom>
            <a:solidFill>
              <a:srgbClr val="E8F0FA"/>
            </a:solidFill>
            <a:ln w="12700">
              <a:solidFill>
                <a:srgbClr val="9CA3A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004767" y="2251659"/>
              <a:ext cx="2679801" cy="356615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DW kit · ch 1–10</a:t>
              </a:r>
            </a:p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Ethan</a:t>
              </a:r>
            </a:p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riser 2.4 × 1.8 m</a:t>
              </a:r>
            </a:p>
          </p:txBody>
        </p:sp>
      </p:grpSp>
      <p:grpSp>
        <p:nvGrpSpPr>
          <p:cNvPr id="13" name="Fender · mic ch 13"/>
          <p:cNvGrpSpPr/>
          <p:nvPr/>
        </p:nvGrpSpPr>
        <p:grpSpPr>
          <a:xfrm>
            <a:off x="2186990" y="2904515"/>
            <a:ext cx="1737360" cy="538225"/>
            <a:chOff x="2186990" y="2904515"/>
            <a:chExt cx="1737360" cy="538225"/>
          </a:xfrm>
        </p:grpSpPr>
        <p:sp>
          <p:nvSpPr>
            <p:cNvPr id="14" name="Rounded Rectangle 13"/>
            <p:cNvSpPr/>
            <p:nvPr/>
          </p:nvSpPr>
          <p:spPr>
            <a:xfrm>
              <a:off x="2703946" y="2904515"/>
              <a:ext cx="703447" cy="279146"/>
            </a:xfrm>
            <a:prstGeom prst="roundRect">
              <a:avLst/>
            </a:prstGeom>
            <a:solidFill>
              <a:srgbClr val="FDF1E3"/>
            </a:solidFill>
            <a:ln w="12700">
              <a:solidFill>
                <a:srgbClr val="9CA3A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186990" y="3192805"/>
              <a:ext cx="1737360" cy="249935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Fender · mic ch 13</a:t>
              </a:r>
            </a:p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Eren / Kazuki</a:t>
              </a:r>
            </a:p>
          </p:txBody>
        </p:sp>
      </p:grpSp>
      <p:grpSp>
        <p:nvGrpSpPr>
          <p:cNvPr id="16" name="Ampeg"/>
          <p:cNvGrpSpPr/>
          <p:nvPr/>
        </p:nvGrpSpPr>
        <p:grpSpPr>
          <a:xfrm>
            <a:off x="6430009" y="2681198"/>
            <a:ext cx="1737360" cy="761542"/>
            <a:chOff x="6430009" y="2681198"/>
            <a:chExt cx="1737360" cy="761542"/>
          </a:xfrm>
        </p:grpSpPr>
        <p:sp>
          <p:nvSpPr>
            <p:cNvPr id="17" name="Rounded Rectangle 16"/>
            <p:cNvSpPr/>
            <p:nvPr/>
          </p:nvSpPr>
          <p:spPr>
            <a:xfrm>
              <a:off x="6958131" y="2681198"/>
              <a:ext cx="681116" cy="502462"/>
            </a:xfrm>
            <a:prstGeom prst="roundRect">
              <a:avLst/>
            </a:prstGeom>
            <a:solidFill>
              <a:srgbClr val="FDF5D6"/>
            </a:solidFill>
            <a:ln w="12700">
              <a:solidFill>
                <a:srgbClr val="9CA3A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430009" y="3192805"/>
              <a:ext cx="1737360" cy="249935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Ampeg</a:t>
              </a:r>
            </a:p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ch 11 + 12</a:t>
              </a:r>
            </a:p>
          </p:txBody>
        </p:sp>
      </p:grpSp>
      <p:grpSp>
        <p:nvGrpSpPr>
          <p:cNvPr id="19" name="Vox AC30 · mic ch 15"/>
          <p:cNvGrpSpPr/>
          <p:nvPr/>
        </p:nvGrpSpPr>
        <p:grpSpPr>
          <a:xfrm>
            <a:off x="7602423" y="2837520"/>
            <a:ext cx="1737360" cy="560557"/>
            <a:chOff x="7602423" y="2837520"/>
            <a:chExt cx="1737360" cy="560557"/>
          </a:xfrm>
        </p:grpSpPr>
        <p:sp>
          <p:nvSpPr>
            <p:cNvPr id="20" name="Rounded Rectangle 19"/>
            <p:cNvSpPr/>
            <p:nvPr/>
          </p:nvSpPr>
          <p:spPr>
            <a:xfrm>
              <a:off x="8080298" y="2837520"/>
              <a:ext cx="781608" cy="301477"/>
            </a:xfrm>
            <a:prstGeom prst="roundRect">
              <a:avLst/>
            </a:prstGeom>
            <a:solidFill>
              <a:srgbClr val="FDF1E3"/>
            </a:solidFill>
            <a:ln w="12700">
              <a:solidFill>
                <a:srgbClr val="9CA3A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602423" y="3148142"/>
              <a:ext cx="1737360" cy="249935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Vox AC30 · mic ch 15</a:t>
              </a:r>
            </a:p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Steve / Josh</a:t>
              </a:r>
            </a:p>
          </p:txBody>
        </p:sp>
      </p:grpSp>
      <p:grpSp>
        <p:nvGrpSpPr>
          <p:cNvPr id="22" name="Ethan's in-ear amp"/>
          <p:cNvGrpSpPr/>
          <p:nvPr/>
        </p:nvGrpSpPr>
        <p:grpSpPr>
          <a:xfrm>
            <a:off x="5257596" y="2709113"/>
            <a:ext cx="1737360" cy="705712"/>
            <a:chOff x="5257596" y="2709113"/>
            <a:chExt cx="1737360" cy="705712"/>
          </a:xfrm>
        </p:grpSpPr>
        <p:sp>
          <p:nvSpPr>
            <p:cNvPr id="23" name="Rounded Rectangle 22"/>
            <p:cNvSpPr/>
            <p:nvPr/>
          </p:nvSpPr>
          <p:spPr>
            <a:xfrm>
              <a:off x="5847130" y="2709113"/>
              <a:ext cx="558292" cy="446633"/>
            </a:xfrm>
            <a:prstGeom prst="roundRect">
              <a:avLst/>
            </a:prstGeom>
            <a:solidFill>
              <a:srgbClr val="FFEDD5"/>
            </a:solidFill>
            <a:ln w="12700">
              <a:solidFill>
                <a:srgbClr val="EA580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257596" y="3164890"/>
              <a:ext cx="1737360" cy="249935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Ethan's in-ear amp</a:t>
              </a:r>
            </a:p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XLR mix feed</a:t>
              </a:r>
            </a:p>
          </p:txBody>
        </p:sp>
      </p:grpSp>
      <p:grpSp>
        <p:nvGrpSpPr>
          <p:cNvPr id="25" name="Eren /"/>
          <p:cNvGrpSpPr/>
          <p:nvPr/>
        </p:nvGrpSpPr>
        <p:grpSpPr>
          <a:xfrm>
            <a:off x="2207666" y="3825697"/>
            <a:ext cx="914400" cy="558292"/>
            <a:chOff x="2207666" y="3825697"/>
            <a:chExt cx="914400" cy="558292"/>
          </a:xfrm>
        </p:grpSpPr>
        <p:sp>
          <p:nvSpPr>
            <p:cNvPr id="26" name="Oval 25"/>
            <p:cNvSpPr/>
            <p:nvPr/>
          </p:nvSpPr>
          <p:spPr>
            <a:xfrm>
              <a:off x="2385720" y="3825697"/>
              <a:ext cx="558292" cy="558292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7C3A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207666" y="3926535"/>
              <a:ext cx="914400" cy="356615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Eren /</a:t>
              </a:r>
            </a:p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Kazuki</a:t>
              </a:r>
            </a:p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guitar</a:t>
              </a:r>
            </a:p>
          </p:txBody>
        </p:sp>
      </p:grpSp>
      <p:grpSp>
        <p:nvGrpSpPr>
          <p:cNvPr id="28" name="Linda"/>
          <p:cNvGrpSpPr/>
          <p:nvPr/>
        </p:nvGrpSpPr>
        <p:grpSpPr>
          <a:xfrm>
            <a:off x="6674002" y="3881526"/>
            <a:ext cx="914400" cy="558292"/>
            <a:chOff x="6674002" y="3881526"/>
            <a:chExt cx="914400" cy="558292"/>
          </a:xfrm>
        </p:grpSpPr>
        <p:sp>
          <p:nvSpPr>
            <p:cNvPr id="29" name="Oval 28"/>
            <p:cNvSpPr/>
            <p:nvPr/>
          </p:nvSpPr>
          <p:spPr>
            <a:xfrm>
              <a:off x="6852056" y="3881526"/>
              <a:ext cx="558292" cy="558292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7C3A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674002" y="4035704"/>
              <a:ext cx="914400" cy="249935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Linda</a:t>
              </a:r>
            </a:p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bass</a:t>
              </a:r>
            </a:p>
          </p:txBody>
        </p:sp>
      </p:grpSp>
      <p:grpSp>
        <p:nvGrpSpPr>
          <p:cNvPr id="31" name="Josh /"/>
          <p:cNvGrpSpPr/>
          <p:nvPr/>
        </p:nvGrpSpPr>
        <p:grpSpPr>
          <a:xfrm>
            <a:off x="9018828" y="2988259"/>
            <a:ext cx="914400" cy="558292"/>
            <a:chOff x="9018828" y="2988259"/>
            <a:chExt cx="914400" cy="558292"/>
          </a:xfrm>
        </p:grpSpPr>
        <p:sp>
          <p:nvSpPr>
            <p:cNvPr id="32" name="Oval 31"/>
            <p:cNvSpPr/>
            <p:nvPr/>
          </p:nvSpPr>
          <p:spPr>
            <a:xfrm>
              <a:off x="9196882" y="2988259"/>
              <a:ext cx="558292" cy="558292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7C3A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9018828" y="3089097"/>
              <a:ext cx="914400" cy="356615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Josh /</a:t>
              </a:r>
            </a:p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Mendel</a:t>
              </a:r>
            </a:p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keys</a:t>
              </a:r>
            </a:p>
          </p:txBody>
        </p:sp>
      </p:grpSp>
      <p:grpSp>
        <p:nvGrpSpPr>
          <p:cNvPr id="34" name="Keys (Kronos) · DI ch 19/20"/>
          <p:cNvGrpSpPr/>
          <p:nvPr/>
        </p:nvGrpSpPr>
        <p:grpSpPr>
          <a:xfrm>
            <a:off x="8610676" y="3641460"/>
            <a:ext cx="1619046" cy="480131"/>
            <a:chOff x="8610676" y="3641460"/>
            <a:chExt cx="1619046" cy="480131"/>
          </a:xfrm>
        </p:grpSpPr>
        <p:sp>
          <p:nvSpPr>
            <p:cNvPr id="35" name="Rounded Rectangle 34"/>
            <p:cNvSpPr/>
            <p:nvPr/>
          </p:nvSpPr>
          <p:spPr>
            <a:xfrm>
              <a:off x="8610676" y="3641460"/>
              <a:ext cx="1619046" cy="480131"/>
            </a:xfrm>
            <a:prstGeom prst="roundRect">
              <a:avLst/>
            </a:prstGeom>
            <a:solidFill>
              <a:srgbClr val="DCFCE7"/>
            </a:solidFill>
            <a:ln w="12700">
              <a:solidFill>
                <a:srgbClr val="16A3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610676" y="3809898"/>
              <a:ext cx="1619046" cy="14325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Keys (Kronos) · DI ch 19/20</a:t>
              </a:r>
            </a:p>
          </p:txBody>
        </p:sp>
      </p:grpSp>
      <p:grpSp>
        <p:nvGrpSpPr>
          <p:cNvPr id="37" name="Steve /"/>
          <p:cNvGrpSpPr/>
          <p:nvPr/>
        </p:nvGrpSpPr>
        <p:grpSpPr>
          <a:xfrm>
            <a:off x="8013903" y="4160672"/>
            <a:ext cx="914400" cy="558292"/>
            <a:chOff x="8013903" y="4160672"/>
            <a:chExt cx="914400" cy="558292"/>
          </a:xfrm>
        </p:grpSpPr>
        <p:sp>
          <p:nvSpPr>
            <p:cNvPr id="38" name="Oval 37"/>
            <p:cNvSpPr/>
            <p:nvPr/>
          </p:nvSpPr>
          <p:spPr>
            <a:xfrm>
              <a:off x="8191957" y="4160672"/>
              <a:ext cx="558292" cy="558292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7C3A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013903" y="4261510"/>
              <a:ext cx="914400" cy="356615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Steve /</a:t>
              </a:r>
            </a:p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Josh</a:t>
              </a:r>
            </a:p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guitar</a:t>
              </a:r>
            </a:p>
          </p:txBody>
        </p:sp>
      </p:grpSp>
      <p:grpSp>
        <p:nvGrpSpPr>
          <p:cNvPr id="40" name="Laptop (Ant) · position TBC"/>
          <p:cNvGrpSpPr/>
          <p:nvPr/>
        </p:nvGrpSpPr>
        <p:grpSpPr>
          <a:xfrm>
            <a:off x="338328" y="2960344"/>
            <a:ext cx="1737360" cy="761542"/>
            <a:chOff x="338328" y="2960344"/>
            <a:chExt cx="1737360" cy="761542"/>
          </a:xfrm>
        </p:grpSpPr>
        <p:sp>
          <p:nvSpPr>
            <p:cNvPr id="41" name="Rounded Rectangle 40"/>
            <p:cNvSpPr/>
            <p:nvPr/>
          </p:nvSpPr>
          <p:spPr>
            <a:xfrm>
              <a:off x="822502" y="2960344"/>
              <a:ext cx="669950" cy="502462"/>
            </a:xfrm>
            <a:prstGeom prst="roundRect">
              <a:avLst/>
            </a:prstGeom>
            <a:solidFill>
              <a:srgbClr val="E0F2FE"/>
            </a:solidFill>
            <a:ln w="12700">
              <a:solidFill>
                <a:srgbClr val="0284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38328" y="3471951"/>
              <a:ext cx="1737360" cy="249935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Laptop (Ant) · position TBC</a:t>
              </a:r>
            </a:p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HDMI video + audio</a:t>
              </a:r>
            </a:p>
          </p:txBody>
        </p:sp>
      </p:grpSp>
      <p:grpSp>
        <p:nvGrpSpPr>
          <p:cNvPr id="43" name="Lesley"/>
          <p:cNvGrpSpPr/>
          <p:nvPr/>
        </p:nvGrpSpPr>
        <p:grpSpPr>
          <a:xfrm>
            <a:off x="3659225" y="4998110"/>
            <a:ext cx="914400" cy="558292"/>
            <a:chOff x="3659225" y="4998110"/>
            <a:chExt cx="914400" cy="558292"/>
          </a:xfrm>
        </p:grpSpPr>
        <p:sp>
          <p:nvSpPr>
            <p:cNvPr id="44" name="Oval 43"/>
            <p:cNvSpPr/>
            <p:nvPr/>
          </p:nvSpPr>
          <p:spPr>
            <a:xfrm>
              <a:off x="3837279" y="4998110"/>
              <a:ext cx="558292" cy="558292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7C3A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659225" y="5152288"/>
              <a:ext cx="914400" cy="249935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Lesley</a:t>
              </a:r>
            </a:p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vox</a:t>
              </a:r>
            </a:p>
          </p:txBody>
        </p:sp>
      </p:grpSp>
      <p:grpSp>
        <p:nvGrpSpPr>
          <p:cNvPr id="46" name="Luke"/>
          <p:cNvGrpSpPr/>
          <p:nvPr/>
        </p:nvGrpSpPr>
        <p:grpSpPr>
          <a:xfrm>
            <a:off x="6115710" y="4998110"/>
            <a:ext cx="914400" cy="558292"/>
            <a:chOff x="6115710" y="4998110"/>
            <a:chExt cx="914400" cy="558292"/>
          </a:xfrm>
        </p:grpSpPr>
        <p:sp>
          <p:nvSpPr>
            <p:cNvPr id="47" name="Oval 46"/>
            <p:cNvSpPr/>
            <p:nvPr/>
          </p:nvSpPr>
          <p:spPr>
            <a:xfrm>
              <a:off x="6293764" y="4998110"/>
              <a:ext cx="558292" cy="558292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7C3A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115710" y="5152288"/>
              <a:ext cx="914400" cy="249935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Luke</a:t>
              </a:r>
            </a:p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vox</a:t>
              </a:r>
            </a:p>
          </p:txBody>
        </p:sp>
      </p:grpSp>
      <p:grpSp>
        <p:nvGrpSpPr>
          <p:cNvPr id="49" name="Vox 1 · fold down"/>
          <p:cNvGrpSpPr/>
          <p:nvPr/>
        </p:nvGrpSpPr>
        <p:grpSpPr>
          <a:xfrm>
            <a:off x="902919" y="5723890"/>
            <a:ext cx="1737360" cy="487375"/>
            <a:chOff x="902919" y="5723890"/>
            <a:chExt cx="1737360" cy="487375"/>
          </a:xfrm>
        </p:grpSpPr>
        <p:sp>
          <p:nvSpPr>
            <p:cNvPr id="50" name="Oval 49"/>
            <p:cNvSpPr/>
            <p:nvPr/>
          </p:nvSpPr>
          <p:spPr>
            <a:xfrm>
              <a:off x="1604111" y="5723890"/>
              <a:ext cx="334975" cy="334975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D1D5D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902919" y="6068009"/>
              <a:ext cx="1737360" cy="14325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700" b="0">
                  <a:solidFill>
                    <a:srgbClr val="9CA3AF"/>
                  </a:solidFill>
                  <a:latin typeface="Arial"/>
                </a:rPr>
                <a:t>Vox 1 · fold down</a:t>
              </a:r>
            </a:p>
          </p:txBody>
        </p:sp>
      </p:grpSp>
      <p:grpSp>
        <p:nvGrpSpPr>
          <p:cNvPr id="52" name="Vox 2 · ch 22"/>
          <p:cNvGrpSpPr/>
          <p:nvPr/>
        </p:nvGrpSpPr>
        <p:grpSpPr>
          <a:xfrm>
            <a:off x="3247745" y="5723890"/>
            <a:ext cx="1737360" cy="487375"/>
            <a:chOff x="3247745" y="5723890"/>
            <a:chExt cx="1737360" cy="487375"/>
          </a:xfrm>
        </p:grpSpPr>
        <p:sp>
          <p:nvSpPr>
            <p:cNvPr id="53" name="Oval 52"/>
            <p:cNvSpPr/>
            <p:nvPr/>
          </p:nvSpPr>
          <p:spPr>
            <a:xfrm>
              <a:off x="3948937" y="5723890"/>
              <a:ext cx="334975" cy="334975"/>
            </a:xfrm>
            <a:prstGeom prst="ellipse">
              <a:avLst/>
            </a:prstGeom>
            <a:solidFill>
              <a:srgbClr val="F7E8F2"/>
            </a:solidFill>
            <a:ln w="12700">
              <a:solidFill>
                <a:srgbClr val="C084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3247745" y="6068009"/>
              <a:ext cx="1737360" cy="14325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Vox 2 · ch 22</a:t>
              </a:r>
            </a:p>
          </p:txBody>
        </p:sp>
      </p:grpSp>
      <p:grpSp>
        <p:nvGrpSpPr>
          <p:cNvPr id="55" name="Vox 3 · ch 23"/>
          <p:cNvGrpSpPr/>
          <p:nvPr/>
        </p:nvGrpSpPr>
        <p:grpSpPr>
          <a:xfrm>
            <a:off x="5704230" y="5723890"/>
            <a:ext cx="1737360" cy="487375"/>
            <a:chOff x="5704230" y="5723890"/>
            <a:chExt cx="1737360" cy="487375"/>
          </a:xfrm>
        </p:grpSpPr>
        <p:sp>
          <p:nvSpPr>
            <p:cNvPr id="56" name="Oval 55"/>
            <p:cNvSpPr/>
            <p:nvPr/>
          </p:nvSpPr>
          <p:spPr>
            <a:xfrm>
              <a:off x="6405422" y="5723890"/>
              <a:ext cx="334975" cy="334975"/>
            </a:xfrm>
            <a:prstGeom prst="ellipse">
              <a:avLst/>
            </a:prstGeom>
            <a:solidFill>
              <a:srgbClr val="F7E8F2"/>
            </a:solidFill>
            <a:ln w="12700">
              <a:solidFill>
                <a:srgbClr val="C084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5704230" y="6068009"/>
              <a:ext cx="1737360" cy="14325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Vox 3 · ch 23</a:t>
              </a:r>
            </a:p>
          </p:txBody>
        </p:sp>
      </p:grpSp>
      <p:grpSp>
        <p:nvGrpSpPr>
          <p:cNvPr id="58" name="Vox 4 · fold down"/>
          <p:cNvGrpSpPr/>
          <p:nvPr/>
        </p:nvGrpSpPr>
        <p:grpSpPr>
          <a:xfrm>
            <a:off x="8049056" y="5723890"/>
            <a:ext cx="1737360" cy="487375"/>
            <a:chOff x="8049056" y="5723890"/>
            <a:chExt cx="1737360" cy="487375"/>
          </a:xfrm>
        </p:grpSpPr>
        <p:sp>
          <p:nvSpPr>
            <p:cNvPr id="59" name="Oval 58"/>
            <p:cNvSpPr/>
            <p:nvPr/>
          </p:nvSpPr>
          <p:spPr>
            <a:xfrm>
              <a:off x="8750249" y="5723890"/>
              <a:ext cx="334975" cy="334975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D1D5D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8049056" y="6068009"/>
              <a:ext cx="1737360" cy="14325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700" b="0">
                  <a:solidFill>
                    <a:srgbClr val="9CA3AF"/>
                  </a:solidFill>
                  <a:latin typeface="Arial"/>
                </a:rPr>
                <a:t>Vox 4 · fold down</a:t>
              </a:r>
            </a:p>
          </p:txBody>
        </p:sp>
      </p:grpSp>
      <p:sp>
        <p:nvSpPr>
          <p:cNvPr id="61" name=""/>
          <p:cNvSpPr/>
          <p:nvPr/>
        </p:nvSpPr>
        <p:spPr>
          <a:xfrm>
            <a:off x="320040" y="6599326"/>
            <a:ext cx="146304" cy="118872"/>
          </a:xfrm>
          <a:prstGeom prst="roundRect">
            <a:avLst/>
          </a:prstGeom>
          <a:solidFill>
            <a:srgbClr val="FDF1E3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 wrap="square"/>
          <a:lstStyle/>
          <a:p>
            <a:pPr algn="ctr"/>
            <a:r>
              <a:rPr sz="700" b="0">
                <a:solidFill>
                  <a:srgbClr val="1F2937"/>
                </a:solidFill>
                <a:latin typeface="Arial"/>
              </a:rPr>
              <a:t/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4632" y="6562750"/>
            <a:ext cx="914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Arial"/>
              </a:rPr>
              <a:t>Backline</a:t>
            </a:r>
          </a:p>
        </p:txBody>
      </p:sp>
      <p:sp>
        <p:nvSpPr>
          <p:cNvPr id="63" name=""/>
          <p:cNvSpPr/>
          <p:nvPr/>
        </p:nvSpPr>
        <p:spPr>
          <a:xfrm>
            <a:off x="1047902" y="6599326"/>
            <a:ext cx="146304" cy="118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 wrap="square"/>
          <a:lstStyle/>
          <a:p>
            <a:pPr algn="ctr"/>
            <a:r>
              <a:rPr sz="700" b="0">
                <a:solidFill>
                  <a:srgbClr val="1F2937"/>
                </a:solidFill>
                <a:latin typeface="Arial"/>
              </a:rPr>
              <a:t/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12494" y="6562750"/>
            <a:ext cx="914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Arial"/>
              </a:rPr>
              <a:t>Player</a:t>
            </a:r>
          </a:p>
        </p:txBody>
      </p:sp>
      <p:sp>
        <p:nvSpPr>
          <p:cNvPr id="65" name=""/>
          <p:cNvSpPr/>
          <p:nvPr/>
        </p:nvSpPr>
        <p:spPr>
          <a:xfrm>
            <a:off x="1662379" y="6599326"/>
            <a:ext cx="146304" cy="118872"/>
          </a:xfrm>
          <a:prstGeom prst="roundRect">
            <a:avLst/>
          </a:prstGeom>
          <a:solidFill>
            <a:srgbClr val="F7E8F2"/>
          </a:solidFill>
          <a:ln w="12700">
            <a:solidFill>
              <a:srgbClr val="C08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 wrap="square"/>
          <a:lstStyle/>
          <a:p>
            <a:pPr algn="ctr"/>
            <a:r>
              <a:rPr sz="700" b="0">
                <a:solidFill>
                  <a:srgbClr val="1F2937"/>
                </a:solidFill>
                <a:latin typeface="Arial"/>
              </a:rPr>
              <a:t/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26971" y="6562750"/>
            <a:ext cx="914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Arial"/>
              </a:rPr>
              <a:t>Vocal mic</a:t>
            </a:r>
          </a:p>
        </p:txBody>
      </p:sp>
      <p:sp>
        <p:nvSpPr>
          <p:cNvPr id="67" name=""/>
          <p:cNvSpPr/>
          <p:nvPr/>
        </p:nvSpPr>
        <p:spPr>
          <a:xfrm>
            <a:off x="2446934" y="6599326"/>
            <a:ext cx="146304" cy="11887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 wrap="square"/>
          <a:lstStyle/>
          <a:p>
            <a:pPr algn="ctr"/>
            <a:r>
              <a:rPr sz="700" b="0">
                <a:solidFill>
                  <a:srgbClr val="1F2937"/>
                </a:solidFill>
                <a:latin typeface="Arial"/>
              </a:rPr>
              <a:t/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611526" y="6562750"/>
            <a:ext cx="914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Arial"/>
              </a:rPr>
              <a:t>DI box</a:t>
            </a:r>
          </a:p>
        </p:txBody>
      </p:sp>
      <p:sp>
        <p:nvSpPr>
          <p:cNvPr id="69" name=""/>
          <p:cNvSpPr/>
          <p:nvPr/>
        </p:nvSpPr>
        <p:spPr>
          <a:xfrm>
            <a:off x="3061411" y="6599326"/>
            <a:ext cx="146304" cy="11887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 wrap="square"/>
          <a:lstStyle/>
          <a:p>
            <a:pPr algn="ctr"/>
            <a:r>
              <a:rPr sz="700" b="0">
                <a:solidFill>
                  <a:srgbClr val="1F2937"/>
                </a:solidFill>
                <a:latin typeface="Arial"/>
              </a:rPr>
              <a:t/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226003" y="6562750"/>
            <a:ext cx="914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Arial"/>
              </a:rPr>
              <a:t>Keys</a:t>
            </a:r>
          </a:p>
        </p:txBody>
      </p:sp>
      <p:sp>
        <p:nvSpPr>
          <p:cNvPr id="71" name=""/>
          <p:cNvSpPr/>
          <p:nvPr/>
        </p:nvSpPr>
        <p:spPr>
          <a:xfrm>
            <a:off x="3562502" y="6599326"/>
            <a:ext cx="146304" cy="118872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 wrap="square"/>
          <a:lstStyle/>
          <a:p>
            <a:pPr algn="ctr"/>
            <a:r>
              <a:rPr sz="700" b="0">
                <a:solidFill>
                  <a:srgbClr val="1F2937"/>
                </a:solidFill>
                <a:latin typeface="Arial"/>
              </a:rPr>
              <a:t/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727094" y="6562750"/>
            <a:ext cx="914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Arial"/>
              </a:rPr>
              <a:t>Laptop / screen</a:t>
            </a:r>
          </a:p>
        </p:txBody>
      </p:sp>
      <p:sp>
        <p:nvSpPr>
          <p:cNvPr id="73" name=""/>
          <p:cNvSpPr/>
          <p:nvPr/>
        </p:nvSpPr>
        <p:spPr>
          <a:xfrm>
            <a:off x="4687214" y="6599326"/>
            <a:ext cx="146304" cy="118872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 wrap="square"/>
          <a:lstStyle/>
          <a:p>
            <a:pPr algn="ctr"/>
            <a:r>
              <a:rPr sz="700" b="0">
                <a:solidFill>
                  <a:srgbClr val="1F2937"/>
                </a:solidFill>
                <a:latin typeface="Arial"/>
              </a:rPr>
              <a:t/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51806" y="6562750"/>
            <a:ext cx="914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Arial"/>
              </a:rPr>
              <a:t>In-ears / wireless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982004" y="6562750"/>
            <a:ext cx="1828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Arial"/>
              </a:rPr>
              <a:t>Dashed = not used this set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20040" y="6882790"/>
            <a:ext cx="1116584" cy="4572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509776" y="6818782"/>
            <a:ext cx="5486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Arial"/>
              </a:rPr>
              <a:t>1 m · all to scale; DI boxes and mic stands slightly enlarged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65836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Arial"/>
              </a:rPr>
              <a:t>Bandlassian (Atlassian) — patch and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0" y="182880"/>
            <a:ext cx="470001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rial"/>
              </a:rPr>
              <a:t>Set 7:50–8:15 pm · soundcheck 5:45 pm · contact on the day: Steve Kraynov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621792"/>
            <a:ext cx="10049256" cy="274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777240"/>
          <a:ext cx="4663440" cy="23228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02920"/>
                <a:gridCol w="1143000"/>
                <a:gridCol w="3017520"/>
              </a:tblGrid>
              <a:tr h="23228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937"/>
                          </a:solidFill>
                          <a:latin typeface="Arial"/>
                        </a:rPr>
                        <a:t>Ch</a:t>
                      </a:r>
                    </a:p>
                  </a:txBody>
                  <a:tcPr marL="45720" marR="45720" marT="32004" marB="32004" anchor="ctr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937"/>
                          </a:solidFill>
                          <a:latin typeface="Arial"/>
                        </a:rPr>
                        <a:t>Input</a:t>
                      </a:r>
                    </a:p>
                  </a:txBody>
                  <a:tcPr marL="45720" marR="45720" marT="32004" marB="32004" anchor="ctr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937"/>
                          </a:solidFill>
                          <a:latin typeface="Arial"/>
                        </a:rPr>
                        <a:t>Who and notes</a:t>
                      </a:r>
                    </a:p>
                  </a:txBody>
                  <a:tcPr marL="45720" marR="45720" marT="32004" marB="32004" anchor="ctr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3F0FF"/>
                    </a:solidFill>
                  </a:tcPr>
                </a:tc>
              </a:tr>
              <a:tr h="23228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937"/>
                          </a:solidFill>
                          <a:latin typeface="Arial"/>
                        </a:rPr>
                        <a:t>1–10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Arial"/>
                        </a:rPr>
                        <a:t>Drum kit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Arial"/>
                        </a:rPr>
                        <a:t>Ethan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228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93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Arial"/>
                        </a:rPr>
                        <a:t>Bass DI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Arial"/>
                        </a:rPr>
                        <a:t>Linda: Ampeg DI out, own Zoom B1 Four pedal in front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228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93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Arial"/>
                        </a:rPr>
                        <a:t>Bass cab mic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Arial"/>
                        </a:rPr>
                        <a:t>Ampeg cab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228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93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Arial"/>
                        </a:rPr>
                        <a:t>Gtr 1 (Fender)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Arial"/>
                        </a:rPr>
                        <a:t>Eren / Kazuki, through their Zoom G5n pedalboard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228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93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Arial"/>
                        </a:rPr>
                        <a:t>Gtr 2 (Vox AC30)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Arial"/>
                        </a:rPr>
                        <a:t>Steve / Josh, through their Boss ME-70 pedalboard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228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937"/>
                          </a:solidFill>
                          <a:latin typeface="Arial"/>
                        </a:rPr>
                        <a:t>19/20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Arial"/>
                        </a:rPr>
                        <a:t>Keys L/R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Arial"/>
                        </a:rPr>
                        <a:t>Josh / Mendel: Korg Kronos, built-in sounds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228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937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Arial"/>
                        </a:rPr>
                        <a:t>Vox 2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Arial"/>
                        </a:rPr>
                        <a:t>Lesley: lead on songs 1 and 2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228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937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Arial"/>
                        </a:rPr>
                        <a:t>Vox 3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Arial"/>
                        </a:rPr>
                        <a:t>Luke: lead on songs 4 and 5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228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937"/>
                          </a:solidFill>
                          <a:latin typeface="Arial"/>
                        </a:rPr>
                        <a:t>27/28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Arial"/>
                        </a:rPr>
                        <a:t>Playback L/R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Arial"/>
                        </a:rPr>
                        <a:t>Laptop audio over HDMI: walk-on and between songs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3145789"/>
            <a:ext cx="466344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rial"/>
              </a:rPr>
              <a:t>Not used this set: ch 14, 16, 17, 18, 21, 24, 25, 26. Ch 31/32 are the crowd mics, for the recording only.</a:t>
            </a:r>
          </a:p>
        </p:txBody>
      </p:sp>
      <p:sp>
        <p:nvSpPr>
          <p:cNvPr id="7" name="Monitors and in-ears"/>
          <p:cNvSpPr/>
          <p:nvPr/>
        </p:nvSpPr>
        <p:spPr>
          <a:xfrm>
            <a:off x="5257799" y="777240"/>
            <a:ext cx="5111496" cy="492442"/>
          </a:xfrm>
          <a:prstGeom prst="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54864" bIns="54864" wrap="square"/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Monitors and in-ears</a:t>
            </a:r>
          </a:p>
          <a:p>
            <a:r>
              <a:rPr sz="950">
                <a:solidFill>
                  <a:srgbClr val="1F2937"/>
                </a:solidFill>
                <a:latin typeface="Arial"/>
              </a:rPr>
              <a:t>Drummer (Ethan) brings his own in-ear amp and needs one XLR mix feed at the kit.</a:t>
            </a:r>
          </a:p>
        </p:txBody>
      </p:sp>
      <p:sp>
        <p:nvSpPr>
          <p:cNvPr id="8" name="Screen and playback"/>
          <p:cNvSpPr/>
          <p:nvPr/>
        </p:nvSpPr>
        <p:spPr>
          <a:xfrm>
            <a:off x="5257799" y="1379410"/>
            <a:ext cx="5111496" cy="643255"/>
          </a:xfrm>
          <a:prstGeom prst="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54864" bIns="54864" wrap="square"/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Screen and playback</a:t>
            </a:r>
          </a:p>
          <a:p>
            <a:r>
              <a:rPr sz="950">
                <a:solidFill>
                  <a:srgbClr val="1F2937"/>
                </a:solidFill>
                <a:latin typeface="Arial"/>
              </a:rPr>
              <a:t>Laptop run by Anthony (“Ant”). Video over HDMI all the way through; audio over HDMI for the walk-on and the music between songs (ch 27/28).</a:t>
            </a:r>
          </a:p>
        </p:txBody>
      </p:sp>
      <p:sp>
        <p:nvSpPr>
          <p:cNvPr id="9" name="Notes and to confirm"/>
          <p:cNvSpPr/>
          <p:nvPr/>
        </p:nvSpPr>
        <p:spPr>
          <a:xfrm>
            <a:off x="5257799" y="2132393"/>
            <a:ext cx="5111496" cy="944880"/>
          </a:xfrm>
          <a:prstGeom prst="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54864" bIns="54864" wrap="square"/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Notes and to confirm</a:t>
            </a:r>
          </a:p>
          <a:p>
            <a:r>
              <a:rPr sz="950">
                <a:solidFill>
                  <a:srgbClr val="1F2937"/>
                </a:solidFill>
                <a:latin typeface="Arial"/>
              </a:rPr>
              <a:t>Where the laptop sits. Six players on stage at a time; guitar and keys players swap between songs (10–15 s each, see the set). Soundcheck plan: Pokémon intro and solo, Still into You intro and verse, Life Is a Highway solo, to set the solo boost levels.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65836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Arial"/>
              </a:rPr>
              <a:t>Bandlassian (Atlassian) — the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0" y="182880"/>
            <a:ext cx="470001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rial"/>
              </a:rPr>
              <a:t>Set 7:50–8:15 pm · soundcheck 5:45 pm · contact on the day: Steve Kraynov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621792"/>
            <a:ext cx="10049256" cy="274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004925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Running time: 18:55 planned, in a 25-minute slot. Band expects 20–23 minutes end to end.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097280"/>
          <a:ext cx="10049256" cy="430579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94360"/>
                <a:gridCol w="2148840"/>
                <a:gridCol w="502920"/>
                <a:gridCol w="2743200"/>
                <a:gridCol w="1417320"/>
                <a:gridCol w="2642616"/>
              </a:tblGrid>
              <a:tr h="224535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Arial"/>
                        </a:rPr>
                        <a:t>Step</a:t>
                      </a:r>
                    </a:p>
                  </a:txBody>
                  <a:tcPr marL="45720" marR="45720" marT="32004" marB="32004" anchor="ctr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Arial"/>
                        </a:rPr>
                        <a:t>Song, or what happens</a:t>
                      </a:r>
                    </a:p>
                  </a:txBody>
                  <a:tcPr marL="45720" marR="45720" marT="32004" marB="32004" anchor="ctr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Arial"/>
                        </a:rPr>
                        <a:t>Length</a:t>
                      </a:r>
                    </a:p>
                  </a:txBody>
                  <a:tcPr marL="45720" marR="45720" marT="32004" marB="32004" anchor="ctr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Arial"/>
                        </a:rPr>
                        <a:t>On stage · lead · moves</a:t>
                      </a:r>
                    </a:p>
                  </a:txBody>
                  <a:tcPr marL="45720" marR="45720" marT="32004" marB="32004" anchor="ctr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Arial"/>
                        </a:rPr>
                        <a:t>Screen · playback</a:t>
                      </a:r>
                    </a:p>
                  </a:txBody>
                  <a:tcPr marL="45720" marR="45720" marT="32004" marB="32004" anchor="ctr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Arial"/>
                        </a:rPr>
                        <a:t>Lighting</a:t>
                      </a:r>
                    </a:p>
                  </a:txBody>
                  <a:tcPr marL="45720" marR="45720" marT="32004" marB="32004" anchor="ctr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3F0FF"/>
                    </a:solidFill>
                  </a:tcPr>
                </a:tc>
              </a:tr>
              <a:tr h="348487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Arial"/>
                        </a:rPr>
                        <a:t>Walk-on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Walk on, quick band intro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0:20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Video and audio from HDMI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House lights while the band sets up, then dim for the video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8487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Arial"/>
                        </a:rPr>
                        <a:t>Song 1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good 4 u — Olivia Rodrigo (rock/metal version)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3:10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Steve (AC30), Eren (Fender), Linda (bass), Josh (keys), Lesley (Vox 2), Luke (Vox 3). Lead: Lesley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Video only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Dim to reds to yellow (standard). Blue for slow bridge?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8487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Arial"/>
                        </a:rPr>
                        <a:t>1 → 2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0:15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Eren off, Kazuki on (Fender). Josh off, Mendel on (keys)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Video and changeover music from HDMI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7E6"/>
                    </a:solidFill>
                  </a:tcPr>
                </a:tc>
              </a:tr>
              <a:tr h="348487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Arial"/>
                        </a:rPr>
                        <a:t>Song 2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Still into You — Paramore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3:30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Steve (AC30), Kazuki (Fender), Linda, Mendel (keys), Lesley, Luke. Lead: Lesley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Video only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Blackouts to purples to blue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8487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Arial"/>
                        </a:rPr>
                        <a:t>2 → 3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0:15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Kazuki off, Eren on (Fender). Mendel off, Josh on (keys)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Video and audio from HDMI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7E6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Arial"/>
                        </a:rPr>
                        <a:t>Song 3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Life Is a Highway — Rascal Flatts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4:30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Steve (AC30), Eren (Fender), Linda, Josh (keys), Lesley, Luke. Dual lead vocal. Eren's solo: boost from his own pedalboard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Video only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Blackouts to yellows. House lights for the second-to-last chorus, when the audience is clapping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8487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Arial"/>
                        </a:rPr>
                        <a:t>3 → 4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0:15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Josh moves from keys to guitar on the AC30 (Steve off). Mendel on keys. Eren off, Kazuki on (Fender)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Video and audio from HDMI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7E6"/>
                    </a:solidFill>
                  </a:tcPr>
                </a:tc>
              </a:tr>
              <a:tr h="348487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Arial"/>
                        </a:rPr>
                        <a:t>Song 4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I'm a Believer — Smash Mouth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3:05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Josh (AC30), Kazuki (Fender), Linda, Mendel (keys), Lesley, Luke. Lead: Luke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Video only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Blackouts to greens to yellows to standard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8487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Arial"/>
                        </a:rPr>
                        <a:t>4 → 5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0:15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Kazuki off, Eren on (Fender). Kazuki and Steve fetch props and come back on as supporters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Playback audio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7E6"/>
                    </a:solidFill>
                  </a:tcPr>
                </a:tc>
              </a:tr>
              <a:tr h="596391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Arial"/>
                        </a:rPr>
                        <a:t>Song 5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Pokémon Theme — Jason Paige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3:20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Josh (AC30), Eren (Fender), Linda, Mendel (keys), Lesley, Luke. Lead: Luke. Josh's solos: boost from the ME-70. Pokéball beach balls thrown into the crowd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Video only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Blackouts to blue to yellow (standard), bright yellow snaps during the POKEMON chorus, moving to a rainbow colour wash for the big finish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535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Arial"/>
                        </a:rPr>
                        <a:t>Finish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Walk off, pack down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