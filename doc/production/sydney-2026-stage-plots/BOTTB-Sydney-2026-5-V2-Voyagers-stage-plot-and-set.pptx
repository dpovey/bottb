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0689336" cy="756208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V2 Voyagers (V2 AI) — stage plot</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9:35–10:00 pm · soundcheck 5:00 pm · contact on the day: Holly or Shane</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786384"/>
            <a:ext cx="10049256" cy="182880"/>
          </a:xfrm>
          <a:prstGeom prst="rect">
            <a:avLst/>
          </a:prstGeom>
          <a:noFill/>
        </p:spPr>
        <p:txBody>
          <a:bodyPr wrap="square" lIns="27432" rIns="27432" tIns="27432" bIns="27432" anchor="t">
            <a:spAutoFit/>
          </a:bodyPr>
          <a:lstStyle/>
          <a:p>
            <a:pPr algn="ctr"/>
            <a:r>
              <a:rPr sz="700" b="0">
                <a:solidFill>
                  <a:srgbClr val="6B7280"/>
                </a:solidFill>
                <a:latin typeface="Arial"/>
              </a:rPr>
              <a:t>UPSTAGE (back wall)</a:t>
            </a:r>
          </a:p>
        </p:txBody>
      </p:sp>
      <p:sp>
        <p:nvSpPr>
          <p:cNvPr id="6" name="Stage"/>
          <p:cNvSpPr/>
          <p:nvPr/>
        </p:nvSpPr>
        <p:spPr>
          <a:xfrm>
            <a:off x="320040" y="978408"/>
            <a:ext cx="10049256" cy="5136286"/>
          </a:xfrm>
          <a:prstGeom prst="rect">
            <a:avLst/>
          </a:prstGeom>
          <a:solidFill>
            <a:srgbClr val="FAFAFA"/>
          </a:solidFill>
          <a:ln>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334150"/>
            <a:ext cx="10049256" cy="182880"/>
          </a:xfrm>
          <a:prstGeom prst="rect">
            <a:avLst/>
          </a:prstGeom>
          <a:noFill/>
        </p:spPr>
        <p:txBody>
          <a:bodyPr wrap="square" lIns="27432" rIns="27432" tIns="27432" bIns="27432" anchor="t">
            <a:spAutoFit/>
          </a:bodyPr>
          <a:lstStyle/>
          <a:p>
            <a:pPr algn="ctr"/>
            <a:r>
              <a:rPr sz="700" b="1">
                <a:solidFill>
                  <a:srgbClr val="6B7280"/>
                </a:solidFill>
                <a:latin typeface="Arial"/>
              </a:rPr>
              <a:t>AUDIENCE</a:t>
            </a:r>
          </a:p>
        </p:txBody>
      </p:sp>
      <p:sp>
        <p:nvSpPr>
          <p:cNvPr id="8" name="TextBox 7"/>
          <p:cNvSpPr txBox="1"/>
          <p:nvPr/>
        </p:nvSpPr>
        <p:spPr>
          <a:xfrm>
            <a:off x="320040" y="6334150"/>
            <a:ext cx="2011680" cy="182880"/>
          </a:xfrm>
          <a:prstGeom prst="rect">
            <a:avLst/>
          </a:prstGeom>
          <a:noFill/>
        </p:spPr>
        <p:txBody>
          <a:bodyPr wrap="square" lIns="27432" rIns="27432" tIns="27432" bIns="27432" anchor="t">
            <a:spAutoFit/>
          </a:bodyPr>
          <a:lstStyle/>
          <a:p>
            <a:pPr algn="l"/>
            <a:r>
              <a:rPr sz="700" b="0">
                <a:solidFill>
                  <a:srgbClr val="6B7280"/>
                </a:solidFill>
                <a:latin typeface="Arial"/>
              </a:rPr>
              <a:t>◀ house left (stage right)</a:t>
            </a:r>
          </a:p>
        </p:txBody>
      </p:sp>
      <p:sp>
        <p:nvSpPr>
          <p:cNvPr id="9" name="TextBox 8"/>
          <p:cNvSpPr txBox="1"/>
          <p:nvPr/>
        </p:nvSpPr>
        <p:spPr>
          <a:xfrm>
            <a:off x="8357616" y="6334150"/>
            <a:ext cx="2011680" cy="182880"/>
          </a:xfrm>
          <a:prstGeom prst="rect">
            <a:avLst/>
          </a:prstGeom>
          <a:noFill/>
        </p:spPr>
        <p:txBody>
          <a:bodyPr wrap="square" lIns="27432" rIns="27432" tIns="27432" bIns="27432" anchor="t">
            <a:spAutoFit/>
          </a:bodyPr>
          <a:lstStyle/>
          <a:p>
            <a:pPr algn="r"/>
            <a:r>
              <a:rPr sz="700" b="0">
                <a:solidFill>
                  <a:srgbClr val="6B7280"/>
                </a:solidFill>
                <a:latin typeface="Arial"/>
              </a:rPr>
              <a:t>house right (stage left) ▶</a:t>
            </a:r>
          </a:p>
        </p:txBody>
      </p:sp>
      <p:grpSp>
        <p:nvGrpSpPr>
          <p:cNvPr id="10" name="DW kit · ch 1–10"/>
          <p:cNvGrpSpPr/>
          <p:nvPr/>
        </p:nvGrpSpPr>
        <p:grpSpPr>
          <a:xfrm>
            <a:off x="4004767" y="1425041"/>
            <a:ext cx="2679801" cy="2009851"/>
            <a:chOff x="4004767" y="1425041"/>
            <a:chExt cx="2679801" cy="2009851"/>
          </a:xfrm>
        </p:grpSpPr>
        <p:sp>
          <p:nvSpPr>
            <p:cNvPr id="11" name="Rounded Rectangle 10"/>
            <p:cNvSpPr/>
            <p:nvPr/>
          </p:nvSpPr>
          <p:spPr>
            <a:xfrm>
              <a:off x="4004767" y="1425041"/>
              <a:ext cx="2679801" cy="2009851"/>
            </a:xfrm>
            <a:prstGeom prst="roundRect">
              <a:avLst/>
            </a:prstGeom>
            <a:solidFill>
              <a:srgbClr val="E8F0FA"/>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04767" y="2251659"/>
              <a:ext cx="2679801" cy="356615"/>
            </a:xfrm>
            <a:prstGeom prst="rect">
              <a:avLst/>
            </a:prstGeom>
            <a:noFill/>
          </p:spPr>
          <p:txBody>
            <a:bodyPr wrap="square" lIns="0" rIns="0" tIns="0" bIns="0" anchor="ctr">
              <a:spAutoFit/>
            </a:bodyPr>
            <a:lstStyle/>
            <a:p>
              <a:pPr algn="ctr"/>
              <a:r>
                <a:rPr sz="700" b="0">
                  <a:solidFill>
                    <a:srgbClr val="1F2937"/>
                  </a:solidFill>
                  <a:latin typeface="Arial"/>
                </a:rPr>
                <a:t>DW kit · ch 1–10</a:t>
              </a:r>
            </a:p>
            <a:p>
              <a:pPr algn="ctr"/>
              <a:r>
                <a:rPr sz="700" b="0">
                  <a:solidFill>
                    <a:srgbClr val="1F2937"/>
                  </a:solidFill>
                  <a:latin typeface="Arial"/>
                </a:rPr>
                <a:t>Jai (songs 1–3) · Shane (4–5)</a:t>
              </a:r>
            </a:p>
            <a:p>
              <a:pPr algn="ctr"/>
              <a:r>
                <a:rPr sz="700" b="0">
                  <a:solidFill>
                    <a:srgbClr val="1F2937"/>
                  </a:solidFill>
                  <a:latin typeface="Arial"/>
                </a:rPr>
                <a:t>riser 2.4 × 1.8 m</a:t>
              </a:r>
            </a:p>
          </p:txBody>
        </p:sp>
      </p:grpSp>
      <p:grpSp>
        <p:nvGrpSpPr>
          <p:cNvPr id="13" name="Fender · mic ch 13"/>
          <p:cNvGrpSpPr/>
          <p:nvPr/>
        </p:nvGrpSpPr>
        <p:grpSpPr>
          <a:xfrm>
            <a:off x="2186990" y="2904515"/>
            <a:ext cx="1737360" cy="538225"/>
            <a:chOff x="2186990" y="2904515"/>
            <a:chExt cx="1737360" cy="538225"/>
          </a:xfrm>
        </p:grpSpPr>
        <p:sp>
          <p:nvSpPr>
            <p:cNvPr id="14" name="Rounded Rectangle 13"/>
            <p:cNvSpPr/>
            <p:nvPr/>
          </p:nvSpPr>
          <p:spPr>
            <a:xfrm>
              <a:off x="2703946" y="2904515"/>
              <a:ext cx="703447" cy="279146"/>
            </a:xfrm>
            <a:prstGeom prst="roundRect">
              <a:avLst/>
            </a:prstGeom>
            <a:solidFill>
              <a:srgbClr val="FDF1E3"/>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86990" y="3192805"/>
              <a:ext cx="1737360" cy="249935"/>
            </a:xfrm>
            <a:prstGeom prst="rect">
              <a:avLst/>
            </a:prstGeom>
            <a:noFill/>
          </p:spPr>
          <p:txBody>
            <a:bodyPr wrap="square" lIns="0" rIns="0" tIns="0" bIns="0" anchor="ctr">
              <a:spAutoFit/>
            </a:bodyPr>
            <a:lstStyle/>
            <a:p>
              <a:pPr algn="ctr"/>
              <a:r>
                <a:rPr sz="700" b="0">
                  <a:solidFill>
                    <a:srgbClr val="1F2937"/>
                  </a:solidFill>
                  <a:latin typeface="Arial"/>
                </a:rPr>
                <a:t>Fender · mic ch 13</a:t>
              </a:r>
            </a:p>
            <a:p>
              <a:pPr algn="ctr"/>
              <a:r>
                <a:rPr sz="700" b="0">
                  <a:solidFill>
                    <a:srgbClr val="1F2937"/>
                  </a:solidFill>
                  <a:latin typeface="Arial"/>
                </a:rPr>
                <a:t>Taz</a:t>
              </a:r>
            </a:p>
          </p:txBody>
        </p:sp>
      </p:grpSp>
      <p:grpSp>
        <p:nvGrpSpPr>
          <p:cNvPr id="16" name="Ampeg"/>
          <p:cNvGrpSpPr/>
          <p:nvPr/>
        </p:nvGrpSpPr>
        <p:grpSpPr>
          <a:xfrm>
            <a:off x="6430009" y="2681198"/>
            <a:ext cx="1737360" cy="761542"/>
            <a:chOff x="6430009" y="2681198"/>
            <a:chExt cx="1737360" cy="761542"/>
          </a:xfrm>
        </p:grpSpPr>
        <p:sp>
          <p:nvSpPr>
            <p:cNvPr id="17" name="Rounded Rectangle 16"/>
            <p:cNvSpPr/>
            <p:nvPr/>
          </p:nvSpPr>
          <p:spPr>
            <a:xfrm>
              <a:off x="6958131" y="2681198"/>
              <a:ext cx="681116" cy="502462"/>
            </a:xfrm>
            <a:prstGeom prst="roundRect">
              <a:avLst/>
            </a:prstGeom>
            <a:solidFill>
              <a:srgbClr val="FDF5D6"/>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0009" y="3192805"/>
              <a:ext cx="1737360" cy="249935"/>
            </a:xfrm>
            <a:prstGeom prst="rect">
              <a:avLst/>
            </a:prstGeom>
            <a:noFill/>
          </p:spPr>
          <p:txBody>
            <a:bodyPr wrap="square" lIns="0" rIns="0" tIns="0" bIns="0" anchor="ctr">
              <a:spAutoFit/>
            </a:bodyPr>
            <a:lstStyle/>
            <a:p>
              <a:pPr algn="ctr"/>
              <a:r>
                <a:rPr sz="700" b="0">
                  <a:solidFill>
                    <a:srgbClr val="1F2937"/>
                  </a:solidFill>
                  <a:latin typeface="Arial"/>
                </a:rPr>
                <a:t>Ampeg</a:t>
              </a:r>
            </a:p>
            <a:p>
              <a:pPr algn="ctr"/>
              <a:r>
                <a:rPr sz="700" b="0">
                  <a:solidFill>
                    <a:srgbClr val="1F2937"/>
                  </a:solidFill>
                  <a:latin typeface="Arial"/>
                </a:rPr>
                <a:t>ch 11 + 12</a:t>
              </a:r>
            </a:p>
          </p:txBody>
        </p:sp>
      </p:grpSp>
      <p:grpSp>
        <p:nvGrpSpPr>
          <p:cNvPr id="19" name="Vox AC30 · not used"/>
          <p:cNvGrpSpPr/>
          <p:nvPr/>
        </p:nvGrpSpPr>
        <p:grpSpPr>
          <a:xfrm>
            <a:off x="7602423" y="2837520"/>
            <a:ext cx="1737360" cy="453878"/>
            <a:chOff x="7602423" y="2837520"/>
            <a:chExt cx="1737360" cy="453878"/>
          </a:xfrm>
        </p:grpSpPr>
        <p:sp>
          <p:nvSpPr>
            <p:cNvPr id="20" name="Rounded Rectangle 19"/>
            <p:cNvSpPr/>
            <p:nvPr/>
          </p:nvSpPr>
          <p:spPr>
            <a:xfrm>
              <a:off x="8080298" y="2837520"/>
              <a:ext cx="781608" cy="301477"/>
            </a:xfrm>
            <a:prstGeom prst="roundRect">
              <a:avLst/>
            </a:prstGeom>
            <a:solidFill>
              <a:srgbClr val="FFFFFF"/>
            </a:solidFill>
            <a:ln w="12700">
              <a:solidFill>
                <a:srgbClr val="D1D5D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02423" y="3148142"/>
              <a:ext cx="1737360" cy="143256"/>
            </a:xfrm>
            <a:prstGeom prst="rect">
              <a:avLst/>
            </a:prstGeom>
            <a:noFill/>
          </p:spPr>
          <p:txBody>
            <a:bodyPr wrap="square" lIns="0" rIns="0" tIns="0" bIns="0" anchor="ctr">
              <a:spAutoFit/>
            </a:bodyPr>
            <a:lstStyle/>
            <a:p>
              <a:pPr algn="ctr"/>
              <a:r>
                <a:rPr sz="700" b="0">
                  <a:solidFill>
                    <a:srgbClr val="9CA3AF"/>
                  </a:solidFill>
                  <a:latin typeface="Arial"/>
                </a:rPr>
                <a:t>Vox AC30 · not used</a:t>
              </a:r>
            </a:p>
          </p:txBody>
        </p:sp>
      </p:grpSp>
      <p:grpSp>
        <p:nvGrpSpPr>
          <p:cNvPr id="22" name="Laptop on the riser"/>
          <p:cNvGrpSpPr/>
          <p:nvPr/>
        </p:nvGrpSpPr>
        <p:grpSpPr>
          <a:xfrm>
            <a:off x="3638549" y="2569540"/>
            <a:ext cx="1737360" cy="761541"/>
            <a:chOff x="3638549" y="2569540"/>
            <a:chExt cx="1737360" cy="761541"/>
          </a:xfrm>
        </p:grpSpPr>
        <p:sp>
          <p:nvSpPr>
            <p:cNvPr id="23" name="Rounded Rectangle 22"/>
            <p:cNvSpPr/>
            <p:nvPr/>
          </p:nvSpPr>
          <p:spPr>
            <a:xfrm>
              <a:off x="4172254" y="2569540"/>
              <a:ext cx="669950" cy="502462"/>
            </a:xfrm>
            <a:prstGeom prst="roundRect">
              <a:avLst/>
            </a:prstGeom>
            <a:solidFill>
              <a:srgbClr val="E0F2FE"/>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38549" y="3081146"/>
              <a:ext cx="1737360" cy="249935"/>
            </a:xfrm>
            <a:prstGeom prst="rect">
              <a:avLst/>
            </a:prstGeom>
            <a:noFill/>
          </p:spPr>
          <p:txBody>
            <a:bodyPr wrap="square" lIns="0" rIns="0" tIns="0" bIns="0" anchor="ctr">
              <a:spAutoFit/>
            </a:bodyPr>
            <a:lstStyle/>
            <a:p>
              <a:pPr algn="ctr"/>
              <a:r>
                <a:rPr sz="700" b="0">
                  <a:solidFill>
                    <a:srgbClr val="1F2937"/>
                  </a:solidFill>
                  <a:latin typeface="Arial"/>
                </a:rPr>
                <a:t>Laptop on the riser</a:t>
              </a:r>
            </a:p>
            <a:p>
              <a:pPr algn="ctr"/>
              <a:r>
                <a:rPr sz="700" b="0">
                  <a:solidFill>
                    <a:srgbClr val="1F2937"/>
                  </a:solidFill>
                  <a:latin typeface="Arial"/>
                </a:rPr>
                <a:t>HDMI video · click to drummer</a:t>
              </a:r>
            </a:p>
          </p:txBody>
        </p:sp>
      </p:grpSp>
      <p:grpSp>
        <p:nvGrpSpPr>
          <p:cNvPr id="25" name="Backing DI · ch 27"/>
          <p:cNvGrpSpPr/>
          <p:nvPr/>
        </p:nvGrpSpPr>
        <p:grpSpPr>
          <a:xfrm>
            <a:off x="4886868" y="3747536"/>
            <a:ext cx="1562385" cy="156321"/>
            <a:chOff x="4886868" y="3747536"/>
            <a:chExt cx="1562385" cy="156321"/>
          </a:xfrm>
        </p:grpSpPr>
        <p:sp>
          <p:nvSpPr>
            <p:cNvPr id="26" name="Rounded Rectangle 25"/>
            <p:cNvSpPr/>
            <p:nvPr/>
          </p:nvSpPr>
          <p:spPr>
            <a:xfrm>
              <a:off x="4886868" y="3747536"/>
              <a:ext cx="245648" cy="156321"/>
            </a:xfrm>
            <a:prstGeom prst="roundRect">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69093" y="3754069"/>
              <a:ext cx="1280160" cy="143256"/>
            </a:xfrm>
            <a:prstGeom prst="rect">
              <a:avLst/>
            </a:prstGeom>
            <a:noFill/>
          </p:spPr>
          <p:txBody>
            <a:bodyPr wrap="square" lIns="0" rIns="0" tIns="0" bIns="0" anchor="ctr">
              <a:spAutoFit/>
            </a:bodyPr>
            <a:lstStyle/>
            <a:p>
              <a:pPr algn="l"/>
              <a:r>
                <a:rPr sz="700" b="0">
                  <a:solidFill>
                    <a:srgbClr val="1F2937"/>
                  </a:solidFill>
                  <a:latin typeface="Arial"/>
                </a:rPr>
                <a:t>Backing DI · ch 27</a:t>
              </a:r>
            </a:p>
          </p:txBody>
        </p:sp>
      </p:grpSp>
      <p:grpSp>
        <p:nvGrpSpPr>
          <p:cNvPr id="28" name="Taz"/>
          <p:cNvGrpSpPr/>
          <p:nvPr/>
        </p:nvGrpSpPr>
        <p:grpSpPr>
          <a:xfrm>
            <a:off x="2319324" y="3769868"/>
            <a:ext cx="914400" cy="558292"/>
            <a:chOff x="2319324" y="3769868"/>
            <a:chExt cx="914400" cy="558292"/>
          </a:xfrm>
        </p:grpSpPr>
        <p:sp>
          <p:nvSpPr>
            <p:cNvPr id="29" name="Oval 28"/>
            <p:cNvSpPr/>
            <p:nvPr/>
          </p:nvSpPr>
          <p:spPr>
            <a:xfrm>
              <a:off x="2497378" y="3769868"/>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319324" y="3924046"/>
              <a:ext cx="914400" cy="249935"/>
            </a:xfrm>
            <a:prstGeom prst="rect">
              <a:avLst/>
            </a:prstGeom>
            <a:noFill/>
          </p:spPr>
          <p:txBody>
            <a:bodyPr wrap="square" lIns="0" rIns="0" tIns="0" bIns="0" anchor="ctr">
              <a:spAutoFit/>
            </a:bodyPr>
            <a:lstStyle/>
            <a:p>
              <a:pPr algn="ctr"/>
              <a:r>
                <a:rPr sz="700" b="0">
                  <a:solidFill>
                    <a:srgbClr val="1F2937"/>
                  </a:solidFill>
                  <a:latin typeface="Arial"/>
                </a:rPr>
                <a:t>Taz</a:t>
              </a:r>
            </a:p>
            <a:p>
              <a:pPr algn="ctr"/>
              <a:r>
                <a:rPr sz="700" b="0">
                  <a:solidFill>
                    <a:srgbClr val="1F2937"/>
                  </a:solidFill>
                  <a:latin typeface="Arial"/>
                </a:rPr>
                <a:t>guitar</a:t>
              </a:r>
            </a:p>
          </p:txBody>
        </p:sp>
      </p:grpSp>
      <p:grpSp>
        <p:nvGrpSpPr>
          <p:cNvPr id="31" name="Cam"/>
          <p:cNvGrpSpPr/>
          <p:nvPr/>
        </p:nvGrpSpPr>
        <p:grpSpPr>
          <a:xfrm>
            <a:off x="6674002" y="3881526"/>
            <a:ext cx="914400" cy="558292"/>
            <a:chOff x="6674002" y="3881526"/>
            <a:chExt cx="914400" cy="558292"/>
          </a:xfrm>
        </p:grpSpPr>
        <p:sp>
          <p:nvSpPr>
            <p:cNvPr id="32" name="Oval 31"/>
            <p:cNvSpPr/>
            <p:nvPr/>
          </p:nvSpPr>
          <p:spPr>
            <a:xfrm>
              <a:off x="6852056" y="3881526"/>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4002" y="4035704"/>
              <a:ext cx="914400" cy="249935"/>
            </a:xfrm>
            <a:prstGeom prst="rect">
              <a:avLst/>
            </a:prstGeom>
            <a:noFill/>
          </p:spPr>
          <p:txBody>
            <a:bodyPr wrap="square" lIns="0" rIns="0" tIns="0" bIns="0" anchor="ctr">
              <a:spAutoFit/>
            </a:bodyPr>
            <a:lstStyle/>
            <a:p>
              <a:pPr algn="ctr"/>
              <a:r>
                <a:rPr sz="700" b="0">
                  <a:solidFill>
                    <a:srgbClr val="1F2937"/>
                  </a:solidFill>
                  <a:latin typeface="Arial"/>
                </a:rPr>
                <a:t>Cam</a:t>
              </a:r>
            </a:p>
            <a:p>
              <a:pPr algn="ctr"/>
              <a:r>
                <a:rPr sz="700" b="0">
                  <a:solidFill>
                    <a:srgbClr val="1F2937"/>
                  </a:solidFill>
                  <a:latin typeface="Arial"/>
                </a:rPr>
                <a:t>bass</a:t>
              </a:r>
            </a:p>
          </p:txBody>
        </p:sp>
      </p:grpSp>
      <p:grpSp>
        <p:nvGrpSpPr>
          <p:cNvPr id="34" name="Holly's in-ears (Xvive U4)"/>
          <p:cNvGrpSpPr/>
          <p:nvPr/>
        </p:nvGrpSpPr>
        <p:grpSpPr>
          <a:xfrm>
            <a:off x="2019503" y="4718964"/>
            <a:ext cx="1737360" cy="705712"/>
            <a:chOff x="2019503" y="4718964"/>
            <a:chExt cx="1737360" cy="705712"/>
          </a:xfrm>
        </p:grpSpPr>
        <p:sp>
          <p:nvSpPr>
            <p:cNvPr id="35" name="Rounded Rectangle 34"/>
            <p:cNvSpPr/>
            <p:nvPr/>
          </p:nvSpPr>
          <p:spPr>
            <a:xfrm>
              <a:off x="2609037" y="4718964"/>
              <a:ext cx="558292" cy="446633"/>
            </a:xfrm>
            <a:prstGeom prst="roundRect">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019503" y="5174741"/>
              <a:ext cx="1737360" cy="249935"/>
            </a:xfrm>
            <a:prstGeom prst="rect">
              <a:avLst/>
            </a:prstGeom>
            <a:noFill/>
          </p:spPr>
          <p:txBody>
            <a:bodyPr wrap="square" lIns="0" rIns="0" tIns="0" bIns="0" anchor="ctr">
              <a:spAutoFit/>
            </a:bodyPr>
            <a:lstStyle/>
            <a:p>
              <a:pPr algn="ctr"/>
              <a:r>
                <a:rPr sz="700" b="0">
                  <a:solidFill>
                    <a:srgbClr val="1F2937"/>
                  </a:solidFill>
                  <a:latin typeface="Arial"/>
                </a:rPr>
                <a:t>Holly's in-ears (Xvive U4)</a:t>
              </a:r>
            </a:p>
            <a:p>
              <a:pPr algn="ctr"/>
              <a:r>
                <a:rPr sz="700" b="0">
                  <a:solidFill>
                    <a:srgbClr val="1F2937"/>
                  </a:solidFill>
                  <a:latin typeface="Arial"/>
                </a:rPr>
                <a:t>transmitter needs a mix feed</a:t>
              </a:r>
            </a:p>
          </p:txBody>
        </p:sp>
      </p:grpSp>
      <p:grpSp>
        <p:nvGrpSpPr>
          <p:cNvPr id="37" name="Acoustic DI · ch 17"/>
          <p:cNvGrpSpPr/>
          <p:nvPr/>
        </p:nvGrpSpPr>
        <p:grpSpPr>
          <a:xfrm>
            <a:off x="8069132" y="4584974"/>
            <a:ext cx="1562385" cy="156321"/>
            <a:chOff x="8069132" y="4584974"/>
            <a:chExt cx="1562385" cy="156321"/>
          </a:xfrm>
        </p:grpSpPr>
        <p:sp>
          <p:nvSpPr>
            <p:cNvPr id="38" name="Rounded Rectangle 37"/>
            <p:cNvSpPr/>
            <p:nvPr/>
          </p:nvSpPr>
          <p:spPr>
            <a:xfrm>
              <a:off x="8069132" y="4584974"/>
              <a:ext cx="245648" cy="156321"/>
            </a:xfrm>
            <a:prstGeom prst="roundRect">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51357" y="4591507"/>
              <a:ext cx="1280160" cy="143256"/>
            </a:xfrm>
            <a:prstGeom prst="rect">
              <a:avLst/>
            </a:prstGeom>
            <a:noFill/>
          </p:spPr>
          <p:txBody>
            <a:bodyPr wrap="square" lIns="0" rIns="0" tIns="0" bIns="0" anchor="ctr">
              <a:spAutoFit/>
            </a:bodyPr>
            <a:lstStyle/>
            <a:p>
              <a:pPr algn="l"/>
              <a:r>
                <a:rPr sz="700" b="0">
                  <a:solidFill>
                    <a:srgbClr val="1F2937"/>
                  </a:solidFill>
                  <a:latin typeface="Arial"/>
                </a:rPr>
                <a:t>Acoustic DI · ch 17</a:t>
              </a:r>
            </a:p>
          </p:txBody>
        </p:sp>
      </p:grpSp>
      <p:grpSp>
        <p:nvGrpSpPr>
          <p:cNvPr id="40" name="Holly"/>
          <p:cNvGrpSpPr/>
          <p:nvPr/>
        </p:nvGrpSpPr>
        <p:grpSpPr>
          <a:xfrm>
            <a:off x="3659225" y="4998110"/>
            <a:ext cx="914400" cy="558292"/>
            <a:chOff x="3659225" y="4998110"/>
            <a:chExt cx="914400" cy="558292"/>
          </a:xfrm>
        </p:grpSpPr>
        <p:sp>
          <p:nvSpPr>
            <p:cNvPr id="41" name="Oval 40"/>
            <p:cNvSpPr/>
            <p:nvPr/>
          </p:nvSpPr>
          <p:spPr>
            <a:xfrm>
              <a:off x="3837279" y="4998110"/>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9225" y="5152288"/>
              <a:ext cx="914400" cy="249935"/>
            </a:xfrm>
            <a:prstGeom prst="rect">
              <a:avLst/>
            </a:prstGeom>
            <a:noFill/>
          </p:spPr>
          <p:txBody>
            <a:bodyPr wrap="square" lIns="0" rIns="0" tIns="0" bIns="0" anchor="ctr">
              <a:spAutoFit/>
            </a:bodyPr>
            <a:lstStyle/>
            <a:p>
              <a:pPr algn="ctr"/>
              <a:r>
                <a:rPr sz="700" b="0">
                  <a:solidFill>
                    <a:srgbClr val="1F2937"/>
                  </a:solidFill>
                  <a:latin typeface="Arial"/>
                </a:rPr>
                <a:t>Holly</a:t>
              </a:r>
            </a:p>
            <a:p>
              <a:pPr algn="ctr"/>
              <a:r>
                <a:rPr sz="700" b="0">
                  <a:solidFill>
                    <a:srgbClr val="1F2937"/>
                  </a:solidFill>
                  <a:latin typeface="Arial"/>
                </a:rPr>
                <a:t>lead vox</a:t>
              </a:r>
            </a:p>
          </p:txBody>
        </p:sp>
      </p:grpSp>
      <p:grpSp>
        <p:nvGrpSpPr>
          <p:cNvPr id="43" name="Milly"/>
          <p:cNvGrpSpPr/>
          <p:nvPr/>
        </p:nvGrpSpPr>
        <p:grpSpPr>
          <a:xfrm>
            <a:off x="8460536" y="4998110"/>
            <a:ext cx="914400" cy="558292"/>
            <a:chOff x="8460536" y="4998110"/>
            <a:chExt cx="914400" cy="558292"/>
          </a:xfrm>
        </p:grpSpPr>
        <p:sp>
          <p:nvSpPr>
            <p:cNvPr id="44" name="Oval 43"/>
            <p:cNvSpPr/>
            <p:nvPr/>
          </p:nvSpPr>
          <p:spPr>
            <a:xfrm>
              <a:off x="8638590" y="4998110"/>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60536" y="5098948"/>
              <a:ext cx="914400" cy="356615"/>
            </a:xfrm>
            <a:prstGeom prst="rect">
              <a:avLst/>
            </a:prstGeom>
            <a:noFill/>
          </p:spPr>
          <p:txBody>
            <a:bodyPr wrap="square" lIns="0" rIns="0" tIns="0" bIns="0" anchor="ctr">
              <a:spAutoFit/>
            </a:bodyPr>
            <a:lstStyle/>
            <a:p>
              <a:pPr algn="ctr"/>
              <a:r>
                <a:rPr sz="700" b="0">
                  <a:solidFill>
                    <a:srgbClr val="1F2937"/>
                  </a:solidFill>
                  <a:latin typeface="Arial"/>
                </a:rPr>
                <a:t>Milly</a:t>
              </a:r>
            </a:p>
            <a:p>
              <a:pPr algn="ctr"/>
              <a:r>
                <a:rPr sz="700" b="0">
                  <a:solidFill>
                    <a:srgbClr val="1F2937"/>
                  </a:solidFill>
                  <a:latin typeface="Arial"/>
                </a:rPr>
                <a:t>acoustic</a:t>
              </a:r>
            </a:p>
            <a:p>
              <a:pPr algn="ctr"/>
              <a:r>
                <a:rPr sz="700" b="0">
                  <a:solidFill>
                    <a:srgbClr val="1F2937"/>
                  </a:solidFill>
                  <a:latin typeface="Arial"/>
                </a:rPr>
                <a:t>+ vox</a:t>
              </a:r>
            </a:p>
          </p:txBody>
        </p:sp>
      </p:grpSp>
      <p:grpSp>
        <p:nvGrpSpPr>
          <p:cNvPr id="46" name="Vox 1 · fold down"/>
          <p:cNvGrpSpPr/>
          <p:nvPr/>
        </p:nvGrpSpPr>
        <p:grpSpPr>
          <a:xfrm>
            <a:off x="902919" y="5723890"/>
            <a:ext cx="1737360" cy="487375"/>
            <a:chOff x="902919" y="5723890"/>
            <a:chExt cx="1737360" cy="487375"/>
          </a:xfrm>
        </p:grpSpPr>
        <p:sp>
          <p:nvSpPr>
            <p:cNvPr id="47" name="Oval 46"/>
            <p:cNvSpPr/>
            <p:nvPr/>
          </p:nvSpPr>
          <p:spPr>
            <a:xfrm>
              <a:off x="1604111" y="5723890"/>
              <a:ext cx="334975" cy="334975"/>
            </a:xfrm>
            <a:prstGeom prst="ellipse">
              <a:avLst/>
            </a:prstGeom>
            <a:solidFill>
              <a:srgbClr val="FFFFFF"/>
            </a:solidFill>
            <a:ln w="12700">
              <a:solidFill>
                <a:srgbClr val="D1D5D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2919" y="6068009"/>
              <a:ext cx="1737360" cy="143256"/>
            </a:xfrm>
            <a:prstGeom prst="rect">
              <a:avLst/>
            </a:prstGeom>
            <a:noFill/>
          </p:spPr>
          <p:txBody>
            <a:bodyPr wrap="square" lIns="0" rIns="0" tIns="0" bIns="0" anchor="ctr">
              <a:spAutoFit/>
            </a:bodyPr>
            <a:lstStyle/>
            <a:p>
              <a:pPr algn="ctr"/>
              <a:r>
                <a:rPr sz="700" b="0">
                  <a:solidFill>
                    <a:srgbClr val="9CA3AF"/>
                  </a:solidFill>
                  <a:latin typeface="Arial"/>
                </a:rPr>
                <a:t>Vox 1 · fold down</a:t>
              </a:r>
            </a:p>
          </p:txBody>
        </p:sp>
      </p:grpSp>
      <p:grpSp>
        <p:nvGrpSpPr>
          <p:cNvPr id="49" name="Vox 2 · ch 22"/>
          <p:cNvGrpSpPr/>
          <p:nvPr/>
        </p:nvGrpSpPr>
        <p:grpSpPr>
          <a:xfrm>
            <a:off x="3247745" y="5723890"/>
            <a:ext cx="1737360" cy="594054"/>
            <a:chOff x="3247745" y="5723890"/>
            <a:chExt cx="1737360" cy="594054"/>
          </a:xfrm>
        </p:grpSpPr>
        <p:sp>
          <p:nvSpPr>
            <p:cNvPr id="50" name="Oval 49"/>
            <p:cNvSpPr/>
            <p:nvPr/>
          </p:nvSpPr>
          <p:spPr>
            <a:xfrm>
              <a:off x="3948937" y="5723890"/>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47745" y="6068009"/>
              <a:ext cx="1737360" cy="249935"/>
            </a:xfrm>
            <a:prstGeom prst="rect">
              <a:avLst/>
            </a:prstGeom>
            <a:noFill/>
          </p:spPr>
          <p:txBody>
            <a:bodyPr wrap="square" lIns="0" rIns="0" tIns="0" bIns="0" anchor="ctr">
              <a:spAutoFit/>
            </a:bodyPr>
            <a:lstStyle/>
            <a:p>
              <a:pPr algn="ctr"/>
              <a:r>
                <a:rPr sz="700" b="0">
                  <a:solidFill>
                    <a:srgbClr val="1F2937"/>
                  </a:solidFill>
                  <a:latin typeface="Arial"/>
                </a:rPr>
                <a:t>Vox 2 · ch 22</a:t>
              </a:r>
            </a:p>
            <a:p>
              <a:pPr algn="ctr"/>
              <a:r>
                <a:rPr sz="700" b="0">
                  <a:solidFill>
                    <a:srgbClr val="1F2937"/>
                  </a:solidFill>
                  <a:latin typeface="Arial"/>
                </a:rPr>
                <a:t>Holly's own Beta 58</a:t>
              </a:r>
            </a:p>
          </p:txBody>
        </p:sp>
      </p:grpSp>
      <p:grpSp>
        <p:nvGrpSpPr>
          <p:cNvPr id="52" name="Vox 3 · fold down"/>
          <p:cNvGrpSpPr/>
          <p:nvPr/>
        </p:nvGrpSpPr>
        <p:grpSpPr>
          <a:xfrm>
            <a:off x="5704230" y="5723890"/>
            <a:ext cx="1737360" cy="487375"/>
            <a:chOff x="5704230" y="5723890"/>
            <a:chExt cx="1737360" cy="487375"/>
          </a:xfrm>
        </p:grpSpPr>
        <p:sp>
          <p:nvSpPr>
            <p:cNvPr id="53" name="Oval 52"/>
            <p:cNvSpPr/>
            <p:nvPr/>
          </p:nvSpPr>
          <p:spPr>
            <a:xfrm>
              <a:off x="6405422" y="5723890"/>
              <a:ext cx="334975" cy="334975"/>
            </a:xfrm>
            <a:prstGeom prst="ellipse">
              <a:avLst/>
            </a:prstGeom>
            <a:solidFill>
              <a:srgbClr val="FFFFFF"/>
            </a:solidFill>
            <a:ln w="12700">
              <a:solidFill>
                <a:srgbClr val="D1D5D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704230" y="6068009"/>
              <a:ext cx="1737360" cy="143256"/>
            </a:xfrm>
            <a:prstGeom prst="rect">
              <a:avLst/>
            </a:prstGeom>
            <a:noFill/>
          </p:spPr>
          <p:txBody>
            <a:bodyPr wrap="square" lIns="0" rIns="0" tIns="0" bIns="0" anchor="ctr">
              <a:spAutoFit/>
            </a:bodyPr>
            <a:lstStyle/>
            <a:p>
              <a:pPr algn="ctr"/>
              <a:r>
                <a:rPr sz="700" b="0">
                  <a:solidFill>
                    <a:srgbClr val="9CA3AF"/>
                  </a:solidFill>
                  <a:latin typeface="Arial"/>
                </a:rPr>
                <a:t>Vox 3 · fold down</a:t>
              </a:r>
            </a:p>
          </p:txBody>
        </p:sp>
      </p:grpSp>
      <p:grpSp>
        <p:nvGrpSpPr>
          <p:cNvPr id="55" name="Vox 4 · ch 24"/>
          <p:cNvGrpSpPr/>
          <p:nvPr/>
        </p:nvGrpSpPr>
        <p:grpSpPr>
          <a:xfrm>
            <a:off x="8049056" y="5723890"/>
            <a:ext cx="1737360" cy="487375"/>
            <a:chOff x="8049056" y="5723890"/>
            <a:chExt cx="1737360" cy="487375"/>
          </a:xfrm>
        </p:grpSpPr>
        <p:sp>
          <p:nvSpPr>
            <p:cNvPr id="56" name="Oval 55"/>
            <p:cNvSpPr/>
            <p:nvPr/>
          </p:nvSpPr>
          <p:spPr>
            <a:xfrm>
              <a:off x="8750249" y="5723890"/>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049056" y="6068009"/>
              <a:ext cx="1737360" cy="143256"/>
            </a:xfrm>
            <a:prstGeom prst="rect">
              <a:avLst/>
            </a:prstGeom>
            <a:noFill/>
          </p:spPr>
          <p:txBody>
            <a:bodyPr wrap="square" lIns="0" rIns="0" tIns="0" bIns="0" anchor="ctr">
              <a:spAutoFit/>
            </a:bodyPr>
            <a:lstStyle/>
            <a:p>
              <a:pPr algn="ctr"/>
              <a:r>
                <a:rPr sz="700" b="0">
                  <a:solidFill>
                    <a:srgbClr val="1F2937"/>
                  </a:solidFill>
                  <a:latin typeface="Arial"/>
                </a:rPr>
                <a:t>Vox 4 · ch 24</a:t>
              </a:r>
            </a:p>
          </p:txBody>
        </p:sp>
      </p:grpSp>
      <p:sp>
        <p:nvSpPr>
          <p:cNvPr id="58" name=""/>
          <p:cNvSpPr/>
          <p:nvPr/>
        </p:nvSpPr>
        <p:spPr>
          <a:xfrm>
            <a:off x="320040" y="6599326"/>
            <a:ext cx="146304" cy="118872"/>
          </a:xfrm>
          <a:prstGeom prst="roundRect">
            <a:avLst/>
          </a:prstGeom>
          <a:solidFill>
            <a:srgbClr val="FDF1E3"/>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59" name="TextBox 58"/>
          <p:cNvSpPr txBox="1"/>
          <p:nvPr/>
        </p:nvSpPr>
        <p:spPr>
          <a:xfrm>
            <a:off x="484632"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Backline</a:t>
            </a:r>
          </a:p>
        </p:txBody>
      </p:sp>
      <p:sp>
        <p:nvSpPr>
          <p:cNvPr id="60" name=""/>
          <p:cNvSpPr/>
          <p:nvPr/>
        </p:nvSpPr>
        <p:spPr>
          <a:xfrm>
            <a:off x="1047902" y="6599326"/>
            <a:ext cx="146304" cy="118872"/>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1" name="TextBox 60"/>
          <p:cNvSpPr txBox="1"/>
          <p:nvPr/>
        </p:nvSpPr>
        <p:spPr>
          <a:xfrm>
            <a:off x="1212494"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Player</a:t>
            </a:r>
          </a:p>
        </p:txBody>
      </p:sp>
      <p:sp>
        <p:nvSpPr>
          <p:cNvPr id="62" name=""/>
          <p:cNvSpPr/>
          <p:nvPr/>
        </p:nvSpPr>
        <p:spPr>
          <a:xfrm>
            <a:off x="1662379" y="6599326"/>
            <a:ext cx="146304" cy="118872"/>
          </a:xfrm>
          <a:prstGeom prst="roundRect">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3" name="TextBox 62"/>
          <p:cNvSpPr txBox="1"/>
          <p:nvPr/>
        </p:nvSpPr>
        <p:spPr>
          <a:xfrm>
            <a:off x="1826971"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Vocal mic</a:t>
            </a:r>
          </a:p>
        </p:txBody>
      </p:sp>
      <p:sp>
        <p:nvSpPr>
          <p:cNvPr id="64" name=""/>
          <p:cNvSpPr/>
          <p:nvPr/>
        </p:nvSpPr>
        <p:spPr>
          <a:xfrm>
            <a:off x="2446934" y="6599326"/>
            <a:ext cx="146304" cy="118872"/>
          </a:xfrm>
          <a:prstGeom prst="roundRect">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5" name="TextBox 64"/>
          <p:cNvSpPr txBox="1"/>
          <p:nvPr/>
        </p:nvSpPr>
        <p:spPr>
          <a:xfrm>
            <a:off x="2611526"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DI box</a:t>
            </a:r>
          </a:p>
        </p:txBody>
      </p:sp>
      <p:sp>
        <p:nvSpPr>
          <p:cNvPr id="66" name=""/>
          <p:cNvSpPr/>
          <p:nvPr/>
        </p:nvSpPr>
        <p:spPr>
          <a:xfrm>
            <a:off x="3061411" y="6599326"/>
            <a:ext cx="146304" cy="118872"/>
          </a:xfrm>
          <a:prstGeom prst="round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7" name="TextBox 66"/>
          <p:cNvSpPr txBox="1"/>
          <p:nvPr/>
        </p:nvSpPr>
        <p:spPr>
          <a:xfrm>
            <a:off x="3226003"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Keys</a:t>
            </a:r>
          </a:p>
        </p:txBody>
      </p:sp>
      <p:sp>
        <p:nvSpPr>
          <p:cNvPr id="68" name=""/>
          <p:cNvSpPr/>
          <p:nvPr/>
        </p:nvSpPr>
        <p:spPr>
          <a:xfrm>
            <a:off x="3562502" y="6599326"/>
            <a:ext cx="146304" cy="118872"/>
          </a:xfrm>
          <a:prstGeom prst="roundRect">
            <a:avLst/>
          </a:prstGeom>
          <a:solidFill>
            <a:srgbClr val="E0F2FE"/>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9" name="TextBox 68"/>
          <p:cNvSpPr txBox="1"/>
          <p:nvPr/>
        </p:nvSpPr>
        <p:spPr>
          <a:xfrm>
            <a:off x="3727094"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Laptop / screen</a:t>
            </a:r>
          </a:p>
        </p:txBody>
      </p:sp>
      <p:sp>
        <p:nvSpPr>
          <p:cNvPr id="70" name=""/>
          <p:cNvSpPr/>
          <p:nvPr/>
        </p:nvSpPr>
        <p:spPr>
          <a:xfrm>
            <a:off x="4687214" y="6599326"/>
            <a:ext cx="146304" cy="118872"/>
          </a:xfrm>
          <a:prstGeom prst="roundRect">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1" name="TextBox 70"/>
          <p:cNvSpPr txBox="1"/>
          <p:nvPr/>
        </p:nvSpPr>
        <p:spPr>
          <a:xfrm>
            <a:off x="4851806"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In-ears / wireless</a:t>
            </a:r>
          </a:p>
        </p:txBody>
      </p:sp>
      <p:sp>
        <p:nvSpPr>
          <p:cNvPr id="72" name="TextBox 71"/>
          <p:cNvSpPr txBox="1"/>
          <p:nvPr/>
        </p:nvSpPr>
        <p:spPr>
          <a:xfrm>
            <a:off x="5982004" y="6562750"/>
            <a:ext cx="1828800" cy="182880"/>
          </a:xfrm>
          <a:prstGeom prst="rect">
            <a:avLst/>
          </a:prstGeom>
          <a:noFill/>
        </p:spPr>
        <p:txBody>
          <a:bodyPr wrap="square" lIns="27432" rIns="27432" tIns="27432" bIns="27432" anchor="t">
            <a:spAutoFit/>
          </a:bodyPr>
          <a:lstStyle/>
          <a:p>
            <a:pPr algn="l"/>
            <a:r>
              <a:rPr sz="700" b="0">
                <a:solidFill>
                  <a:srgbClr val="6B7280"/>
                </a:solidFill>
                <a:latin typeface="Arial"/>
              </a:rPr>
              <a:t>Dashed = not used this set</a:t>
            </a:r>
          </a:p>
        </p:txBody>
      </p:sp>
      <p:sp>
        <p:nvSpPr>
          <p:cNvPr id="73" name="Rectangle 72"/>
          <p:cNvSpPr/>
          <p:nvPr/>
        </p:nvSpPr>
        <p:spPr>
          <a:xfrm>
            <a:off x="320040" y="6882790"/>
            <a:ext cx="1116584" cy="4572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509776" y="6818782"/>
            <a:ext cx="5486400" cy="182880"/>
          </a:xfrm>
          <a:prstGeom prst="rect">
            <a:avLst/>
          </a:prstGeom>
          <a:noFill/>
        </p:spPr>
        <p:txBody>
          <a:bodyPr wrap="square" lIns="27432" rIns="27432" tIns="27432" bIns="27432" anchor="t">
            <a:spAutoFit/>
          </a:bodyPr>
          <a:lstStyle/>
          <a:p>
            <a:pPr algn="l"/>
            <a:r>
              <a:rPr sz="700" b="0">
                <a:solidFill>
                  <a:srgbClr val="6B7280"/>
                </a:solidFill>
                <a:latin typeface="Arial"/>
              </a:rPr>
              <a:t>1 m · all to scale; DI boxes and mic stands slightly enlarged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V2 Voyagers (V2 AI) — patch and notes</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9:35–10:00 pm · soundcheck 5:00 pm · contact on the day: Holly or Shane</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20040" y="777240"/>
          <a:ext cx="4663440" cy="2353936"/>
        </p:xfrm>
        <a:graphic>
          <a:graphicData uri="http://schemas.openxmlformats.org/drawingml/2006/table">
            <a:tbl>
              <a:tblPr firstRow="1">
                <a:tableStyleId>{5C22544A-7EE6-4342-B048-85BDC9FD1C3A}</a:tableStyleId>
              </a:tblPr>
              <a:tblGrid>
                <a:gridCol w="502920"/>
                <a:gridCol w="1143000"/>
                <a:gridCol w="3017520"/>
              </a:tblGrid>
              <a:tr h="232282">
                <a:tc>
                  <a:txBody>
                    <a:bodyPr wrap="square"/>
                    <a:lstStyle/>
                    <a:p>
                      <a:pPr algn="l"/>
                      <a:r>
                        <a:rPr sz="850" b="1">
                          <a:solidFill>
                            <a:srgbClr val="1F2937"/>
                          </a:solidFill>
                          <a:latin typeface="Arial"/>
                        </a:rPr>
                        <a:t>Ch</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50" b="1">
                          <a:solidFill>
                            <a:srgbClr val="1F2937"/>
                          </a:solidFill>
                          <a:latin typeface="Arial"/>
                        </a:rPr>
                        <a:t>Input</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50" b="1">
                          <a:solidFill>
                            <a:srgbClr val="1F2937"/>
                          </a:solidFill>
                          <a:latin typeface="Arial"/>
                        </a:rPr>
                        <a:t>Who and notes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363981">
                <a:tc>
                  <a:txBody>
                    <a:bodyPr wrap="square"/>
                    <a:lstStyle/>
                    <a:p>
                      <a:pPr algn="l"/>
                      <a:r>
                        <a:rPr sz="850" b="1">
                          <a:solidFill>
                            <a:srgbClr val="1F2937"/>
                          </a:solidFill>
                          <a:latin typeface="Arial"/>
                        </a:rPr>
                        <a:t>1–10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Drum kit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Jai on songs 1–3 (lighter player), Shane on songs 4–5 (hard hitter)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Bass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Cam: Ampeg DI out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Bass cab mic</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Ampeg cab</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Gtr 1 (Fender)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Taz</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17</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Acoustic guitar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Milly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22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Vox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Holly, on her own Shure Beta 58</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24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Vox 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Milly: light backing vocals, and tambourine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63981">
                <a:tc>
                  <a:txBody>
                    <a:bodyPr wrap="square"/>
                    <a:lstStyle/>
                    <a:p>
                      <a:pPr algn="l"/>
                      <a:r>
                        <a:rPr sz="850" b="1">
                          <a:solidFill>
                            <a:srgbClr val="1F2937"/>
                          </a:solidFill>
                          <a:latin typeface="Arial"/>
                        </a:rPr>
                        <a:t>27</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Playback L (mono)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Backing track from the band's Mooer Micro DI at the riser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sp>
        <p:nvSpPr>
          <p:cNvPr id="6" name="TextBox 5"/>
          <p:cNvSpPr txBox="1"/>
          <p:nvPr/>
        </p:nvSpPr>
        <p:spPr>
          <a:xfrm>
            <a:off x="320040" y="3176904"/>
            <a:ext cx="4663440" cy="457200"/>
          </a:xfrm>
          <a:prstGeom prst="rect">
            <a:avLst/>
          </a:prstGeom>
          <a:noFill/>
        </p:spPr>
        <p:txBody>
          <a:bodyPr wrap="square" lIns="27432" rIns="27432" tIns="27432" bIns="27432" anchor="t">
            <a:spAutoFit/>
          </a:bodyPr>
          <a:lstStyle/>
          <a:p>
            <a:pPr algn="l"/>
            <a:r>
              <a:rPr sz="800" b="0">
                <a:solidFill>
                  <a:srgbClr val="6B7280"/>
                </a:solidFill>
                <a:latin typeface="Arial"/>
              </a:rPr>
              <a:t>Not used this set: ch 14, 15, 16, 18, 19, 20, 21, 23, 25, 26, 28. Ch 31/32 are the crowd mics, for the recording only.</a:t>
            </a:r>
          </a:p>
        </p:txBody>
      </p:sp>
      <p:sp>
        <p:nvSpPr>
          <p:cNvPr id="7" name="Monitors and in-ears"/>
          <p:cNvSpPr/>
          <p:nvPr/>
        </p:nvSpPr>
        <p:spPr>
          <a:xfrm>
            <a:off x="5257799" y="777240"/>
            <a:ext cx="5111496" cy="794067"/>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Monitors and in-ears</a:t>
            </a:r>
          </a:p>
          <a:p>
            <a:r>
              <a:rPr sz="950">
                <a:solidFill>
                  <a:srgbClr val="1F2937"/>
                </a:solidFill>
                <a:latin typeface="Arial"/>
              </a:rPr>
              <a:t>Holly has her own wireless in-ears (Xvive U4); the transmitter needs a mix feed from the desk. The drummers' click comes from the band's own headphone amp, not the desk.</a:t>
            </a:r>
          </a:p>
        </p:txBody>
      </p:sp>
      <p:sp>
        <p:nvSpPr>
          <p:cNvPr id="8" name="Screen and playback"/>
          <p:cNvSpPr/>
          <p:nvPr/>
        </p:nvSpPr>
        <p:spPr>
          <a:xfrm>
            <a:off x="5257799" y="1681035"/>
            <a:ext cx="5111496" cy="944880"/>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Screen and playback</a:t>
            </a:r>
          </a:p>
          <a:p>
            <a:r>
              <a:rPr sz="950">
                <a:solidFill>
                  <a:srgbClr val="1F2937"/>
                </a:solidFill>
                <a:latin typeface="Arial"/>
              </a:rPr>
              <a:t>The band's laptop at the drum riser runs the whole set as one Reaper session. Video over HDMI (no audio), already cut and cued, so no VJ needed. Backing track is mono, from their own Mooer Micro DI (or a house DI) into ch 27. An idle loop plays between songs.</a:t>
            </a:r>
          </a:p>
        </p:txBody>
      </p:sp>
      <p:sp>
        <p:nvSpPr>
          <p:cNvPr id="9" name="Notes and to confirm"/>
          <p:cNvSpPr/>
          <p:nvPr/>
        </p:nvSpPr>
        <p:spPr>
          <a:xfrm>
            <a:off x="5257799" y="2735643"/>
            <a:ext cx="5111496" cy="794067"/>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Notes and to confirm</a:t>
            </a:r>
          </a:p>
          <a:p>
            <a:r>
              <a:rPr sz="950">
                <a:solidFill>
                  <a:srgbClr val="1F2937"/>
                </a:solidFill>
                <a:latin typeface="Arial"/>
              </a:rPr>
              <a:t>Two drummers; about a minute to swap before song 4. Milly chose Vox 4 (house right) but also wrote “stage right”, which is house left: confirm her side. The band asks for a smoke machine on the walk-on.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V2 Voyagers (V2 AI) — the set</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9:35–10:00 pm · soundcheck 5:00 pm · contact on the day: Holly or Shane</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731520"/>
            <a:ext cx="10049256" cy="274320"/>
          </a:xfrm>
          <a:prstGeom prst="rect">
            <a:avLst/>
          </a:prstGeom>
          <a:noFill/>
        </p:spPr>
        <p:txBody>
          <a:bodyPr wrap="square" lIns="27432" rIns="27432" tIns="27432" bIns="27432" anchor="t">
            <a:spAutoFit/>
          </a:bodyPr>
          <a:lstStyle/>
          <a:p>
            <a:pPr algn="l"/>
            <a:r>
              <a:rPr sz="900" b="0">
                <a:solidFill>
                  <a:srgbClr val="6B7280"/>
                </a:solidFill>
                <a:latin typeface="Arial"/>
              </a:rPr>
              <a:t>Running time: 20:55 planned, in a 25-minute slot.</a:t>
            </a:r>
          </a:p>
        </p:txBody>
      </p:sp>
      <p:graphicFrame>
        <p:nvGraphicFramePr>
          <p:cNvPr id="6" name="Table 5"/>
          <p:cNvGraphicFramePr>
            <a:graphicFrameLocks noGrp="1"/>
          </p:cNvGraphicFramePr>
          <p:nvPr/>
        </p:nvGraphicFramePr>
        <p:xfrm>
          <a:off x="320040" y="1097280"/>
          <a:ext cx="10049256" cy="3089646"/>
        </p:xfrm>
        <a:graphic>
          <a:graphicData uri="http://schemas.openxmlformats.org/drawingml/2006/table">
            <a:tbl>
              <a:tblPr firstRow="1">
                <a:tableStyleId>{5C22544A-7EE6-4342-B048-85BDC9FD1C3A}</a:tableStyleId>
              </a:tblPr>
              <a:tblGrid>
                <a:gridCol w="594360"/>
                <a:gridCol w="2148840"/>
                <a:gridCol w="502920"/>
                <a:gridCol w="2743200"/>
                <a:gridCol w="1417320"/>
                <a:gridCol w="2642616"/>
              </a:tblGrid>
              <a:tr h="224535">
                <a:tc>
                  <a:txBody>
                    <a:bodyPr wrap="square"/>
                    <a:lstStyle/>
                    <a:p>
                      <a:pPr algn="l"/>
                      <a:r>
                        <a:rPr sz="800" b="1">
                          <a:solidFill>
                            <a:srgbClr val="1F2937"/>
                          </a:solidFill>
                          <a:latin typeface="Arial"/>
                        </a:rPr>
                        <a:t>Step</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Song, or what happens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Length</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On stage · lead · moves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Screen · playback</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Lighting</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472440">
                <a:tc>
                  <a:txBody>
                    <a:bodyPr wrap="square"/>
                    <a:lstStyle/>
                    <a:p>
                      <a:pPr algn="l"/>
                      <a:r>
                        <a:rPr sz="800" b="1">
                          <a:solidFill>
                            <a:srgbClr val="1F2937"/>
                          </a:solidFill>
                          <a:latin typeface="Arial"/>
                        </a:rPr>
                        <a:t>Walk-on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Intro video and audio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0:30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Intro audio and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No front lighting, band in silhouette. Bring lights up as the rocket takes off. Smoke machine here too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Song 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Venus — Bananarama</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2:40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Holly, Cam, Taz, Milly, Jai. Lead: Holly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Backing audio and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Match colours of video: reds, blues, purples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1 →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0:15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Idle loop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224535">
                <a:tc>
                  <a:txBody>
                    <a:bodyPr wrap="square"/>
                    <a:lstStyle/>
                    <a:p>
                      <a:pPr algn="l"/>
                      <a:r>
                        <a:rPr sz="800" b="1">
                          <a:solidFill>
                            <a:srgbClr val="1F2937"/>
                          </a:solidFill>
                          <a:latin typeface="Arial"/>
                        </a:rPr>
                        <a:t>Song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Cosmic Girl — Jamiroquai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3:40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Holly, Cam, Taz, Milly, Jai. Lead: Holly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Backing audio and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Match colours of video: amber, sky blue, purples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 →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0:15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Idle loop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348487">
                <a:tc>
                  <a:txBody>
                    <a:bodyPr wrap="square"/>
                    <a:lstStyle/>
                    <a:p>
                      <a:pPr algn="l"/>
                      <a:r>
                        <a:rPr sz="800" b="1">
                          <a:solidFill>
                            <a:srgbClr val="1F2937"/>
                          </a:solidFill>
                          <a:latin typeface="Arial"/>
                        </a:rPr>
                        <a:t>Song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Drops of Jupiter — Train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3:40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Holly, Cam, Taz, Milly, Jai. Lead: Holly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Backing audio and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Match colours of video: turquoise, deep blue, lime green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3 → 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Drummer changeover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1:00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Jai off, Shane on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Idle loop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348487">
                <a:tc>
                  <a:txBody>
                    <a:bodyPr wrap="square"/>
                    <a:lstStyle/>
                    <a:p>
                      <a:pPr algn="l"/>
                      <a:r>
                        <a:rPr sz="800" b="1">
                          <a:solidFill>
                            <a:srgbClr val="1F2937"/>
                          </a:solidFill>
                          <a:latin typeface="Arial"/>
                        </a:rPr>
                        <a:t>Song 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All Star — Smash Mouth</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3:20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Holly, Cam, Taz, Milly, Shane. Lead: Holly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Backing audio and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Match colours of video: deep greens, reds, sky blue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4 → 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0:15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Idle loop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348487">
                <a:tc>
                  <a:txBody>
                    <a:bodyPr wrap="square"/>
                    <a:lstStyle/>
                    <a:p>
                      <a:pPr algn="l"/>
                      <a:r>
                        <a:rPr sz="800" b="1">
                          <a:solidFill>
                            <a:srgbClr val="1F2937"/>
                          </a:solidFill>
                          <a:latin typeface="Arial"/>
                        </a:rPr>
                        <a:t>Song 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Medley: Starships — Nicki Minaj / UFO — Sneaky Sound System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5:20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Holly, Cam, Taz, Milly, Shane. Lead: Holly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Backing audio and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Starships: purples, pinks, blues. UFO: golds, reds, whites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