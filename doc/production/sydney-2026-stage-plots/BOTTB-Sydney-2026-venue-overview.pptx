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0689336" cy="7562088"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cs.google.com/presentation/d/13kDtpZfeE78rUEX50qO-1JYZqYxgJPIKwIyCDkCDH3s/edit" TargetMode="External"/><Relationship Id="rId3" Type="http://schemas.openxmlformats.org/officeDocument/2006/relationships/hyperlink" Target="https://docs.google.com/presentation/d/1WdRTelFiFVAHDGStc1lxRVyhc5u9dn9ax1Lk1M-akW8/edit" TargetMode="External"/><Relationship Id="rId4" Type="http://schemas.openxmlformats.org/officeDocument/2006/relationships/hyperlink" Target="https://docs.google.com/presentation/d/17NXjACPkFnfVskxzNZCTRbII2xrDVCOSez4jvBjAYqY/edit" TargetMode="External"/><Relationship Id="rId5" Type="http://schemas.openxmlformats.org/officeDocument/2006/relationships/hyperlink" Target="https://docs.google.com/presentation/d/1j1ol8AKbWQOVr2-PfTfjyT2YKO2YBtgOhMsoF72pB9U/edit" TargetMode="External"/><Relationship Id="rId6" Type="http://schemas.openxmlformats.org/officeDocument/2006/relationships/hyperlink" Target="https://docs.google.com/presentation/d/1RByvEr_wjXjokN81PsBnh-N5d51IOKCbXBaMItnDU4E/edit"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201168"/>
            <a:ext cx="6583680" cy="365760"/>
          </a:xfrm>
          <a:prstGeom prst="rect">
            <a:avLst/>
          </a:prstGeom>
          <a:noFill/>
        </p:spPr>
        <p:txBody>
          <a:bodyPr wrap="square" lIns="27432" rIns="27432" tIns="27432" bIns="27432" anchor="t">
            <a:spAutoFit/>
          </a:bodyPr>
          <a:lstStyle/>
          <a:p>
            <a:pPr algn="l"/>
            <a:r>
              <a:rPr sz="1700" b="1">
                <a:solidFill>
                  <a:srgbClr val="1F2937"/>
                </a:solidFill>
                <a:latin typeface="Arial"/>
              </a:rPr>
              <a:t>Stage plots, patches and sets</a:t>
            </a:r>
          </a:p>
        </p:txBody>
      </p:sp>
      <p:sp>
        <p:nvSpPr>
          <p:cNvPr id="3" name="TextBox 2"/>
          <p:cNvSpPr txBox="1"/>
          <p:nvPr/>
        </p:nvSpPr>
        <p:spPr>
          <a:xfrm>
            <a:off x="5669280" y="182880"/>
            <a:ext cx="4700016" cy="384048"/>
          </a:xfrm>
          <a:prstGeom prst="rect">
            <a:avLst/>
          </a:prstGeom>
          <a:noFill/>
        </p:spPr>
        <p:txBody>
          <a:bodyPr wrap="square" lIns="27432" rIns="27432" tIns="27432" bIns="27432" anchor="t">
            <a:spAutoFit/>
          </a:bodyPr>
          <a:lstStyle/>
          <a:p>
            <a:pPr algn="r"/>
            <a:r>
              <a:rPr sz="900" b="0">
                <a:solidFill>
                  <a:srgbClr val="6B7280"/>
                </a:solidFill>
                <a:latin typeface="Arial"/>
              </a:rPr>
              <a:t>Battle of the Tech Bands Sydney · Thursday 8 October 2026 · Manning Bar, University of Sydney</a:t>
            </a:r>
          </a:p>
        </p:txBody>
      </p:sp>
      <p:sp>
        <p:nvSpPr>
          <p:cNvPr id="4" name="Rectangle 3"/>
          <p:cNvSpPr/>
          <p:nvPr/>
        </p:nvSpPr>
        <p:spPr>
          <a:xfrm>
            <a:off x="320040" y="621792"/>
            <a:ext cx="10049256" cy="274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731520"/>
            <a:ext cx="5120640" cy="274320"/>
          </a:xfrm>
          <a:prstGeom prst="rect">
            <a:avLst/>
          </a:prstGeom>
          <a:noFill/>
        </p:spPr>
        <p:txBody>
          <a:bodyPr wrap="square" lIns="27432" rIns="27432" tIns="27432" bIns="27432" anchor="t">
            <a:spAutoFit/>
          </a:bodyPr>
          <a:lstStyle/>
          <a:p>
            <a:pPr algn="l"/>
            <a:r>
              <a:rPr sz="1100" b="1">
                <a:solidFill>
                  <a:srgbClr val="7C3AED"/>
                </a:solidFill>
                <a:latin typeface="Arial"/>
              </a:rPr>
              <a:t>Schedule</a:t>
            </a:r>
          </a:p>
        </p:txBody>
      </p:sp>
      <p:graphicFrame>
        <p:nvGraphicFramePr>
          <p:cNvPr id="6" name="Table 5"/>
          <p:cNvGraphicFramePr>
            <a:graphicFrameLocks noGrp="1"/>
          </p:cNvGraphicFramePr>
          <p:nvPr/>
        </p:nvGraphicFramePr>
        <p:xfrm>
          <a:off x="320040" y="1005840"/>
          <a:ext cx="5166360" cy="4738878"/>
        </p:xfrm>
        <a:graphic>
          <a:graphicData uri="http://schemas.openxmlformats.org/drawingml/2006/table">
            <a:tbl>
              <a:tblPr firstRow="1">
                <a:tableStyleId>{5C22544A-7EE6-4342-B048-85BDC9FD1C3A}</a:tableStyleId>
              </a:tblPr>
              <a:tblGrid>
                <a:gridCol w="914400"/>
                <a:gridCol w="2148840"/>
                <a:gridCol w="2103120"/>
              </a:tblGrid>
              <a:tr h="240030">
                <a:tc>
                  <a:txBody>
                    <a:bodyPr wrap="square"/>
                    <a:lstStyle/>
                    <a:p>
                      <a:pPr algn="l"/>
                      <a:r>
                        <a:rPr sz="900" b="1">
                          <a:solidFill>
                            <a:srgbClr val="1F2937"/>
                          </a:solidFill>
                          <a:latin typeface="Arial"/>
                        </a:rPr>
                        <a:t>Time</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900" b="1">
                          <a:solidFill>
                            <a:srgbClr val="1F2937"/>
                          </a:solidFill>
                          <a:latin typeface="Arial"/>
                        </a:rPr>
                        <a:t>What</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900" b="1">
                          <a:solidFill>
                            <a:srgbClr val="1F2937"/>
                          </a:solidFill>
                          <a:latin typeface="Arial"/>
                        </a:rPr>
                        <a:t>Notes</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r>
              <a:tr h="240030">
                <a:tc>
                  <a:txBody>
                    <a:bodyPr wrap="square"/>
                    <a:lstStyle/>
                    <a:p>
                      <a:pPr algn="l"/>
                      <a:r>
                        <a:rPr sz="900" b="1">
                          <a:solidFill>
                            <a:srgbClr val="1F2937"/>
                          </a:solidFill>
                          <a:latin typeface="Arial"/>
                        </a:rPr>
                        <a:t>3:30 pm</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00" b="0">
                          <a:solidFill>
                            <a:srgbClr val="1F2937"/>
                          </a:solidFill>
                          <a:latin typeface="Arial"/>
                        </a:rPr>
                        <a:t>Bump-in</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379476">
                <a:tc>
                  <a:txBody>
                    <a:bodyPr wrap="square"/>
                    <a:lstStyle/>
                    <a:p>
                      <a:pPr algn="l"/>
                      <a:r>
                        <a:rPr sz="900" b="1">
                          <a:solidFill>
                            <a:srgbClr val="1F2937"/>
                          </a:solidFill>
                          <a:latin typeface="Arial"/>
                        </a:rPr>
                        <a:t>5:00 pm</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00" b="0">
                          <a:solidFill>
                            <a:srgbClr val="1F2937"/>
                          </a:solidFill>
                          <a:latin typeface="Arial"/>
                        </a:rPr>
                        <a:t>Soundcheck: V2 Voyagers</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00" b="0">
                          <a:solidFill>
                            <a:srgbClr val="1F2937"/>
                          </a:solidFill>
                          <a:latin typeface="Arial"/>
                        </a:rPr>
                        <a:t>10 minutes each, in the reverse of show order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40030">
                <a:tc>
                  <a:txBody>
                    <a:bodyPr wrap="square"/>
                    <a:lstStyle/>
                    <a:p>
                      <a:pPr algn="l"/>
                      <a:r>
                        <a:rPr sz="900" b="1">
                          <a:solidFill>
                            <a:srgbClr val="1F2937"/>
                          </a:solidFill>
                          <a:latin typeface="Arial"/>
                        </a:rPr>
                        <a:t>5:15 pm</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00" b="0">
                          <a:solidFill>
                            <a:srgbClr val="1F2937"/>
                          </a:solidFill>
                          <a:latin typeface="Arial"/>
                        </a:rPr>
                        <a:t>Soundcheck: Amakazaam!</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40030">
                <a:tc>
                  <a:txBody>
                    <a:bodyPr wrap="square"/>
                    <a:lstStyle/>
                    <a:p>
                      <a:pPr algn="l"/>
                      <a:r>
                        <a:rPr sz="900" b="1">
                          <a:solidFill>
                            <a:srgbClr val="1F2937"/>
                          </a:solidFill>
                          <a:latin typeface="Arial"/>
                        </a:rPr>
                        <a:t>5:30 pm</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00" b="0">
                          <a:solidFill>
                            <a:srgbClr val="1F2937"/>
                          </a:solidFill>
                          <a:latin typeface="Arial"/>
                        </a:rPr>
                        <a:t>Soundcheck: Canvanauts</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40030">
                <a:tc>
                  <a:txBody>
                    <a:bodyPr wrap="square"/>
                    <a:lstStyle/>
                    <a:p>
                      <a:pPr algn="l"/>
                      <a:r>
                        <a:rPr sz="900" b="1">
                          <a:solidFill>
                            <a:srgbClr val="1F2937"/>
                          </a:solidFill>
                          <a:latin typeface="Arial"/>
                        </a:rPr>
                        <a:t>5:45 pm</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00" b="0">
                          <a:solidFill>
                            <a:srgbClr val="1F2937"/>
                          </a:solidFill>
                          <a:latin typeface="Arial"/>
                        </a:rPr>
                        <a:t>Soundcheck: Bandlassian</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379476">
                <a:tc>
                  <a:txBody>
                    <a:bodyPr wrap="square"/>
                    <a:lstStyle/>
                    <a:p>
                      <a:pPr algn="l"/>
                      <a:r>
                        <a:rPr sz="900" b="1">
                          <a:solidFill>
                            <a:srgbClr val="1F2937"/>
                          </a:solidFill>
                          <a:latin typeface="Arial"/>
                        </a:rPr>
                        <a:t>6:00 pm</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00" b="0">
                          <a:solidFill>
                            <a:srgbClr val="1F2937"/>
                          </a:solidFill>
                          <a:latin typeface="Arial"/>
                        </a:rPr>
                        <a:t>Soundcheck: ShipReX</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00" b="0">
                          <a:solidFill>
                            <a:srgbClr val="1F2937"/>
                          </a:solidFill>
                          <a:latin typeface="Arial"/>
                        </a:rPr>
                        <a:t>Stage stays set for ShipReX, who open</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40030">
                <a:tc>
                  <a:txBody>
                    <a:bodyPr wrap="square"/>
                    <a:lstStyle/>
                    <a:p>
                      <a:pPr algn="l"/>
                      <a:r>
                        <a:rPr sz="900" b="1">
                          <a:solidFill>
                            <a:srgbClr val="1F2937"/>
                          </a:solidFill>
                          <a:latin typeface="Arial"/>
                        </a:rPr>
                        <a:t>6:30 pm</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00" b="0">
                          <a:solidFill>
                            <a:srgbClr val="1F2937"/>
                          </a:solidFill>
                          <a:latin typeface="Arial"/>
                        </a:rPr>
                        <a:t>Doors</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379476">
                <a:tc>
                  <a:txBody>
                    <a:bodyPr wrap="square"/>
                    <a:lstStyle/>
                    <a:p>
                      <a:pPr algn="l"/>
                      <a:r>
                        <a:rPr sz="900" b="1">
                          <a:solidFill>
                            <a:srgbClr val="1F2937"/>
                          </a:solidFill>
                          <a:latin typeface="Arial"/>
                        </a:rPr>
                        <a:t>7:00–7:15</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00" b="0">
                          <a:solidFill>
                            <a:srgbClr val="1F2937"/>
                          </a:solidFill>
                          <a:latin typeface="Arial"/>
                        </a:rPr>
                        <a:t>Intros</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00" b="0">
                          <a:solidFill>
                            <a:srgbClr val="1F2937"/>
                          </a:solidFill>
                          <a:latin typeface="Arial"/>
                        </a:rPr>
                        <a:t>Host uses one of the band vocal mics</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40030">
                <a:tc>
                  <a:txBody>
                    <a:bodyPr wrap="square"/>
                    <a:lstStyle/>
                    <a:p>
                      <a:pPr algn="l"/>
                      <a:r>
                        <a:rPr sz="900" b="1">
                          <a:solidFill>
                            <a:srgbClr val="1F2937"/>
                          </a:solidFill>
                          <a:latin typeface="Arial"/>
                        </a:rPr>
                        <a:t>7:15–7:40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00" b="0">
                          <a:solidFill>
                            <a:srgbClr val="1F2937"/>
                          </a:solidFill>
                          <a:latin typeface="Arial"/>
                        </a:rPr>
                        <a:t>ShipReX (Rex Software)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00" b="0">
                          <a:solidFill>
                            <a:srgbClr val="1F2937"/>
                          </a:solidFill>
                          <a:latin typeface="Arial"/>
                        </a:rPr>
                        <a:t>Special guests</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40030">
                <a:tc>
                  <a:txBody>
                    <a:bodyPr wrap="square"/>
                    <a:lstStyle/>
                    <a:p>
                      <a:pPr algn="l"/>
                      <a:r>
                        <a:rPr sz="900" b="1">
                          <a:solidFill>
                            <a:srgbClr val="1F2937"/>
                          </a:solidFill>
                          <a:latin typeface="Arial"/>
                        </a:rPr>
                        <a:t>7:40–7:50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900" b="0">
                          <a:solidFill>
                            <a:srgbClr val="1F2937"/>
                          </a:solidFill>
                          <a:latin typeface="Arial"/>
                        </a:rPr>
                        <a:t>Changeover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9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r>
              <a:tr h="240030">
                <a:tc>
                  <a:txBody>
                    <a:bodyPr wrap="square"/>
                    <a:lstStyle/>
                    <a:p>
                      <a:pPr algn="l"/>
                      <a:r>
                        <a:rPr sz="900" b="1">
                          <a:solidFill>
                            <a:srgbClr val="1F2937"/>
                          </a:solidFill>
                          <a:latin typeface="Arial"/>
                        </a:rPr>
                        <a:t>7:50–8:15</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00" b="0">
                          <a:solidFill>
                            <a:srgbClr val="1F2937"/>
                          </a:solidFill>
                          <a:latin typeface="Arial"/>
                        </a:rPr>
                        <a:t>Bandlassian (Atlassian)</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40030">
                <a:tc>
                  <a:txBody>
                    <a:bodyPr wrap="square"/>
                    <a:lstStyle/>
                    <a:p>
                      <a:pPr algn="l"/>
                      <a:r>
                        <a:rPr sz="900" b="1">
                          <a:solidFill>
                            <a:srgbClr val="1F2937"/>
                          </a:solidFill>
                          <a:latin typeface="Arial"/>
                        </a:rPr>
                        <a:t>8:15–8:25</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900" b="0">
                          <a:solidFill>
                            <a:srgbClr val="1F2937"/>
                          </a:solidFill>
                          <a:latin typeface="Arial"/>
                        </a:rPr>
                        <a:t>Changeover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9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r>
              <a:tr h="240030">
                <a:tc>
                  <a:txBody>
                    <a:bodyPr wrap="square"/>
                    <a:lstStyle/>
                    <a:p>
                      <a:pPr algn="l"/>
                      <a:r>
                        <a:rPr sz="900" b="1">
                          <a:solidFill>
                            <a:srgbClr val="1F2937"/>
                          </a:solidFill>
                          <a:latin typeface="Arial"/>
                        </a:rPr>
                        <a:t>8:25–8:50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00" b="0">
                          <a:solidFill>
                            <a:srgbClr val="1F2937"/>
                          </a:solidFill>
                          <a:latin typeface="Arial"/>
                        </a:rPr>
                        <a:t>Canvanauts (Canva)</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40030">
                <a:tc>
                  <a:txBody>
                    <a:bodyPr wrap="square"/>
                    <a:lstStyle/>
                    <a:p>
                      <a:pPr algn="l"/>
                      <a:r>
                        <a:rPr sz="900" b="1">
                          <a:solidFill>
                            <a:srgbClr val="1F2937"/>
                          </a:solidFill>
                          <a:latin typeface="Arial"/>
                        </a:rPr>
                        <a:t>8:50–9:00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900" b="0">
                          <a:solidFill>
                            <a:srgbClr val="1F2937"/>
                          </a:solidFill>
                          <a:latin typeface="Arial"/>
                        </a:rPr>
                        <a:t>Changeover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9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r>
              <a:tr h="240030">
                <a:tc>
                  <a:txBody>
                    <a:bodyPr wrap="square"/>
                    <a:lstStyle/>
                    <a:p>
                      <a:pPr algn="l"/>
                      <a:r>
                        <a:rPr sz="900" b="1">
                          <a:solidFill>
                            <a:srgbClr val="1F2937"/>
                          </a:solidFill>
                          <a:latin typeface="Arial"/>
                        </a:rPr>
                        <a:t>9:00–9:25</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00" b="0">
                          <a:solidFill>
                            <a:srgbClr val="1F2937"/>
                          </a:solidFill>
                          <a:latin typeface="Arial"/>
                        </a:rPr>
                        <a:t>Amakazaam! (Amazon)</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40030">
                <a:tc>
                  <a:txBody>
                    <a:bodyPr wrap="square"/>
                    <a:lstStyle/>
                    <a:p>
                      <a:pPr algn="l"/>
                      <a:r>
                        <a:rPr sz="900" b="1">
                          <a:solidFill>
                            <a:srgbClr val="1F2937"/>
                          </a:solidFill>
                          <a:latin typeface="Arial"/>
                        </a:rPr>
                        <a:t>9:25–9:35</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900" b="0">
                          <a:solidFill>
                            <a:srgbClr val="1F2937"/>
                          </a:solidFill>
                          <a:latin typeface="Arial"/>
                        </a:rPr>
                        <a:t>Changeover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9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r>
              <a:tr h="240030">
                <a:tc>
                  <a:txBody>
                    <a:bodyPr wrap="square"/>
                    <a:lstStyle/>
                    <a:p>
                      <a:pPr algn="l"/>
                      <a:r>
                        <a:rPr sz="900" b="1">
                          <a:solidFill>
                            <a:srgbClr val="1F2937"/>
                          </a:solidFill>
                          <a:latin typeface="Arial"/>
                        </a:rPr>
                        <a:t>9:35–10:00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00" b="0">
                          <a:solidFill>
                            <a:srgbClr val="1F2937"/>
                          </a:solidFill>
                          <a:latin typeface="Arial"/>
                        </a:rPr>
                        <a:t>V2 Voyagers (V2 AI)</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bl>
          </a:graphicData>
        </a:graphic>
      </p:graphicFrame>
      <p:sp>
        <p:nvSpPr>
          <p:cNvPr id="7" name="TextBox 6"/>
          <p:cNvSpPr txBox="1"/>
          <p:nvPr/>
        </p:nvSpPr>
        <p:spPr>
          <a:xfrm>
            <a:off x="5897880" y="731520"/>
            <a:ext cx="4480560" cy="274320"/>
          </a:xfrm>
          <a:prstGeom prst="rect">
            <a:avLst/>
          </a:prstGeom>
          <a:noFill/>
        </p:spPr>
        <p:txBody>
          <a:bodyPr wrap="square" lIns="27432" rIns="27432" tIns="27432" bIns="27432" anchor="t">
            <a:spAutoFit/>
          </a:bodyPr>
          <a:lstStyle/>
          <a:p>
            <a:pPr algn="l"/>
            <a:r>
              <a:rPr sz="1100" b="1">
                <a:solidFill>
                  <a:srgbClr val="7C3AED"/>
                </a:solidFill>
                <a:latin typeface="Arial"/>
              </a:rPr>
              <a:t>How to read these</a:t>
            </a:r>
          </a:p>
        </p:txBody>
      </p:sp>
      <p:sp>
        <p:nvSpPr>
          <p:cNvPr id="8" name="TextBox 7"/>
          <p:cNvSpPr txBox="1"/>
          <p:nvPr/>
        </p:nvSpPr>
        <p:spPr>
          <a:xfrm>
            <a:off x="5897880" y="1042416"/>
            <a:ext cx="4480560" cy="529894"/>
          </a:xfrm>
          <a:prstGeom prst="rect">
            <a:avLst/>
          </a:prstGeom>
          <a:noFill/>
        </p:spPr>
        <p:txBody>
          <a:bodyPr wrap="square" lIns="27432" tIns="27432">
            <a:spAutoFit/>
          </a:bodyPr>
          <a:lstStyle/>
          <a:p>
            <a:pPr algn="l"/>
            <a:r>
              <a:rPr sz="950" b="1">
                <a:solidFill>
                  <a:srgbClr val="1F2937"/>
                </a:solidFill>
                <a:latin typeface="Arial"/>
              </a:rPr>
              <a:t>Left and right. </a:t>
            </a:r>
            <a:r>
              <a:rPr sz="950" b="0">
                <a:solidFill>
                  <a:srgbClr val="1F2937"/>
                </a:solidFill>
                <a:latin typeface="Arial"/>
              </a:rPr>
              <a:t>Always as the audience sees the stage (house left / house right). Vocal mics Vox 1–4 run house left to house right along the front; Vox 5 is at the kit.</a:t>
            </a:r>
          </a:p>
        </p:txBody>
      </p:sp>
      <p:sp>
        <p:nvSpPr>
          <p:cNvPr id="9" name="TextBox 8"/>
          <p:cNvSpPr txBox="1"/>
          <p:nvPr/>
        </p:nvSpPr>
        <p:spPr>
          <a:xfrm>
            <a:off x="5897880" y="1663750"/>
            <a:ext cx="4480560" cy="529894"/>
          </a:xfrm>
          <a:prstGeom prst="rect">
            <a:avLst/>
          </a:prstGeom>
          <a:noFill/>
        </p:spPr>
        <p:txBody>
          <a:bodyPr wrap="square" lIns="27432" tIns="27432">
            <a:spAutoFit/>
          </a:bodyPr>
          <a:lstStyle/>
          <a:p>
            <a:pPr algn="l"/>
            <a:r>
              <a:rPr sz="950" b="1">
                <a:solidFill>
                  <a:srgbClr val="1F2937"/>
                </a:solidFill>
                <a:latin typeface="Arial"/>
              </a:rPr>
              <a:t>One patch all night. </a:t>
            </a:r>
            <a:r>
              <a:rPr sz="950" b="0">
                <a:solidFill>
                  <a:srgbClr val="1F2937"/>
                </a:solidFill>
                <a:latin typeface="Arial"/>
              </a:rPr>
              <a:t>Page 2 is the festival patch. Each band's deck lists only the channels that are live for that set; everything else can stay muted.</a:t>
            </a:r>
          </a:p>
        </p:txBody>
      </p:sp>
      <p:sp>
        <p:nvSpPr>
          <p:cNvPr id="10" name="TextBox 9"/>
          <p:cNvSpPr txBox="1"/>
          <p:nvPr/>
        </p:nvSpPr>
        <p:spPr>
          <a:xfrm>
            <a:off x="5897880" y="2285085"/>
            <a:ext cx="4480560" cy="824280"/>
          </a:xfrm>
          <a:prstGeom prst="rect">
            <a:avLst/>
          </a:prstGeom>
          <a:noFill/>
        </p:spPr>
        <p:txBody>
          <a:bodyPr wrap="square" lIns="27432" tIns="27432">
            <a:spAutoFit/>
          </a:bodyPr>
          <a:lstStyle/>
          <a:p>
            <a:pPr algn="l"/>
            <a:r>
              <a:rPr sz="950" b="1">
                <a:solidFill>
                  <a:srgbClr val="1F2937"/>
                </a:solidFill>
                <a:latin typeface="Arial"/>
              </a:rPr>
              <a:t>Stage plots are drafts. </a:t>
            </a:r>
            <a:r>
              <a:rPr sz="950" b="0">
                <a:solidFill>
                  <a:srgbClr val="1F2937"/>
                </a:solidFill>
                <a:latin typeface="Arial"/>
              </a:rPr>
              <a:t>Built from each band's run sheet, to scale: the stage is 9 m × 4.6 m, the drum riser 2.4 m × 1.8 m, and amps, keys and players are their real size. Every item is its own shape, so drag it to where it should go. TBC marks something the band hasn't told us yet. Grey dashed items aren't used in that set.</a:t>
            </a:r>
          </a:p>
        </p:txBody>
      </p:sp>
      <p:sp>
        <p:nvSpPr>
          <p:cNvPr id="11" name="TextBox 10"/>
          <p:cNvSpPr txBox="1"/>
          <p:nvPr/>
        </p:nvSpPr>
        <p:spPr>
          <a:xfrm>
            <a:off x="5897880" y="3200806"/>
            <a:ext cx="4480560" cy="677087"/>
          </a:xfrm>
          <a:prstGeom prst="rect">
            <a:avLst/>
          </a:prstGeom>
          <a:noFill/>
        </p:spPr>
        <p:txBody>
          <a:bodyPr wrap="square" lIns="27432" tIns="27432">
            <a:spAutoFit/>
          </a:bodyPr>
          <a:lstStyle/>
          <a:p>
            <a:pPr algn="l"/>
            <a:r>
              <a:rPr sz="950" b="1">
                <a:solidFill>
                  <a:srgbClr val="1F2937"/>
                </a:solidFill>
                <a:latin typeface="Arial"/>
              </a:rPr>
              <a:t>Shared backline. </a:t>
            </a:r>
            <a:r>
              <a:rPr sz="950" b="0">
                <a:solidFill>
                  <a:srgbClr val="1F2937"/>
                </a:solidFill>
                <a:latin typeface="Arial"/>
              </a:rPr>
              <a:t>DW Collectors kit with double pedal · Ampeg SVT-VR + SVT 410 · Fender '65 Super Reverb (house left) · Vox AC30 (house right) · Korg Kronos 2 (Bandlassian and Canvanauts) · one single-tier X keyboard stand.</a:t>
            </a:r>
          </a:p>
        </p:txBody>
      </p:sp>
      <p:sp>
        <p:nvSpPr>
          <p:cNvPr id="12" name="TextBox 11"/>
          <p:cNvSpPr txBox="1"/>
          <p:nvPr/>
        </p:nvSpPr>
        <p:spPr>
          <a:xfrm>
            <a:off x="5897880" y="4060774"/>
            <a:ext cx="4480560" cy="274320"/>
          </a:xfrm>
          <a:prstGeom prst="rect">
            <a:avLst/>
          </a:prstGeom>
          <a:noFill/>
        </p:spPr>
        <p:txBody>
          <a:bodyPr wrap="square" lIns="27432" rIns="27432" tIns="27432" bIns="27432" anchor="t">
            <a:spAutoFit/>
          </a:bodyPr>
          <a:lstStyle/>
          <a:p>
            <a:pPr algn="l"/>
            <a:r>
              <a:rPr sz="1100" b="1">
                <a:solidFill>
                  <a:srgbClr val="7C3AED"/>
                </a:solidFill>
                <a:latin typeface="Arial"/>
              </a:rPr>
              <a:t>Band stage plots and sets</a:t>
            </a:r>
          </a:p>
        </p:txBody>
      </p:sp>
      <p:sp>
        <p:nvSpPr>
          <p:cNvPr id="13" name="TextBox 12"/>
          <p:cNvSpPr txBox="1"/>
          <p:nvPr/>
        </p:nvSpPr>
        <p:spPr>
          <a:xfrm>
            <a:off x="5897880" y="4371670"/>
            <a:ext cx="4480560" cy="1463040"/>
          </a:xfrm>
          <a:prstGeom prst="rect">
            <a:avLst/>
          </a:prstGeom>
          <a:noFill/>
        </p:spPr>
        <p:txBody>
          <a:bodyPr wrap="square" lIns="27432" tIns="27432">
            <a:spAutoFit/>
          </a:bodyPr>
          <a:lstStyle/>
          <a:p>
            <a:pPr algn="l"/>
            <a:r>
              <a:rPr sz="950" b="0">
                <a:solidFill>
                  <a:srgbClr val="1F2937"/>
                </a:solidFill>
                <a:latin typeface="Arial"/>
              </a:rPr>
              <a:t>One deck per band, in show order. Drafts until each band confirms.</a:t>
            </a:r>
          </a:p>
          <a:p>
            <a:pPr>
              <a:spcBef>
                <a:spcPts val="300"/>
              </a:spcBef>
            </a:pPr>
            <a:r>
              <a:rPr sz="950" b="1">
                <a:solidFill>
                  <a:srgbClr val="1F2937"/>
                </a:solidFill>
                <a:latin typeface="Arial"/>
              </a:rPr>
              <a:t>S  7:15–7:40  </a:t>
            </a:r>
            <a:r>
              <a:rPr sz="950" u="sng">
                <a:solidFill>
                  <a:srgbClr val="7C3AED"/>
                </a:solidFill>
                <a:latin typeface="Arial"/>
                <a:hlinkClick r:id="rId2"/>
              </a:rPr>
              <a:t>ShipReX (Rex Software)</a:t>
            </a:r>
          </a:p>
          <a:p>
            <a:pPr>
              <a:spcBef>
                <a:spcPts val="300"/>
              </a:spcBef>
            </a:pPr>
            <a:r>
              <a:rPr sz="950" b="1">
                <a:solidFill>
                  <a:srgbClr val="1F2937"/>
                </a:solidFill>
                <a:latin typeface="Arial"/>
              </a:rPr>
              <a:t>B  7:50–8:15  </a:t>
            </a:r>
            <a:r>
              <a:rPr sz="950" u="sng">
                <a:solidFill>
                  <a:srgbClr val="7C3AED"/>
                </a:solidFill>
                <a:latin typeface="Arial"/>
                <a:hlinkClick r:id="rId3"/>
              </a:rPr>
              <a:t>Bandlassian (Atlassian)</a:t>
            </a:r>
          </a:p>
          <a:p>
            <a:pPr>
              <a:spcBef>
                <a:spcPts val="300"/>
              </a:spcBef>
            </a:pPr>
            <a:r>
              <a:rPr sz="950" b="1">
                <a:solidFill>
                  <a:srgbClr val="1F2937"/>
                </a:solidFill>
                <a:latin typeface="Arial"/>
              </a:rPr>
              <a:t>C  8:25–8:50  </a:t>
            </a:r>
            <a:r>
              <a:rPr sz="950" u="sng">
                <a:solidFill>
                  <a:srgbClr val="7C3AED"/>
                </a:solidFill>
                <a:latin typeface="Arial"/>
                <a:hlinkClick r:id="rId4"/>
              </a:rPr>
              <a:t>Canvanauts (Canva)</a:t>
            </a:r>
          </a:p>
          <a:p>
            <a:pPr>
              <a:spcBef>
                <a:spcPts val="300"/>
              </a:spcBef>
            </a:pPr>
            <a:r>
              <a:rPr sz="950" b="1">
                <a:solidFill>
                  <a:srgbClr val="1F2937"/>
                </a:solidFill>
                <a:latin typeface="Arial"/>
              </a:rPr>
              <a:t>A  9:00–9:25  </a:t>
            </a:r>
            <a:r>
              <a:rPr sz="950" u="sng">
                <a:solidFill>
                  <a:srgbClr val="7C3AED"/>
                </a:solidFill>
                <a:latin typeface="Arial"/>
                <a:hlinkClick r:id="rId5"/>
              </a:rPr>
              <a:t>Amakazaam! (Amazon)</a:t>
            </a:r>
          </a:p>
          <a:p>
            <a:pPr>
              <a:spcBef>
                <a:spcPts val="300"/>
              </a:spcBef>
            </a:pPr>
            <a:r>
              <a:rPr sz="950" b="1">
                <a:solidFill>
                  <a:srgbClr val="1F2937"/>
                </a:solidFill>
                <a:latin typeface="Arial"/>
              </a:rPr>
              <a:t>V  9:35–10:00  </a:t>
            </a:r>
            <a:r>
              <a:rPr sz="950" u="sng">
                <a:solidFill>
                  <a:srgbClr val="7C3AED"/>
                </a:solidFill>
                <a:latin typeface="Arial"/>
                <a:hlinkClick r:id="rId6"/>
              </a:rPr>
              <a:t>V2 Voyagers (V2 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201168"/>
            <a:ext cx="6583680" cy="365760"/>
          </a:xfrm>
          <a:prstGeom prst="rect">
            <a:avLst/>
          </a:prstGeom>
          <a:noFill/>
        </p:spPr>
        <p:txBody>
          <a:bodyPr wrap="square" lIns="27432" rIns="27432" tIns="27432" bIns="27432" anchor="t">
            <a:spAutoFit/>
          </a:bodyPr>
          <a:lstStyle/>
          <a:p>
            <a:pPr algn="l"/>
            <a:r>
              <a:rPr sz="1700" b="1">
                <a:solidFill>
                  <a:srgbClr val="1F2937"/>
                </a:solidFill>
                <a:latin typeface="Arial"/>
              </a:rPr>
              <a:t>Festival patch</a:t>
            </a:r>
          </a:p>
        </p:txBody>
      </p:sp>
      <p:sp>
        <p:nvSpPr>
          <p:cNvPr id="3" name="TextBox 2"/>
          <p:cNvSpPr txBox="1"/>
          <p:nvPr/>
        </p:nvSpPr>
        <p:spPr>
          <a:xfrm>
            <a:off x="5669280" y="182880"/>
            <a:ext cx="4700016" cy="384048"/>
          </a:xfrm>
          <a:prstGeom prst="rect">
            <a:avLst/>
          </a:prstGeom>
          <a:noFill/>
        </p:spPr>
        <p:txBody>
          <a:bodyPr wrap="square" lIns="27432" rIns="27432" tIns="27432" bIns="27432" anchor="t">
            <a:spAutoFit/>
          </a:bodyPr>
          <a:lstStyle/>
          <a:p>
            <a:pPr algn="r"/>
            <a:r>
              <a:rPr sz="900" b="0">
                <a:solidFill>
                  <a:srgbClr val="6B7280"/>
                </a:solidFill>
                <a:latin typeface="Arial"/>
              </a:rPr>
              <a:t>The same 32 inputs for every band · ● used · ○ only if needed</a:t>
            </a:r>
          </a:p>
        </p:txBody>
      </p:sp>
      <p:sp>
        <p:nvSpPr>
          <p:cNvPr id="4" name="Rectangle 3"/>
          <p:cNvSpPr/>
          <p:nvPr/>
        </p:nvSpPr>
        <p:spPr>
          <a:xfrm>
            <a:off x="320040" y="621792"/>
            <a:ext cx="10049256" cy="274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320040" y="822960"/>
          <a:ext cx="4764023" cy="4312903"/>
        </p:xfrm>
        <a:graphic>
          <a:graphicData uri="http://schemas.openxmlformats.org/drawingml/2006/table">
            <a:tbl>
              <a:tblPr firstRow="1">
                <a:tableStyleId>{5C22544A-7EE6-4342-B048-85BDC9FD1C3A}</a:tableStyleId>
              </a:tblPr>
              <a:tblGrid>
                <a:gridCol w="329184"/>
                <a:gridCol w="1325880"/>
                <a:gridCol w="246888"/>
                <a:gridCol w="246888"/>
                <a:gridCol w="246888"/>
                <a:gridCol w="246888"/>
                <a:gridCol w="246888"/>
                <a:gridCol w="1874519"/>
              </a:tblGrid>
              <a:tr h="224535">
                <a:tc>
                  <a:txBody>
                    <a:bodyPr wrap="square"/>
                    <a:lstStyle/>
                    <a:p>
                      <a:pPr algn="l"/>
                      <a:r>
                        <a:rPr sz="800" b="1">
                          <a:solidFill>
                            <a:srgbClr val="1F2937"/>
                          </a:solidFill>
                          <a:latin typeface="Arial"/>
                        </a:rPr>
                        <a:t>Ch</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00" b="1">
                          <a:solidFill>
                            <a:srgbClr val="1F2937"/>
                          </a:solidFill>
                          <a:latin typeface="Arial"/>
                        </a:rPr>
                        <a:t>Source</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ctr"/>
                      <a:r>
                        <a:rPr sz="800" b="1">
                          <a:solidFill>
                            <a:srgbClr val="1F2937"/>
                          </a:solidFill>
                          <a:latin typeface="Arial"/>
                        </a:rPr>
                        <a:t>S</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ctr"/>
                      <a:r>
                        <a:rPr sz="800" b="1">
                          <a:solidFill>
                            <a:srgbClr val="1F2937"/>
                          </a:solidFill>
                          <a:latin typeface="Arial"/>
                        </a:rPr>
                        <a:t>B</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ctr"/>
                      <a:r>
                        <a:rPr sz="800" b="1">
                          <a:solidFill>
                            <a:srgbClr val="1F2937"/>
                          </a:solidFill>
                          <a:latin typeface="Arial"/>
                        </a:rPr>
                        <a:t>C</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ctr"/>
                      <a:r>
                        <a:rPr sz="800" b="1">
                          <a:solidFill>
                            <a:srgbClr val="1F2937"/>
                          </a:solidFill>
                          <a:latin typeface="Arial"/>
                        </a:rPr>
                        <a:t>A</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ctr"/>
                      <a:r>
                        <a:rPr sz="800" b="1">
                          <a:solidFill>
                            <a:srgbClr val="1F2937"/>
                          </a:solidFill>
                          <a:latin typeface="Arial"/>
                        </a:rPr>
                        <a:t>V</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00" b="1">
                          <a:solidFill>
                            <a:srgbClr val="1F2937"/>
                          </a:solidFill>
                          <a:latin typeface="Arial"/>
                        </a:rPr>
                        <a:t>Notes</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r>
              <a:tr h="348487">
                <a:tc>
                  <a:txBody>
                    <a:bodyPr wrap="square"/>
                    <a:lstStyle/>
                    <a:p>
                      <a:pPr algn="l"/>
                      <a:r>
                        <a:rPr sz="800" b="1">
                          <a:solidFill>
                            <a:srgbClr val="1F2937"/>
                          </a:solidFill>
                          <a:latin typeface="Arial"/>
                        </a:rPr>
                        <a:t>1</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Kick in</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House DW kit: 22" kick, 10" + 12" racks, 16" floor, 14" snare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2</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Kick out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3</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Snare top</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4</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Snare bottom</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5</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Hi-hat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6</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Rack tom 1</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7</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Rack tom 2</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8</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Floor tom</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9</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Overhead L</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10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Overhead 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348487">
                <a:tc>
                  <a:txBody>
                    <a:bodyPr wrap="square"/>
                    <a:lstStyle/>
                    <a:p>
                      <a:pPr algn="l"/>
                      <a:r>
                        <a:rPr sz="800" b="1">
                          <a:solidFill>
                            <a:srgbClr val="1F2937"/>
                          </a:solidFill>
                          <a:latin typeface="Arial"/>
                        </a:rPr>
                        <a:t>11</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Bass DI</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Ampeg SVT-VR DI out, or the player's own DI / modeller XLR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12</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Bass cab mic</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Ampeg SVT 410 cab</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348487">
                <a:tc>
                  <a:txBody>
                    <a:bodyPr wrap="square"/>
                    <a:lstStyle/>
                    <a:p>
                      <a:pPr algn="l"/>
                      <a:r>
                        <a:rPr sz="800" b="1">
                          <a:solidFill>
                            <a:srgbClr val="1F2937"/>
                          </a:solidFill>
                          <a:latin typeface="Arial"/>
                        </a:rPr>
                        <a:t>13</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Gtr 1 (Fender)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Mic on the Fender '65 Super Reverb, house left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14</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Gtr 1 DI</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Amp modeller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348487">
                <a:tc>
                  <a:txBody>
                    <a:bodyPr wrap="square"/>
                    <a:lstStyle/>
                    <a:p>
                      <a:pPr algn="l"/>
                      <a:r>
                        <a:rPr sz="800" b="1">
                          <a:solidFill>
                            <a:srgbClr val="1F2937"/>
                          </a:solidFill>
                          <a:latin typeface="Arial"/>
                        </a:rPr>
                        <a:t>15</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Gtr 2 (Vox AC30)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Mic on the Vox AC30, house right, next to the bass rig</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16</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Gtr 2 DI</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Amp modeller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bl>
          </a:graphicData>
        </a:graphic>
      </p:graphicFrame>
      <p:graphicFrame>
        <p:nvGraphicFramePr>
          <p:cNvPr id="6" name="Table 5"/>
          <p:cNvGraphicFramePr>
            <a:graphicFrameLocks noGrp="1"/>
          </p:cNvGraphicFramePr>
          <p:nvPr/>
        </p:nvGraphicFramePr>
        <p:xfrm>
          <a:off x="5330952" y="822960"/>
          <a:ext cx="4764023" cy="4188951"/>
        </p:xfrm>
        <a:graphic>
          <a:graphicData uri="http://schemas.openxmlformats.org/drawingml/2006/table">
            <a:tbl>
              <a:tblPr firstRow="1">
                <a:tableStyleId>{5C22544A-7EE6-4342-B048-85BDC9FD1C3A}</a:tableStyleId>
              </a:tblPr>
              <a:tblGrid>
                <a:gridCol w="329184"/>
                <a:gridCol w="1325880"/>
                <a:gridCol w="246888"/>
                <a:gridCol w="246888"/>
                <a:gridCol w="246888"/>
                <a:gridCol w="246888"/>
                <a:gridCol w="246888"/>
                <a:gridCol w="1874519"/>
              </a:tblGrid>
              <a:tr h="224535">
                <a:tc>
                  <a:txBody>
                    <a:bodyPr wrap="square"/>
                    <a:lstStyle/>
                    <a:p>
                      <a:pPr algn="l"/>
                      <a:r>
                        <a:rPr sz="800" b="1">
                          <a:solidFill>
                            <a:srgbClr val="1F2937"/>
                          </a:solidFill>
                          <a:latin typeface="Arial"/>
                        </a:rPr>
                        <a:t>Ch</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00" b="1">
                          <a:solidFill>
                            <a:srgbClr val="1F2937"/>
                          </a:solidFill>
                          <a:latin typeface="Arial"/>
                        </a:rPr>
                        <a:t>Source</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ctr"/>
                      <a:r>
                        <a:rPr sz="800" b="1">
                          <a:solidFill>
                            <a:srgbClr val="1F2937"/>
                          </a:solidFill>
                          <a:latin typeface="Arial"/>
                        </a:rPr>
                        <a:t>S</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ctr"/>
                      <a:r>
                        <a:rPr sz="800" b="1">
                          <a:solidFill>
                            <a:srgbClr val="1F2937"/>
                          </a:solidFill>
                          <a:latin typeface="Arial"/>
                        </a:rPr>
                        <a:t>B</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ctr"/>
                      <a:r>
                        <a:rPr sz="800" b="1">
                          <a:solidFill>
                            <a:srgbClr val="1F2937"/>
                          </a:solidFill>
                          <a:latin typeface="Arial"/>
                        </a:rPr>
                        <a:t>C</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ctr"/>
                      <a:r>
                        <a:rPr sz="800" b="1">
                          <a:solidFill>
                            <a:srgbClr val="1F2937"/>
                          </a:solidFill>
                          <a:latin typeface="Arial"/>
                        </a:rPr>
                        <a:t>A</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ctr"/>
                      <a:r>
                        <a:rPr sz="800" b="1">
                          <a:solidFill>
                            <a:srgbClr val="1F2937"/>
                          </a:solidFill>
                          <a:latin typeface="Arial"/>
                        </a:rPr>
                        <a:t>V</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00" b="1">
                          <a:solidFill>
                            <a:srgbClr val="1F2937"/>
                          </a:solidFill>
                          <a:latin typeface="Arial"/>
                        </a:rPr>
                        <a:t>Notes</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r>
              <a:tr h="348487">
                <a:tc>
                  <a:txBody>
                    <a:bodyPr wrap="square"/>
                    <a:lstStyle/>
                    <a:p>
                      <a:pPr algn="l"/>
                      <a:r>
                        <a:rPr sz="800" b="1">
                          <a:solidFill>
                            <a:srgbClr val="1F2937"/>
                          </a:solidFill>
                          <a:latin typeface="Arial"/>
                        </a:rPr>
                        <a:t>17</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Acoustic guitar DI</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V2 Voyagers' acoustic; Canvanauts' third amp modeller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18</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Instrument DI</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Erhu pickup</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19</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Keys L</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DI</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20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Keys 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DI</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348487">
                <a:tc>
                  <a:txBody>
                    <a:bodyPr wrap="square"/>
                    <a:lstStyle/>
                    <a:p>
                      <a:pPr algn="l"/>
                      <a:r>
                        <a:rPr sz="800" b="1">
                          <a:solidFill>
                            <a:srgbClr val="1F2937"/>
                          </a:solidFill>
                          <a:latin typeface="Arial"/>
                        </a:rPr>
                        <a:t>21</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Vox 1 (house left)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Vocal mics numbered house left → house right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22</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Vox 2</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23</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Vox 3</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24</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Vox 4 (house right)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25</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Vox 5 (drums)</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26</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Wireless vocal</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Amakazaam!'s own receiver, XLR out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348487">
                <a:tc>
                  <a:txBody>
                    <a:bodyPr wrap="square"/>
                    <a:lstStyle/>
                    <a:p>
                      <a:pPr algn="l"/>
                      <a:r>
                        <a:rPr sz="800" b="1">
                          <a:solidFill>
                            <a:srgbClr val="1F2937"/>
                          </a:solidFill>
                          <a:latin typeface="Arial"/>
                        </a:rPr>
                        <a:t>27</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Playback L</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Laptop audio (V2 Voyagers: mono backing track, L only)</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28</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Playback 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29</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Spare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30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Spare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31</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Crowd L</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Recording only; keep out of FOH</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32</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Crowd 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ctr"/>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Recording only; keep out of FOH</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bl>
          </a:graphicData>
        </a:graphic>
      </p:graphicFrame>
      <p:sp>
        <p:nvSpPr>
          <p:cNvPr id="7" name="TextBox 6"/>
          <p:cNvSpPr txBox="1"/>
          <p:nvPr/>
        </p:nvSpPr>
        <p:spPr>
          <a:xfrm>
            <a:off x="320040" y="6812280"/>
            <a:ext cx="10049256" cy="457200"/>
          </a:xfrm>
          <a:prstGeom prst="rect">
            <a:avLst/>
          </a:prstGeom>
          <a:noFill/>
        </p:spPr>
        <p:txBody>
          <a:bodyPr wrap="square" lIns="27432" rIns="27432" tIns="27432" bIns="27432" anchor="t">
            <a:spAutoFit/>
          </a:bodyPr>
          <a:lstStyle/>
          <a:p>
            <a:pPr algn="l"/>
            <a:r>
              <a:rPr sz="900" b="0">
                <a:solidFill>
                  <a:srgbClr val="6B7280"/>
                </a:solidFill>
                <a:latin typeface="Arial"/>
              </a:rPr>
              <a:t>S ShipReX · B Bandlassian · C Canvanauts · A Amakazaam! · V V2 Voyagers. Walk-in and changeover music on the desk's stereo line inputs, outside the 32. The host uses one of the band vocal mics between sets.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201168"/>
            <a:ext cx="6583680" cy="365760"/>
          </a:xfrm>
          <a:prstGeom prst="rect">
            <a:avLst/>
          </a:prstGeom>
          <a:noFill/>
        </p:spPr>
        <p:txBody>
          <a:bodyPr wrap="square" lIns="27432" rIns="27432" tIns="27432" bIns="27432" anchor="t">
            <a:spAutoFit/>
          </a:bodyPr>
          <a:lstStyle/>
          <a:p>
            <a:pPr algn="l"/>
            <a:r>
              <a:rPr sz="1700" b="1">
                <a:solidFill>
                  <a:srgbClr val="1F2937"/>
                </a:solidFill>
                <a:latin typeface="Arial"/>
              </a:rPr>
              <a:t>Changeovers</a:t>
            </a:r>
          </a:p>
        </p:txBody>
      </p:sp>
      <p:sp>
        <p:nvSpPr>
          <p:cNvPr id="3" name="TextBox 2"/>
          <p:cNvSpPr txBox="1"/>
          <p:nvPr/>
        </p:nvSpPr>
        <p:spPr>
          <a:xfrm>
            <a:off x="5669280" y="182880"/>
            <a:ext cx="4700016" cy="384048"/>
          </a:xfrm>
          <a:prstGeom prst="rect">
            <a:avLst/>
          </a:prstGeom>
          <a:noFill/>
        </p:spPr>
        <p:txBody>
          <a:bodyPr wrap="square" lIns="27432" rIns="27432" tIns="27432" bIns="27432" anchor="t">
            <a:spAutoFit/>
          </a:bodyPr>
          <a:lstStyle/>
          <a:p>
            <a:pPr algn="r"/>
            <a:r>
              <a:rPr sz="900" b="0">
                <a:solidFill>
                  <a:srgbClr val="6B7280"/>
                </a:solidFill>
                <a:latin typeface="Arial"/>
              </a:rPr>
              <a:t>What changes on stage going into each set</a:t>
            </a:r>
          </a:p>
        </p:txBody>
      </p:sp>
      <p:sp>
        <p:nvSpPr>
          <p:cNvPr id="4" name="Rectangle 3"/>
          <p:cNvSpPr/>
          <p:nvPr/>
        </p:nvSpPr>
        <p:spPr>
          <a:xfrm>
            <a:off x="320040" y="621792"/>
            <a:ext cx="10049256" cy="274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320040" y="822960"/>
          <a:ext cx="10049256" cy="2958591"/>
        </p:xfrm>
        <a:graphic>
          <a:graphicData uri="http://schemas.openxmlformats.org/drawingml/2006/table">
            <a:tbl>
              <a:tblPr firstRow="1">
                <a:tableStyleId>{5C22544A-7EE6-4342-B048-85BDC9FD1C3A}</a:tableStyleId>
              </a:tblPr>
              <a:tblGrid>
                <a:gridCol w="1097280"/>
                <a:gridCol w="1828800"/>
                <a:gridCol w="7123176"/>
              </a:tblGrid>
              <a:tr h="247777">
                <a:tc>
                  <a:txBody>
                    <a:bodyPr wrap="square"/>
                    <a:lstStyle/>
                    <a:p>
                      <a:pPr algn="l"/>
                      <a:r>
                        <a:rPr sz="950" b="1">
                          <a:solidFill>
                            <a:srgbClr val="1F2937"/>
                          </a:solidFill>
                          <a:latin typeface="Arial"/>
                        </a:rPr>
                        <a:t>Set</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950" b="1">
                          <a:solidFill>
                            <a:srgbClr val="1F2937"/>
                          </a:solidFill>
                          <a:latin typeface="Arial"/>
                        </a:rPr>
                        <a:t>Into</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950" b="1">
                          <a:solidFill>
                            <a:srgbClr val="1F2937"/>
                          </a:solidFill>
                          <a:latin typeface="Arial"/>
                        </a:rPr>
                        <a:t>What changes</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r>
              <a:tr h="394969">
                <a:tc>
                  <a:txBody>
                    <a:bodyPr wrap="square"/>
                    <a:lstStyle/>
                    <a:p>
                      <a:pPr algn="l"/>
                      <a:r>
                        <a:rPr sz="950" b="1">
                          <a:solidFill>
                            <a:srgbClr val="1F2937"/>
                          </a:solidFill>
                          <a:latin typeface="Arial"/>
                        </a:rPr>
                        <a:t>7:15–7:40 pm</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50" b="0">
                          <a:solidFill>
                            <a:srgbClr val="1F2937"/>
                          </a:solidFill>
                          <a:latin typeface="Arial"/>
                        </a:rPr>
                        <a:t>ShipReX (Rex Software)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50" b="0">
                          <a:solidFill>
                            <a:srgbClr val="1F2937"/>
                          </a:solidFill>
                          <a:latin typeface="Arial"/>
                        </a:rPr>
                        <a:t>Opening set, so the stage stays set from their 6:00 pm soundcheck. 11 people on stage: five singers on four mics, two guitars, bass, drums, keys and erhu.</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542163">
                <a:tc>
                  <a:txBody>
                    <a:bodyPr wrap="square"/>
                    <a:lstStyle/>
                    <a:p>
                      <a:pPr algn="l"/>
                      <a:r>
                        <a:rPr sz="950" b="1">
                          <a:solidFill>
                            <a:srgbClr val="1F2937"/>
                          </a:solidFill>
                          <a:latin typeface="Arial"/>
                        </a:rPr>
                        <a:t>7:50–8:15 pm</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50" b="0">
                          <a:solidFill>
                            <a:srgbClr val="1F2937"/>
                          </a:solidFill>
                          <a:latin typeface="Arial"/>
                        </a:rPr>
                        <a:t>Bandlassian (Atlassian)</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50" b="0">
                          <a:solidFill>
                            <a:srgbClr val="1F2937"/>
                          </a:solidFill>
                          <a:latin typeface="Arial"/>
                        </a:rPr>
                        <a:t>Strike the erhu DI. Keys go house right beside the AC30. Fold down Vox 1 and Vox 4. Bass moves from DI to the Ampeg (ch 11 DI + ch 12 mic). Pedalboards: Boss ME-70 at the AC30, Zoom G5n at the Fender, Zoom B1 Four at the Ampeg. Connect the laptop HDMI and the drummer's XLR feed.</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542163">
                <a:tc>
                  <a:txBody>
                    <a:bodyPr wrap="square"/>
                    <a:lstStyle/>
                    <a:p>
                      <a:pPr algn="l"/>
                      <a:r>
                        <a:rPr sz="950" b="1">
                          <a:solidFill>
                            <a:srgbClr val="1F2937"/>
                          </a:solidFill>
                          <a:latin typeface="Arial"/>
                        </a:rPr>
                        <a:t>8:25–8:50 pm</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50" b="0">
                          <a:solidFill>
                            <a:srgbClr val="1F2937"/>
                          </a:solidFill>
                          <a:latin typeface="Arial"/>
                        </a:rPr>
                        <a:t>Canvanauts (Canva)</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50" b="0">
                          <a:solidFill>
                            <a:srgbClr val="1F2937"/>
                          </a:solidFill>
                          <a:latin typeface="Arial"/>
                        </a:rPr>
                        <a:t>Guitar amps aren't used: mute ch 13 and 15. Three DIs for the amp modellers (ch 14, 16, 17). The Kronos moves from house right to house left, at Vox 1. Vox 1 up; Vox 4 stays down. Bass: Quad Cortex into ch 11. Strike Bandlassian's laptop.</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689356">
                <a:tc>
                  <a:txBody>
                    <a:bodyPr wrap="square"/>
                    <a:lstStyle/>
                    <a:p>
                      <a:pPr algn="l"/>
                      <a:r>
                        <a:rPr sz="950" b="1">
                          <a:solidFill>
                            <a:srgbClr val="1F2937"/>
                          </a:solidFill>
                          <a:latin typeface="Arial"/>
                        </a:rPr>
                        <a:t>9:00–9:25 pm</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50" b="0">
                          <a:solidFill>
                            <a:srgbClr val="1F2937"/>
                          </a:solidFill>
                          <a:latin typeface="Arial"/>
                        </a:rPr>
                        <a:t>Amakazaam! (Amazon)</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50" b="0">
                          <a:solidFill>
                            <a:srgbClr val="1F2937"/>
                          </a:solidFill>
                          <a:latin typeface="Arial"/>
                        </a:rPr>
                        <a:t>Strike the Kronos and the three guitar DIs. Aaron's keyboard and stand go house left at Vox 1, on a stereo DI. Amps back in: Tim on the Fender, Tyler on the AC30. Swap the Vox 2 stand for a straight (boomless) stand with Keira's wireless mic and clip. Vox 5 up at the kit. Patch her receiver (ch 26) and in-ear transmitter. Andrew fits clamps for cowbell and tambourine.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542163">
                <a:tc>
                  <a:txBody>
                    <a:bodyPr wrap="square"/>
                    <a:lstStyle/>
                    <a:p>
                      <a:pPr algn="l"/>
                      <a:r>
                        <a:rPr sz="950" b="1">
                          <a:solidFill>
                            <a:srgbClr val="1F2937"/>
                          </a:solidFill>
                          <a:latin typeface="Arial"/>
                        </a:rPr>
                        <a:t>9:35–10:00 pm</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50" b="0">
                          <a:solidFill>
                            <a:srgbClr val="1F2937"/>
                          </a:solidFill>
                          <a:latin typeface="Arial"/>
                        </a:rPr>
                        <a:t>V2 Voyagers (V2 AI)</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950" b="0">
                          <a:solidFill>
                            <a:srgbClr val="1F2937"/>
                          </a:solidFill>
                          <a:latin typeface="Arial"/>
                        </a:rPr>
                        <a:t>Strike Aaron's keys, Keira's wireless rig and the side-stage laptop. Regular stand back at Vox 2, with Holly's own Beta 58. AC30 isn't used: mute ch 15. Acoustic DI (ch 17) at Vox 4. Fold down Vox 1, 3 and 5. HDMI run and a DI line to the laptop at the riser.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