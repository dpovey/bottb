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6583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Canvanauts (Canva) — stage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182880"/>
            <a:ext cx="470001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Set 8:25–8:50 pm · soundcheck 5:30 pm · contact on the day: not given yet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10049256" cy="274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86384"/>
            <a:ext cx="1004925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rial"/>
              </a:rPr>
              <a:t>UPSTAGE (back wall)</a:t>
            </a:r>
          </a:p>
        </p:txBody>
      </p:sp>
      <p:sp>
        <p:nvSpPr>
          <p:cNvPr id="6" name="Stage"/>
          <p:cNvSpPr/>
          <p:nvPr/>
        </p:nvSpPr>
        <p:spPr>
          <a:xfrm>
            <a:off x="320040" y="978408"/>
            <a:ext cx="10049256" cy="5136286"/>
          </a:xfrm>
          <a:prstGeom prst="rect">
            <a:avLst/>
          </a:prstGeom>
          <a:solidFill>
            <a:srgbClr val="FAFAFA"/>
          </a:solidFill>
          <a:ln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334150"/>
            <a:ext cx="1004925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6B7280"/>
                </a:solidFill>
                <a:latin typeface="Arial"/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334150"/>
            <a:ext cx="2011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◀ house left (stage right)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7616" y="6334150"/>
            <a:ext cx="2011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rial"/>
              </a:rPr>
              <a:t>house right (stage left) ▶</a:t>
            </a:r>
          </a:p>
        </p:txBody>
      </p:sp>
      <p:grpSp>
        <p:nvGrpSpPr>
          <p:cNvPr id="10" name="DW kit · ch 1–10"/>
          <p:cNvGrpSpPr/>
          <p:nvPr/>
        </p:nvGrpSpPr>
        <p:grpSpPr>
          <a:xfrm>
            <a:off x="4004767" y="1425041"/>
            <a:ext cx="2679801" cy="2009851"/>
            <a:chOff x="4004767" y="1425041"/>
            <a:chExt cx="2679801" cy="2009851"/>
          </a:xfrm>
        </p:grpSpPr>
        <p:sp>
          <p:nvSpPr>
            <p:cNvPr id="11" name="Rounded Rectangle 10"/>
            <p:cNvSpPr/>
            <p:nvPr/>
          </p:nvSpPr>
          <p:spPr>
            <a:xfrm>
              <a:off x="4004767" y="1425041"/>
              <a:ext cx="2679801" cy="2009851"/>
            </a:xfrm>
            <a:prstGeom prst="roundRect">
              <a:avLst/>
            </a:prstGeom>
            <a:solidFill>
              <a:srgbClr val="E8F0FA"/>
            </a:solidFill>
            <a:ln w="12700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04767" y="2251659"/>
              <a:ext cx="2679801" cy="35661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DW kit · ch 1–10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Gerónimo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riser 2.4 × 1.8 m</a:t>
              </a:r>
            </a:p>
          </p:txBody>
        </p:sp>
      </p:grpSp>
      <p:grpSp>
        <p:nvGrpSpPr>
          <p:cNvPr id="13" name="Fender · not used"/>
          <p:cNvGrpSpPr/>
          <p:nvPr/>
        </p:nvGrpSpPr>
        <p:grpSpPr>
          <a:xfrm>
            <a:off x="2186990" y="2904515"/>
            <a:ext cx="1737360" cy="431546"/>
            <a:chOff x="2186990" y="2904515"/>
            <a:chExt cx="1737360" cy="431546"/>
          </a:xfrm>
        </p:grpSpPr>
        <p:sp>
          <p:nvSpPr>
            <p:cNvPr id="14" name="Rounded Rectangle 13"/>
            <p:cNvSpPr/>
            <p:nvPr/>
          </p:nvSpPr>
          <p:spPr>
            <a:xfrm>
              <a:off x="2703946" y="2904515"/>
              <a:ext cx="703447" cy="27914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186990" y="3192805"/>
              <a:ext cx="17373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9CA3AF"/>
                  </a:solidFill>
                  <a:latin typeface="Arial"/>
                </a:rPr>
                <a:t>Fender · not used</a:t>
              </a:r>
            </a:p>
          </p:txBody>
        </p:sp>
      </p:grpSp>
      <p:grpSp>
        <p:nvGrpSpPr>
          <p:cNvPr id="16" name="Ampeg"/>
          <p:cNvGrpSpPr/>
          <p:nvPr/>
        </p:nvGrpSpPr>
        <p:grpSpPr>
          <a:xfrm>
            <a:off x="6430009" y="2681198"/>
            <a:ext cx="1737360" cy="761542"/>
            <a:chOff x="6430009" y="2681198"/>
            <a:chExt cx="1737360" cy="761542"/>
          </a:xfrm>
        </p:grpSpPr>
        <p:sp>
          <p:nvSpPr>
            <p:cNvPr id="17" name="Rounded Rectangle 16"/>
            <p:cNvSpPr/>
            <p:nvPr/>
          </p:nvSpPr>
          <p:spPr>
            <a:xfrm>
              <a:off x="6958131" y="2681198"/>
              <a:ext cx="681116" cy="502462"/>
            </a:xfrm>
            <a:prstGeom prst="roundRect">
              <a:avLst/>
            </a:prstGeom>
            <a:solidFill>
              <a:srgbClr val="FDF5D6"/>
            </a:solidFill>
            <a:ln w="12700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30009" y="3192805"/>
              <a:ext cx="173736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Ampeg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Jeremy</a:t>
              </a:r>
            </a:p>
          </p:txBody>
        </p:sp>
      </p:grpSp>
      <p:grpSp>
        <p:nvGrpSpPr>
          <p:cNvPr id="19" name="Vox AC30 · not used"/>
          <p:cNvGrpSpPr/>
          <p:nvPr/>
        </p:nvGrpSpPr>
        <p:grpSpPr>
          <a:xfrm>
            <a:off x="7602423" y="2837520"/>
            <a:ext cx="1737360" cy="453878"/>
            <a:chOff x="7602423" y="2837520"/>
            <a:chExt cx="1737360" cy="453878"/>
          </a:xfrm>
        </p:grpSpPr>
        <p:sp>
          <p:nvSpPr>
            <p:cNvPr id="20" name="Rounded Rectangle 19"/>
            <p:cNvSpPr/>
            <p:nvPr/>
          </p:nvSpPr>
          <p:spPr>
            <a:xfrm>
              <a:off x="8080298" y="2837520"/>
              <a:ext cx="781608" cy="30147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602423" y="3148142"/>
              <a:ext cx="17373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9CA3AF"/>
                  </a:solidFill>
                  <a:latin typeface="Arial"/>
                </a:rPr>
                <a:t>Vox AC30 · not used</a:t>
              </a:r>
            </a:p>
          </p:txBody>
        </p:sp>
      </p:grpSp>
      <p:grpSp>
        <p:nvGrpSpPr>
          <p:cNvPr id="22" name="Danny"/>
          <p:cNvGrpSpPr/>
          <p:nvPr/>
        </p:nvGrpSpPr>
        <p:grpSpPr>
          <a:xfrm>
            <a:off x="2430983" y="3769868"/>
            <a:ext cx="914400" cy="558292"/>
            <a:chOff x="2430983" y="3769868"/>
            <a:chExt cx="914400" cy="558292"/>
          </a:xfrm>
        </p:grpSpPr>
        <p:sp>
          <p:nvSpPr>
            <p:cNvPr id="23" name="Oval 22"/>
            <p:cNvSpPr/>
            <p:nvPr/>
          </p:nvSpPr>
          <p:spPr>
            <a:xfrm>
              <a:off x="2609037" y="3769868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430983" y="3870706"/>
              <a:ext cx="914400" cy="35661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Danny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guitar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TBC</a:t>
              </a:r>
            </a:p>
          </p:txBody>
        </p:sp>
      </p:grpSp>
      <p:grpSp>
        <p:nvGrpSpPr>
          <p:cNvPr id="25" name="Gtr DI · ch 14"/>
          <p:cNvGrpSpPr/>
          <p:nvPr/>
        </p:nvGrpSpPr>
        <p:grpSpPr>
          <a:xfrm>
            <a:off x="3267821" y="3970853"/>
            <a:ext cx="1562385" cy="156321"/>
            <a:chOff x="3267821" y="3970853"/>
            <a:chExt cx="1562385" cy="156321"/>
          </a:xfrm>
        </p:grpSpPr>
        <p:sp>
          <p:nvSpPr>
            <p:cNvPr id="26" name="Rounded Rectangle 25"/>
            <p:cNvSpPr/>
            <p:nvPr/>
          </p:nvSpPr>
          <p:spPr>
            <a:xfrm>
              <a:off x="3267821" y="3970853"/>
              <a:ext cx="245648" cy="156321"/>
            </a:xfrm>
            <a:prstGeom prst="roundRect">
              <a:avLst/>
            </a:prstGeom>
            <a:solidFill>
              <a:srgbClr val="FEF3C7"/>
            </a:solidFill>
            <a:ln w="12700">
              <a:solidFill>
                <a:srgbClr val="D9770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550046" y="3977386"/>
              <a:ext cx="12801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700" b="0">
                  <a:solidFill>
                    <a:srgbClr val="1F2937"/>
                  </a:solidFill>
                  <a:latin typeface="Arial"/>
                </a:rPr>
                <a:t>Gtr DI · ch 14</a:t>
              </a:r>
            </a:p>
          </p:txBody>
        </p:sp>
      </p:grpSp>
      <p:grpSp>
        <p:nvGrpSpPr>
          <p:cNvPr id="28" name="Ishraque"/>
          <p:cNvGrpSpPr/>
          <p:nvPr/>
        </p:nvGrpSpPr>
        <p:grpSpPr>
          <a:xfrm>
            <a:off x="4887467" y="3881526"/>
            <a:ext cx="914400" cy="558292"/>
            <a:chOff x="4887467" y="3881526"/>
            <a:chExt cx="914400" cy="558292"/>
          </a:xfrm>
        </p:grpSpPr>
        <p:sp>
          <p:nvSpPr>
            <p:cNvPr id="29" name="Oval 28"/>
            <p:cNvSpPr/>
            <p:nvPr/>
          </p:nvSpPr>
          <p:spPr>
            <a:xfrm>
              <a:off x="5065521" y="3881526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887467" y="3982364"/>
              <a:ext cx="914400" cy="35661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Ishraque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guitar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TBC</a:t>
              </a:r>
            </a:p>
          </p:txBody>
        </p:sp>
      </p:grpSp>
      <p:grpSp>
        <p:nvGrpSpPr>
          <p:cNvPr id="31" name="Gtr DI · ch 17"/>
          <p:cNvGrpSpPr/>
          <p:nvPr/>
        </p:nvGrpSpPr>
        <p:grpSpPr>
          <a:xfrm>
            <a:off x="5724306" y="4082511"/>
            <a:ext cx="1562385" cy="156321"/>
            <a:chOff x="5724306" y="4082511"/>
            <a:chExt cx="1562385" cy="156321"/>
          </a:xfrm>
        </p:grpSpPr>
        <p:sp>
          <p:nvSpPr>
            <p:cNvPr id="32" name="Rounded Rectangle 31"/>
            <p:cNvSpPr/>
            <p:nvPr/>
          </p:nvSpPr>
          <p:spPr>
            <a:xfrm>
              <a:off x="5724306" y="4082511"/>
              <a:ext cx="245648" cy="156321"/>
            </a:xfrm>
            <a:prstGeom prst="roundRect">
              <a:avLst/>
            </a:prstGeom>
            <a:solidFill>
              <a:srgbClr val="FEF3C7"/>
            </a:solidFill>
            <a:ln w="12700">
              <a:solidFill>
                <a:srgbClr val="D9770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006531" y="4089044"/>
              <a:ext cx="12801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700" b="0">
                  <a:solidFill>
                    <a:srgbClr val="1F2937"/>
                  </a:solidFill>
                  <a:latin typeface="Arial"/>
                </a:rPr>
                <a:t>Gtr DI · ch 17</a:t>
              </a:r>
            </a:p>
          </p:txBody>
        </p:sp>
      </p:grpSp>
      <p:grpSp>
        <p:nvGrpSpPr>
          <p:cNvPr id="34" name="Jeremy"/>
          <p:cNvGrpSpPr/>
          <p:nvPr/>
        </p:nvGrpSpPr>
        <p:grpSpPr>
          <a:xfrm>
            <a:off x="6674002" y="3881526"/>
            <a:ext cx="914400" cy="558292"/>
            <a:chOff x="6674002" y="3881526"/>
            <a:chExt cx="914400" cy="558292"/>
          </a:xfrm>
        </p:grpSpPr>
        <p:sp>
          <p:nvSpPr>
            <p:cNvPr id="35" name="Oval 34"/>
            <p:cNvSpPr/>
            <p:nvPr/>
          </p:nvSpPr>
          <p:spPr>
            <a:xfrm>
              <a:off x="6852056" y="3881526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674002" y="4035704"/>
              <a:ext cx="91440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Jeremy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bass</a:t>
              </a:r>
            </a:p>
          </p:txBody>
        </p:sp>
      </p:grpSp>
      <p:grpSp>
        <p:nvGrpSpPr>
          <p:cNvPr id="37" name="Quad Cortex · ch 11"/>
          <p:cNvGrpSpPr/>
          <p:nvPr/>
        </p:nvGrpSpPr>
        <p:grpSpPr>
          <a:xfrm>
            <a:off x="7510840" y="4082511"/>
            <a:ext cx="1562385" cy="156321"/>
            <a:chOff x="7510840" y="4082511"/>
            <a:chExt cx="1562385" cy="156321"/>
          </a:xfrm>
        </p:grpSpPr>
        <p:sp>
          <p:nvSpPr>
            <p:cNvPr id="38" name="Rounded Rectangle 37"/>
            <p:cNvSpPr/>
            <p:nvPr/>
          </p:nvSpPr>
          <p:spPr>
            <a:xfrm>
              <a:off x="7510840" y="4082511"/>
              <a:ext cx="245648" cy="156321"/>
            </a:xfrm>
            <a:prstGeom prst="roundRect">
              <a:avLst/>
            </a:prstGeom>
            <a:solidFill>
              <a:srgbClr val="FEF3C7"/>
            </a:solidFill>
            <a:ln w="12700">
              <a:solidFill>
                <a:srgbClr val="D9770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793065" y="4089044"/>
              <a:ext cx="12801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700" b="0">
                  <a:solidFill>
                    <a:srgbClr val="1F2937"/>
                  </a:solidFill>
                  <a:latin typeface="Arial"/>
                </a:rPr>
                <a:t>Quad Cortex · ch 11</a:t>
              </a:r>
            </a:p>
          </p:txBody>
        </p:sp>
      </p:grpSp>
      <p:grpSp>
        <p:nvGrpSpPr>
          <p:cNvPr id="40" name="Dave"/>
          <p:cNvGrpSpPr/>
          <p:nvPr/>
        </p:nvGrpSpPr>
        <p:grpSpPr>
          <a:xfrm>
            <a:off x="8628024" y="3714038"/>
            <a:ext cx="914400" cy="558292"/>
            <a:chOff x="8628024" y="3714038"/>
            <a:chExt cx="914400" cy="558292"/>
          </a:xfrm>
        </p:grpSpPr>
        <p:sp>
          <p:nvSpPr>
            <p:cNvPr id="41" name="Oval 40"/>
            <p:cNvSpPr/>
            <p:nvPr/>
          </p:nvSpPr>
          <p:spPr>
            <a:xfrm>
              <a:off x="8806078" y="3714038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628024" y="3814876"/>
              <a:ext cx="914400" cy="35661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Dave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guitar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TBC</a:t>
              </a:r>
            </a:p>
          </p:txBody>
        </p:sp>
      </p:grpSp>
      <p:grpSp>
        <p:nvGrpSpPr>
          <p:cNvPr id="43" name="Gtr DI · ch 16"/>
          <p:cNvGrpSpPr/>
          <p:nvPr/>
        </p:nvGrpSpPr>
        <p:grpSpPr>
          <a:xfrm>
            <a:off x="8794912" y="4417486"/>
            <a:ext cx="1556096" cy="156321"/>
            <a:chOff x="8794912" y="4417486"/>
            <a:chExt cx="1556096" cy="156321"/>
          </a:xfrm>
        </p:grpSpPr>
        <p:sp>
          <p:nvSpPr>
            <p:cNvPr id="44" name="Rounded Rectangle 43"/>
            <p:cNvSpPr/>
            <p:nvPr/>
          </p:nvSpPr>
          <p:spPr>
            <a:xfrm>
              <a:off x="8794912" y="4417486"/>
              <a:ext cx="245648" cy="156321"/>
            </a:xfrm>
            <a:prstGeom prst="roundRect">
              <a:avLst/>
            </a:prstGeom>
            <a:solidFill>
              <a:srgbClr val="FEF3C7"/>
            </a:solidFill>
            <a:ln w="12700">
              <a:solidFill>
                <a:srgbClr val="D9770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070848" y="4424019"/>
              <a:ext cx="12801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700" b="0">
                  <a:solidFill>
                    <a:srgbClr val="1F2937"/>
                  </a:solidFill>
                  <a:latin typeface="Arial"/>
                </a:rPr>
                <a:t>Gtr DI · ch 16</a:t>
              </a:r>
            </a:p>
          </p:txBody>
        </p:sp>
      </p:grpSp>
      <p:grpSp>
        <p:nvGrpSpPr>
          <p:cNvPr id="46" name="Simone"/>
          <p:cNvGrpSpPr/>
          <p:nvPr/>
        </p:nvGrpSpPr>
        <p:grpSpPr>
          <a:xfrm>
            <a:off x="1314399" y="4383989"/>
            <a:ext cx="914400" cy="558292"/>
            <a:chOff x="1314399" y="4383989"/>
            <a:chExt cx="914400" cy="558292"/>
          </a:xfrm>
        </p:grpSpPr>
        <p:sp>
          <p:nvSpPr>
            <p:cNvPr id="47" name="Oval 46"/>
            <p:cNvSpPr/>
            <p:nvPr/>
          </p:nvSpPr>
          <p:spPr>
            <a:xfrm>
              <a:off x="1492453" y="4383989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314399" y="4538167"/>
              <a:ext cx="91440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Simone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keys + vox</a:t>
              </a:r>
            </a:p>
          </p:txBody>
        </p:sp>
      </p:grpSp>
      <p:grpSp>
        <p:nvGrpSpPr>
          <p:cNvPr id="49" name="Keys (Kronos) · DI ch 19/20"/>
          <p:cNvGrpSpPr/>
          <p:nvPr/>
        </p:nvGrpSpPr>
        <p:grpSpPr>
          <a:xfrm>
            <a:off x="962075" y="5037190"/>
            <a:ext cx="1619046" cy="480131"/>
            <a:chOff x="962075" y="5037190"/>
            <a:chExt cx="1619046" cy="480131"/>
          </a:xfrm>
        </p:grpSpPr>
        <p:sp>
          <p:nvSpPr>
            <p:cNvPr id="50" name="Rounded Rectangle 49"/>
            <p:cNvSpPr/>
            <p:nvPr/>
          </p:nvSpPr>
          <p:spPr>
            <a:xfrm>
              <a:off x="962075" y="5037190"/>
              <a:ext cx="1619046" cy="480131"/>
            </a:xfrm>
            <a:prstGeom prst="roundRect">
              <a:avLst/>
            </a:prstGeom>
            <a:solidFill>
              <a:srgbClr val="DCFCE7"/>
            </a:solidFill>
            <a:ln w="12700">
              <a:solidFill>
                <a:srgbClr val="16A3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62075" y="5205628"/>
              <a:ext cx="1619046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Keys (Kronos) · DI ch 19/20</a:t>
              </a:r>
            </a:p>
          </p:txBody>
        </p:sp>
      </p:grpSp>
      <p:grpSp>
        <p:nvGrpSpPr>
          <p:cNvPr id="52" name="Ollie"/>
          <p:cNvGrpSpPr/>
          <p:nvPr/>
        </p:nvGrpSpPr>
        <p:grpSpPr>
          <a:xfrm>
            <a:off x="3659225" y="4998110"/>
            <a:ext cx="914400" cy="558292"/>
            <a:chOff x="3659225" y="4998110"/>
            <a:chExt cx="914400" cy="558292"/>
          </a:xfrm>
        </p:grpSpPr>
        <p:sp>
          <p:nvSpPr>
            <p:cNvPr id="53" name="Oval 52"/>
            <p:cNvSpPr/>
            <p:nvPr/>
          </p:nvSpPr>
          <p:spPr>
            <a:xfrm>
              <a:off x="3837279" y="4998110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659225" y="5152288"/>
              <a:ext cx="91440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Ollie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</a:t>
              </a:r>
            </a:p>
          </p:txBody>
        </p:sp>
      </p:grpSp>
      <p:grpSp>
        <p:nvGrpSpPr>
          <p:cNvPr id="55" name="Melad"/>
          <p:cNvGrpSpPr/>
          <p:nvPr/>
        </p:nvGrpSpPr>
        <p:grpSpPr>
          <a:xfrm>
            <a:off x="6115710" y="4998110"/>
            <a:ext cx="914400" cy="558292"/>
            <a:chOff x="6115710" y="4998110"/>
            <a:chExt cx="914400" cy="558292"/>
          </a:xfrm>
        </p:grpSpPr>
        <p:sp>
          <p:nvSpPr>
            <p:cNvPr id="56" name="Oval 55"/>
            <p:cNvSpPr/>
            <p:nvPr/>
          </p:nvSpPr>
          <p:spPr>
            <a:xfrm>
              <a:off x="6293764" y="4998110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115710" y="5152288"/>
              <a:ext cx="91440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Melad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</a:t>
              </a:r>
            </a:p>
          </p:txBody>
        </p:sp>
      </p:grpSp>
      <p:grpSp>
        <p:nvGrpSpPr>
          <p:cNvPr id="58" name="Vox 1 · ch 21"/>
          <p:cNvGrpSpPr/>
          <p:nvPr/>
        </p:nvGrpSpPr>
        <p:grpSpPr>
          <a:xfrm>
            <a:off x="902919" y="5723890"/>
            <a:ext cx="1737360" cy="594054"/>
            <a:chOff x="902919" y="5723890"/>
            <a:chExt cx="1737360" cy="594054"/>
          </a:xfrm>
        </p:grpSpPr>
        <p:sp>
          <p:nvSpPr>
            <p:cNvPr id="59" name="Oval 58"/>
            <p:cNvSpPr/>
            <p:nvPr/>
          </p:nvSpPr>
          <p:spPr>
            <a:xfrm>
              <a:off x="1604111" y="5723890"/>
              <a:ext cx="334975" cy="334975"/>
            </a:xfrm>
            <a:prstGeom prst="ellipse">
              <a:avLst/>
            </a:prstGeom>
            <a:solidFill>
              <a:srgbClr val="F7E8F2"/>
            </a:solidFill>
            <a:ln w="12700">
              <a:solidFill>
                <a:srgbClr val="C084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902919" y="6068009"/>
              <a:ext cx="173736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 1 · ch 21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(over the keys)</a:t>
              </a:r>
            </a:p>
          </p:txBody>
        </p:sp>
      </p:grpSp>
      <p:grpSp>
        <p:nvGrpSpPr>
          <p:cNvPr id="61" name="Vox 2 · ch 22"/>
          <p:cNvGrpSpPr/>
          <p:nvPr/>
        </p:nvGrpSpPr>
        <p:grpSpPr>
          <a:xfrm>
            <a:off x="3247745" y="5723890"/>
            <a:ext cx="1737360" cy="487375"/>
            <a:chOff x="3247745" y="5723890"/>
            <a:chExt cx="1737360" cy="487375"/>
          </a:xfrm>
        </p:grpSpPr>
        <p:sp>
          <p:nvSpPr>
            <p:cNvPr id="62" name="Oval 61"/>
            <p:cNvSpPr/>
            <p:nvPr/>
          </p:nvSpPr>
          <p:spPr>
            <a:xfrm>
              <a:off x="3948937" y="5723890"/>
              <a:ext cx="334975" cy="334975"/>
            </a:xfrm>
            <a:prstGeom prst="ellipse">
              <a:avLst/>
            </a:prstGeom>
            <a:solidFill>
              <a:srgbClr val="F7E8F2"/>
            </a:solidFill>
            <a:ln w="12700">
              <a:solidFill>
                <a:srgbClr val="C084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247745" y="6068009"/>
              <a:ext cx="17373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 2 · ch 22</a:t>
              </a:r>
            </a:p>
          </p:txBody>
        </p:sp>
      </p:grpSp>
      <p:grpSp>
        <p:nvGrpSpPr>
          <p:cNvPr id="64" name="Vox 3 · ch 23"/>
          <p:cNvGrpSpPr/>
          <p:nvPr/>
        </p:nvGrpSpPr>
        <p:grpSpPr>
          <a:xfrm>
            <a:off x="5704230" y="5723890"/>
            <a:ext cx="1737360" cy="487375"/>
            <a:chOff x="5704230" y="5723890"/>
            <a:chExt cx="1737360" cy="487375"/>
          </a:xfrm>
        </p:grpSpPr>
        <p:sp>
          <p:nvSpPr>
            <p:cNvPr id="65" name="Oval 64"/>
            <p:cNvSpPr/>
            <p:nvPr/>
          </p:nvSpPr>
          <p:spPr>
            <a:xfrm>
              <a:off x="6405422" y="5723890"/>
              <a:ext cx="334975" cy="334975"/>
            </a:xfrm>
            <a:prstGeom prst="ellipse">
              <a:avLst/>
            </a:prstGeom>
            <a:solidFill>
              <a:srgbClr val="F7E8F2"/>
            </a:solidFill>
            <a:ln w="12700">
              <a:solidFill>
                <a:srgbClr val="C084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704230" y="6068009"/>
              <a:ext cx="17373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 3 · ch 23</a:t>
              </a:r>
            </a:p>
          </p:txBody>
        </p:sp>
      </p:grpSp>
      <p:grpSp>
        <p:nvGrpSpPr>
          <p:cNvPr id="67" name="Vox 4 · fold down"/>
          <p:cNvGrpSpPr/>
          <p:nvPr/>
        </p:nvGrpSpPr>
        <p:grpSpPr>
          <a:xfrm>
            <a:off x="8049056" y="5723890"/>
            <a:ext cx="1737360" cy="487375"/>
            <a:chOff x="8049056" y="5723890"/>
            <a:chExt cx="1737360" cy="487375"/>
          </a:xfrm>
        </p:grpSpPr>
        <p:sp>
          <p:nvSpPr>
            <p:cNvPr id="68" name="Oval 67"/>
            <p:cNvSpPr/>
            <p:nvPr/>
          </p:nvSpPr>
          <p:spPr>
            <a:xfrm>
              <a:off x="8750249" y="5723890"/>
              <a:ext cx="334975" cy="334975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8049056" y="6068009"/>
              <a:ext cx="17373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9CA3AF"/>
                  </a:solidFill>
                  <a:latin typeface="Arial"/>
                </a:rPr>
                <a:t>Vox 4 · fold down</a:t>
              </a:r>
            </a:p>
          </p:txBody>
        </p:sp>
      </p:grpSp>
      <p:sp>
        <p:nvSpPr>
          <p:cNvPr id="70" name=""/>
          <p:cNvSpPr/>
          <p:nvPr/>
        </p:nvSpPr>
        <p:spPr>
          <a:xfrm>
            <a:off x="320040" y="6599326"/>
            <a:ext cx="146304" cy="118872"/>
          </a:xfrm>
          <a:prstGeom prst="roundRect">
            <a:avLst/>
          </a:prstGeom>
          <a:solidFill>
            <a:srgbClr val="FDF1E3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4632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Backline</a:t>
            </a:r>
          </a:p>
        </p:txBody>
      </p:sp>
      <p:sp>
        <p:nvSpPr>
          <p:cNvPr id="72" name=""/>
          <p:cNvSpPr/>
          <p:nvPr/>
        </p:nvSpPr>
        <p:spPr>
          <a:xfrm>
            <a:off x="1047902" y="6599326"/>
            <a:ext cx="146304" cy="118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2494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Player</a:t>
            </a:r>
          </a:p>
        </p:txBody>
      </p:sp>
      <p:sp>
        <p:nvSpPr>
          <p:cNvPr id="74" name=""/>
          <p:cNvSpPr/>
          <p:nvPr/>
        </p:nvSpPr>
        <p:spPr>
          <a:xfrm>
            <a:off x="1662379" y="6599326"/>
            <a:ext cx="146304" cy="118872"/>
          </a:xfrm>
          <a:prstGeom prst="roundRect">
            <a:avLst/>
          </a:prstGeom>
          <a:solidFill>
            <a:srgbClr val="F7E8F2"/>
          </a:solidFill>
          <a:ln w="12700">
            <a:solidFill>
              <a:srgbClr val="C08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6971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Vocal mic</a:t>
            </a:r>
          </a:p>
        </p:txBody>
      </p:sp>
      <p:sp>
        <p:nvSpPr>
          <p:cNvPr id="76" name=""/>
          <p:cNvSpPr/>
          <p:nvPr/>
        </p:nvSpPr>
        <p:spPr>
          <a:xfrm>
            <a:off x="2446934" y="6599326"/>
            <a:ext cx="146304" cy="1188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11526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DI box</a:t>
            </a:r>
          </a:p>
        </p:txBody>
      </p:sp>
      <p:sp>
        <p:nvSpPr>
          <p:cNvPr id="78" name=""/>
          <p:cNvSpPr/>
          <p:nvPr/>
        </p:nvSpPr>
        <p:spPr>
          <a:xfrm>
            <a:off x="3061411" y="6599326"/>
            <a:ext cx="146304" cy="1188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26003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Keys</a:t>
            </a:r>
          </a:p>
        </p:txBody>
      </p:sp>
      <p:sp>
        <p:nvSpPr>
          <p:cNvPr id="80" name=""/>
          <p:cNvSpPr/>
          <p:nvPr/>
        </p:nvSpPr>
        <p:spPr>
          <a:xfrm>
            <a:off x="3562502" y="6599326"/>
            <a:ext cx="146304" cy="11887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27094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Laptop / screen</a:t>
            </a:r>
          </a:p>
        </p:txBody>
      </p:sp>
      <p:sp>
        <p:nvSpPr>
          <p:cNvPr id="82" name=""/>
          <p:cNvSpPr/>
          <p:nvPr/>
        </p:nvSpPr>
        <p:spPr>
          <a:xfrm>
            <a:off x="4687214" y="6599326"/>
            <a:ext cx="146304" cy="11887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51806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In-ears / wireless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82004" y="6562750"/>
            <a:ext cx="1828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Dashed = not used this set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6882790"/>
            <a:ext cx="1116584" cy="457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509776" y="6818782"/>
            <a:ext cx="5486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1 m · all to scale; DI boxes and mic stands slightly enlarged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6583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Canvanauts (Canva) — patch and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182880"/>
            <a:ext cx="470001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Set 8:25–8:50 pm · soundcheck 5:30 pm · contact on the day: not given yet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10049256" cy="274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777240"/>
          <a:ext cx="4663440" cy="255510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2920"/>
                <a:gridCol w="1143000"/>
                <a:gridCol w="3017520"/>
              </a:tblGrid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Ch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Who and notes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1–10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Drum kit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Gerónimo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Bass DI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Jeremy: Quad Cortex and the Ampeg; routing to confirm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Bass cab mic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Only if the Ampeg cab is in use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Gtr 1 DI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Danny: Boss multi-FX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Gtr 2 DI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Dave: UAFX pedal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Gtr 3 DI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Ishraque: Soran Dual Stomp (on the acoustic DI line)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19/20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Keys L/R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Simone: Korg Kronos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Vox 1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Simone, at the keys: lead on song 3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Vox 2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Ollie: co-lead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Vox 3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Melad: co-lead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3378072"/>
            <a:ext cx="46634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Not used this set: ch 13, 15, 18, 24, 25, 26, 27, 28. Ch 31/32 are the crowd mics, for the recording only.</a:t>
            </a:r>
          </a:p>
        </p:txBody>
      </p:sp>
      <p:sp>
        <p:nvSpPr>
          <p:cNvPr id="7" name="Monitors and in-ears"/>
          <p:cNvSpPr/>
          <p:nvPr/>
        </p:nvSpPr>
        <p:spPr>
          <a:xfrm>
            <a:off x="5257799" y="777240"/>
            <a:ext cx="5111496" cy="643255"/>
          </a:xfrm>
          <a:prstGeom prst="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54864" bIns="54864" wrap="square"/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Monitors and in-ears</a:t>
            </a:r>
          </a:p>
          <a:p>
            <a:r>
              <a:rPr sz="950">
                <a:solidFill>
                  <a:srgbClr val="1F2937"/>
                </a:solidFill>
                <a:latin typeface="Arial"/>
              </a:rPr>
              <a:t>No in-ear feeds requested. All three guitars are DI only, with no amps on stage, so the guitarists will need guitar in their wedges.</a:t>
            </a:r>
          </a:p>
        </p:txBody>
      </p:sp>
      <p:sp>
        <p:nvSpPr>
          <p:cNvPr id="8" name="Screen and playback"/>
          <p:cNvSpPr/>
          <p:nvPr/>
        </p:nvSpPr>
        <p:spPr>
          <a:xfrm>
            <a:off x="5257799" y="1530223"/>
            <a:ext cx="5111496" cy="492442"/>
          </a:xfrm>
          <a:prstGeom prst="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54864" bIns="54864" wrap="square"/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Screen and playback</a:t>
            </a:r>
          </a:p>
          <a:p>
            <a:r>
              <a:rPr sz="950">
                <a:solidFill>
                  <a:srgbClr val="1F2937"/>
                </a:solidFill>
                <a:latin typeface="Arial"/>
              </a:rPr>
              <a:t>A visualiser on screen for every song. Source to confirm.</a:t>
            </a:r>
          </a:p>
        </p:txBody>
      </p:sp>
      <p:sp>
        <p:nvSpPr>
          <p:cNvPr id="9" name="Notes and to confirm"/>
          <p:cNvSpPr/>
          <p:nvPr/>
        </p:nvSpPr>
        <p:spPr>
          <a:xfrm>
            <a:off x="5257799" y="2132393"/>
            <a:ext cx="5111496" cy="794067"/>
          </a:xfrm>
          <a:prstGeom prst="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54864" bIns="54864" wrap="square"/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Notes and to confirm</a:t>
            </a:r>
          </a:p>
          <a:p>
            <a:r>
              <a:rPr sz="950">
                <a:solidFill>
                  <a:srgbClr val="1F2937"/>
                </a:solidFill>
                <a:latin typeface="Arial"/>
              </a:rPr>
              <a:t>Which guitarist stands where. Bass routing (Quad Cortex direct, or through the Ampeg?). Visualiser source. Contact on the day. The six songs add up to 23:08 before any gaps, in a 25-minute slot.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6583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Canvanauts (Canva) — the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182880"/>
            <a:ext cx="470001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Set 8:25–8:50 pm · soundcheck 5:30 pm · contact on the day: not given yet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10049256" cy="274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00492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Running time: 23:08 planned, in a 25-minute slot. No walk-on or between-song details given.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10049256" cy="23154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"/>
                <a:gridCol w="2148840"/>
                <a:gridCol w="502920"/>
                <a:gridCol w="2743200"/>
                <a:gridCol w="1417320"/>
                <a:gridCol w="2642616"/>
              </a:tblGrid>
              <a:tr h="224535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Song, or what happens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Length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On stage · lead · moves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Screen · playback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Lighting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</a:tr>
              <a:tr h="348487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1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The Joker and the Thief — Wolfmother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4:40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Everyone (guitar starts alone, then the rest of the band enters). Lead: Ollie and Melad (Vox 2 + 3)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Visualiser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Red lighting, bright flash when the band kicks in at ~20 s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8487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2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Thnks fr th Mmrs — Fall Out Boy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3:23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Everyone (guitar and keyboard start with a count-in). Lead: Ollie and Melad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Visualiser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Amber lighting, dramatic, lots of action. Kicks in at ~30 s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535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3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So Easy (To Fall in Love) — Olivia Dean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2:50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Everyone (keyboard starts). Lead: Simone (Vox 1)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Visualiser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Purple soft lighting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4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Beggin' — Måneskin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3:30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Everyone (Vox 2 starts). Lead: Ollie and Melad. Bass solo at ~2:15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Visualiser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Spotlight on vocalist for intro. Red lights on guitar drop after intro piano and vocals. Big stops at ~0:40, ~1:35, ~2:15 and 2:43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8487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Smooth Criminal — Alien Ant Farm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3:30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Everyone (drums start). Lead: Ollie and Melad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Visualiser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Dynamic white lighting with the stops at ~1:10 and ~2:05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8487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6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Welcome to the Black Parade — My Chemical Romance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5:15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Everyone (keyboard starts). Lead: Ollie and Melad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Visualiser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Spotlight on vocalist for intro. Red lights on guitar drop after intro piano and vocals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