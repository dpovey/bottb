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0689336" cy="756208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Amakazaam! (Amazon) — stage plot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9:00–9:25 pm · soundcheck 5:15 pm · contact on the day: Keira Daley</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86384"/>
            <a:ext cx="10049256" cy="182880"/>
          </a:xfrm>
          <a:prstGeom prst="rect">
            <a:avLst/>
          </a:prstGeom>
          <a:noFill/>
        </p:spPr>
        <p:txBody>
          <a:bodyPr wrap="square" lIns="27432" rIns="27432" tIns="27432" bIns="27432" anchor="t">
            <a:spAutoFit/>
          </a:bodyPr>
          <a:lstStyle/>
          <a:p>
            <a:pPr algn="ctr"/>
            <a:r>
              <a:rPr sz="700" b="0">
                <a:solidFill>
                  <a:srgbClr val="6B7280"/>
                </a:solidFill>
                <a:latin typeface="Arial"/>
              </a:rPr>
              <a:t>UPSTAGE (back wall)</a:t>
            </a:r>
          </a:p>
        </p:txBody>
      </p:sp>
      <p:sp>
        <p:nvSpPr>
          <p:cNvPr id="6" name="Stage"/>
          <p:cNvSpPr/>
          <p:nvPr/>
        </p:nvSpPr>
        <p:spPr>
          <a:xfrm>
            <a:off x="320040" y="978408"/>
            <a:ext cx="10049256" cy="5136286"/>
          </a:xfrm>
          <a:prstGeom prst="rect">
            <a:avLst/>
          </a:prstGeom>
          <a:solidFill>
            <a:srgbClr val="FAFAFA"/>
          </a:solidFill>
          <a:ln>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6334150"/>
            <a:ext cx="10049256" cy="182880"/>
          </a:xfrm>
          <a:prstGeom prst="rect">
            <a:avLst/>
          </a:prstGeom>
          <a:noFill/>
        </p:spPr>
        <p:txBody>
          <a:bodyPr wrap="square" lIns="27432" rIns="27432" tIns="27432" bIns="27432" anchor="t">
            <a:spAutoFit/>
          </a:bodyPr>
          <a:lstStyle/>
          <a:p>
            <a:pPr algn="ctr"/>
            <a:r>
              <a:rPr sz="700" b="1">
                <a:solidFill>
                  <a:srgbClr val="6B7280"/>
                </a:solidFill>
                <a:latin typeface="Arial"/>
              </a:rPr>
              <a:t>AUDIENCE</a:t>
            </a:r>
          </a:p>
        </p:txBody>
      </p:sp>
      <p:sp>
        <p:nvSpPr>
          <p:cNvPr id="8" name="TextBox 7"/>
          <p:cNvSpPr txBox="1"/>
          <p:nvPr/>
        </p:nvSpPr>
        <p:spPr>
          <a:xfrm>
            <a:off x="320040" y="6334150"/>
            <a:ext cx="2011680" cy="182880"/>
          </a:xfrm>
          <a:prstGeom prst="rect">
            <a:avLst/>
          </a:prstGeom>
          <a:noFill/>
        </p:spPr>
        <p:txBody>
          <a:bodyPr wrap="square" lIns="27432" rIns="27432" tIns="27432" bIns="27432" anchor="t">
            <a:spAutoFit/>
          </a:bodyPr>
          <a:lstStyle/>
          <a:p>
            <a:pPr algn="l"/>
            <a:r>
              <a:rPr sz="700" b="0">
                <a:solidFill>
                  <a:srgbClr val="6B7280"/>
                </a:solidFill>
                <a:latin typeface="Arial"/>
              </a:rPr>
              <a:t>◀ house left (stage right)</a:t>
            </a:r>
          </a:p>
        </p:txBody>
      </p:sp>
      <p:sp>
        <p:nvSpPr>
          <p:cNvPr id="9" name="TextBox 8"/>
          <p:cNvSpPr txBox="1"/>
          <p:nvPr/>
        </p:nvSpPr>
        <p:spPr>
          <a:xfrm>
            <a:off x="8357616" y="6334150"/>
            <a:ext cx="2011680" cy="182880"/>
          </a:xfrm>
          <a:prstGeom prst="rect">
            <a:avLst/>
          </a:prstGeom>
          <a:noFill/>
        </p:spPr>
        <p:txBody>
          <a:bodyPr wrap="square" lIns="27432" rIns="27432" tIns="27432" bIns="27432" anchor="t">
            <a:spAutoFit/>
          </a:bodyPr>
          <a:lstStyle/>
          <a:p>
            <a:pPr algn="r"/>
            <a:r>
              <a:rPr sz="700" b="0">
                <a:solidFill>
                  <a:srgbClr val="6B7280"/>
                </a:solidFill>
                <a:latin typeface="Arial"/>
              </a:rPr>
              <a:t>house right (stage left) ▶</a:t>
            </a:r>
          </a:p>
        </p:txBody>
      </p:sp>
      <p:grpSp>
        <p:nvGrpSpPr>
          <p:cNvPr id="10" name="DW kit · ch 1–10"/>
          <p:cNvGrpSpPr/>
          <p:nvPr/>
        </p:nvGrpSpPr>
        <p:grpSpPr>
          <a:xfrm>
            <a:off x="4004767" y="1425041"/>
            <a:ext cx="2679801" cy="2009851"/>
            <a:chOff x="4004767" y="1425041"/>
            <a:chExt cx="2679801" cy="2009851"/>
          </a:xfrm>
        </p:grpSpPr>
        <p:sp>
          <p:nvSpPr>
            <p:cNvPr id="11" name="Rounded Rectangle 10"/>
            <p:cNvSpPr/>
            <p:nvPr/>
          </p:nvSpPr>
          <p:spPr>
            <a:xfrm>
              <a:off x="4004767" y="1425041"/>
              <a:ext cx="2679801" cy="2009851"/>
            </a:xfrm>
            <a:prstGeom prst="roundRect">
              <a:avLst/>
            </a:prstGeom>
            <a:solidFill>
              <a:srgbClr val="E8F0FA"/>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04767" y="2251659"/>
              <a:ext cx="2679801" cy="356615"/>
            </a:xfrm>
            <a:prstGeom prst="rect">
              <a:avLst/>
            </a:prstGeom>
            <a:noFill/>
          </p:spPr>
          <p:txBody>
            <a:bodyPr wrap="square" lIns="0" rIns="0" tIns="0" bIns="0" anchor="ctr">
              <a:spAutoFit/>
            </a:bodyPr>
            <a:lstStyle/>
            <a:p>
              <a:pPr algn="ctr"/>
              <a:r>
                <a:rPr sz="700" b="0">
                  <a:solidFill>
                    <a:srgbClr val="1F2937"/>
                  </a:solidFill>
                  <a:latin typeface="Arial"/>
                </a:rPr>
                <a:t>DW kit · ch 1–10</a:t>
              </a:r>
            </a:p>
            <a:p>
              <a:pPr algn="ctr"/>
              <a:r>
                <a:rPr sz="700" b="0">
                  <a:solidFill>
                    <a:srgbClr val="1F2937"/>
                  </a:solidFill>
                  <a:latin typeface="Arial"/>
                </a:rPr>
                <a:t>Andrew (Keira on song 4)</a:t>
              </a:r>
            </a:p>
            <a:p>
              <a:pPr algn="ctr"/>
              <a:r>
                <a:rPr sz="700" b="0">
                  <a:solidFill>
                    <a:srgbClr val="1F2937"/>
                  </a:solidFill>
                  <a:latin typeface="Arial"/>
                </a:rPr>
                <a:t>riser 2.4 × 1.8 m</a:t>
              </a:r>
            </a:p>
          </p:txBody>
        </p:sp>
      </p:grpSp>
      <p:grpSp>
        <p:nvGrpSpPr>
          <p:cNvPr id="13" name="Fender · mic ch 13"/>
          <p:cNvGrpSpPr/>
          <p:nvPr/>
        </p:nvGrpSpPr>
        <p:grpSpPr>
          <a:xfrm>
            <a:off x="2186990" y="2904515"/>
            <a:ext cx="1737360" cy="538225"/>
            <a:chOff x="2186990" y="2904515"/>
            <a:chExt cx="1737360" cy="538225"/>
          </a:xfrm>
        </p:grpSpPr>
        <p:sp>
          <p:nvSpPr>
            <p:cNvPr id="14" name="Rounded Rectangle 13"/>
            <p:cNvSpPr/>
            <p:nvPr/>
          </p:nvSpPr>
          <p:spPr>
            <a:xfrm>
              <a:off x="2703946" y="2904515"/>
              <a:ext cx="703447" cy="279146"/>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86990" y="3192805"/>
              <a:ext cx="1737360" cy="249935"/>
            </a:xfrm>
            <a:prstGeom prst="rect">
              <a:avLst/>
            </a:prstGeom>
            <a:noFill/>
          </p:spPr>
          <p:txBody>
            <a:bodyPr wrap="square" lIns="0" rIns="0" tIns="0" bIns="0" anchor="ctr">
              <a:spAutoFit/>
            </a:bodyPr>
            <a:lstStyle/>
            <a:p>
              <a:pPr algn="ctr"/>
              <a:r>
                <a:rPr sz="700" b="0">
                  <a:solidFill>
                    <a:srgbClr val="1F2937"/>
                  </a:solidFill>
                  <a:latin typeface="Arial"/>
                </a:rPr>
                <a:t>Fender · mic ch 13</a:t>
              </a:r>
            </a:p>
            <a:p>
              <a:pPr algn="ctr"/>
              <a:r>
                <a:rPr sz="700" b="0">
                  <a:solidFill>
                    <a:srgbClr val="1F2937"/>
                  </a:solidFill>
                  <a:latin typeface="Arial"/>
                </a:rPr>
                <a:t>Tim</a:t>
              </a:r>
            </a:p>
          </p:txBody>
        </p:sp>
      </p:grpSp>
      <p:grpSp>
        <p:nvGrpSpPr>
          <p:cNvPr id="16" name="Ampeg"/>
          <p:cNvGrpSpPr/>
          <p:nvPr/>
        </p:nvGrpSpPr>
        <p:grpSpPr>
          <a:xfrm>
            <a:off x="6430009" y="2681198"/>
            <a:ext cx="1737360" cy="761542"/>
            <a:chOff x="6430009" y="2681198"/>
            <a:chExt cx="1737360" cy="761542"/>
          </a:xfrm>
        </p:grpSpPr>
        <p:sp>
          <p:nvSpPr>
            <p:cNvPr id="17" name="Rounded Rectangle 16"/>
            <p:cNvSpPr/>
            <p:nvPr/>
          </p:nvSpPr>
          <p:spPr>
            <a:xfrm>
              <a:off x="6958131" y="2681198"/>
              <a:ext cx="681116" cy="502462"/>
            </a:xfrm>
            <a:prstGeom prst="roundRect">
              <a:avLst/>
            </a:prstGeom>
            <a:solidFill>
              <a:srgbClr val="FDF5D6"/>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0009" y="3192805"/>
              <a:ext cx="1737360" cy="249935"/>
            </a:xfrm>
            <a:prstGeom prst="rect">
              <a:avLst/>
            </a:prstGeom>
            <a:noFill/>
          </p:spPr>
          <p:txBody>
            <a:bodyPr wrap="square" lIns="0" rIns="0" tIns="0" bIns="0" anchor="ctr">
              <a:spAutoFit/>
            </a:bodyPr>
            <a:lstStyle/>
            <a:p>
              <a:pPr algn="ctr"/>
              <a:r>
                <a:rPr sz="700" b="0">
                  <a:solidFill>
                    <a:srgbClr val="1F2937"/>
                  </a:solidFill>
                  <a:latin typeface="Arial"/>
                </a:rPr>
                <a:t>Ampeg</a:t>
              </a:r>
            </a:p>
            <a:p>
              <a:pPr algn="ctr"/>
              <a:r>
                <a:rPr sz="700" b="0">
                  <a:solidFill>
                    <a:srgbClr val="1F2937"/>
                  </a:solidFill>
                  <a:latin typeface="Arial"/>
                </a:rPr>
                <a:t>ch 11 + 12</a:t>
              </a:r>
            </a:p>
          </p:txBody>
        </p:sp>
      </p:grpSp>
      <p:grpSp>
        <p:nvGrpSpPr>
          <p:cNvPr id="19" name="Vox AC30 · mic ch 15"/>
          <p:cNvGrpSpPr/>
          <p:nvPr/>
        </p:nvGrpSpPr>
        <p:grpSpPr>
          <a:xfrm>
            <a:off x="7602423" y="2837520"/>
            <a:ext cx="1737360" cy="560557"/>
            <a:chOff x="7602423" y="2837520"/>
            <a:chExt cx="1737360" cy="560557"/>
          </a:xfrm>
        </p:grpSpPr>
        <p:sp>
          <p:nvSpPr>
            <p:cNvPr id="20" name="Rounded Rectangle 19"/>
            <p:cNvSpPr/>
            <p:nvPr/>
          </p:nvSpPr>
          <p:spPr>
            <a:xfrm>
              <a:off x="8080298" y="2837520"/>
              <a:ext cx="781608" cy="301477"/>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02423" y="3148142"/>
              <a:ext cx="1737360" cy="249935"/>
            </a:xfrm>
            <a:prstGeom prst="rect">
              <a:avLst/>
            </a:prstGeom>
            <a:noFill/>
          </p:spPr>
          <p:txBody>
            <a:bodyPr wrap="square" lIns="0" rIns="0" tIns="0" bIns="0" anchor="ctr">
              <a:spAutoFit/>
            </a:bodyPr>
            <a:lstStyle/>
            <a:p>
              <a:pPr algn="ctr"/>
              <a:r>
                <a:rPr sz="700" b="0">
                  <a:solidFill>
                    <a:srgbClr val="1F2937"/>
                  </a:solidFill>
                  <a:latin typeface="Arial"/>
                </a:rPr>
                <a:t>Vox AC30 · mic ch 15</a:t>
              </a:r>
            </a:p>
            <a:p>
              <a:pPr algn="ctr"/>
              <a:r>
                <a:rPr sz="700" b="0">
                  <a:solidFill>
                    <a:srgbClr val="1F2937"/>
                  </a:solidFill>
                  <a:latin typeface="Arial"/>
                </a:rPr>
                <a:t>Tyler</a:t>
              </a:r>
            </a:p>
          </p:txBody>
        </p:sp>
      </p:grpSp>
      <p:grpSp>
        <p:nvGrpSpPr>
          <p:cNvPr id="22" name="Vox 5 · ch 25"/>
          <p:cNvGrpSpPr/>
          <p:nvPr/>
        </p:nvGrpSpPr>
        <p:grpSpPr>
          <a:xfrm>
            <a:off x="3861866" y="2764942"/>
            <a:ext cx="1737360" cy="487375"/>
            <a:chOff x="3861866" y="2764942"/>
            <a:chExt cx="1737360" cy="487375"/>
          </a:xfrm>
        </p:grpSpPr>
        <p:sp>
          <p:nvSpPr>
            <p:cNvPr id="23" name="Oval 22"/>
            <p:cNvSpPr/>
            <p:nvPr/>
          </p:nvSpPr>
          <p:spPr>
            <a:xfrm>
              <a:off x="4563059" y="2764942"/>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61866" y="3109061"/>
              <a:ext cx="1737360" cy="143256"/>
            </a:xfrm>
            <a:prstGeom prst="rect">
              <a:avLst/>
            </a:prstGeom>
            <a:noFill/>
          </p:spPr>
          <p:txBody>
            <a:bodyPr wrap="square" lIns="0" rIns="0" tIns="0" bIns="0" anchor="ctr">
              <a:spAutoFit/>
            </a:bodyPr>
            <a:lstStyle/>
            <a:p>
              <a:pPr algn="ctr"/>
              <a:r>
                <a:rPr sz="700" b="0">
                  <a:solidFill>
                    <a:srgbClr val="1F2937"/>
                  </a:solidFill>
                  <a:latin typeface="Arial"/>
                </a:rPr>
                <a:t>Vox 5 · ch 25</a:t>
              </a:r>
            </a:p>
          </p:txBody>
        </p:sp>
      </p:grpSp>
      <p:grpSp>
        <p:nvGrpSpPr>
          <p:cNvPr id="25" name="Tim"/>
          <p:cNvGrpSpPr/>
          <p:nvPr/>
        </p:nvGrpSpPr>
        <p:grpSpPr>
          <a:xfrm>
            <a:off x="2430983" y="3769868"/>
            <a:ext cx="914400" cy="558292"/>
            <a:chOff x="2430983" y="3769868"/>
            <a:chExt cx="914400" cy="558292"/>
          </a:xfrm>
        </p:grpSpPr>
        <p:sp>
          <p:nvSpPr>
            <p:cNvPr id="26" name="Oval 25"/>
            <p:cNvSpPr/>
            <p:nvPr/>
          </p:nvSpPr>
          <p:spPr>
            <a:xfrm>
              <a:off x="2609037" y="3769868"/>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30983" y="3870706"/>
              <a:ext cx="914400" cy="356615"/>
            </a:xfrm>
            <a:prstGeom prst="rect">
              <a:avLst/>
            </a:prstGeom>
            <a:noFill/>
          </p:spPr>
          <p:txBody>
            <a:bodyPr wrap="square" lIns="0" rIns="0" tIns="0" bIns="0" anchor="ctr">
              <a:spAutoFit/>
            </a:bodyPr>
            <a:lstStyle/>
            <a:p>
              <a:pPr algn="ctr"/>
              <a:r>
                <a:rPr sz="700" b="0">
                  <a:solidFill>
                    <a:srgbClr val="1F2937"/>
                  </a:solidFill>
                  <a:latin typeface="Arial"/>
                </a:rPr>
                <a:t>Tim</a:t>
              </a:r>
            </a:p>
            <a:p>
              <a:pPr algn="ctr"/>
              <a:r>
                <a:rPr sz="700" b="0">
                  <a:solidFill>
                    <a:srgbClr val="1F2937"/>
                  </a:solidFill>
                  <a:latin typeface="Arial"/>
                </a:rPr>
                <a:t>rhythm</a:t>
              </a:r>
            </a:p>
            <a:p>
              <a:pPr algn="ctr"/>
              <a:r>
                <a:rPr sz="700" b="0">
                  <a:solidFill>
                    <a:srgbClr val="1F2937"/>
                  </a:solidFill>
                  <a:latin typeface="Arial"/>
                </a:rPr>
                <a:t>guitar</a:t>
              </a:r>
            </a:p>
          </p:txBody>
        </p:sp>
      </p:grpSp>
      <p:grpSp>
        <p:nvGrpSpPr>
          <p:cNvPr id="28" name="Laptop · side stage, TBC"/>
          <p:cNvGrpSpPr/>
          <p:nvPr/>
        </p:nvGrpSpPr>
        <p:grpSpPr>
          <a:xfrm>
            <a:off x="338328" y="2960344"/>
            <a:ext cx="1737360" cy="761542"/>
            <a:chOff x="338328" y="2960344"/>
            <a:chExt cx="1737360" cy="761542"/>
          </a:xfrm>
        </p:grpSpPr>
        <p:sp>
          <p:nvSpPr>
            <p:cNvPr id="29" name="Rounded Rectangle 28"/>
            <p:cNvSpPr/>
            <p:nvPr/>
          </p:nvSpPr>
          <p:spPr>
            <a:xfrm>
              <a:off x="487527" y="2960344"/>
              <a:ext cx="669950" cy="502462"/>
            </a:xfrm>
            <a:prstGeom prst="roundRect">
              <a:avLst/>
            </a:prstGeom>
            <a:solidFill>
              <a:srgbClr val="E0F2FE"/>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8328" y="3471951"/>
              <a:ext cx="1737360" cy="249935"/>
            </a:xfrm>
            <a:prstGeom prst="rect">
              <a:avLst/>
            </a:prstGeom>
            <a:noFill/>
          </p:spPr>
          <p:txBody>
            <a:bodyPr wrap="square" lIns="0" rIns="0" tIns="0" bIns="0" anchor="ctr">
              <a:spAutoFit/>
            </a:bodyPr>
            <a:lstStyle/>
            <a:p>
              <a:pPr algn="ctr"/>
              <a:r>
                <a:rPr sz="700" b="0">
                  <a:solidFill>
                    <a:srgbClr val="1F2937"/>
                  </a:solidFill>
                  <a:latin typeface="Arial"/>
                </a:rPr>
                <a:t>Laptop · side stage, TBC</a:t>
              </a:r>
            </a:p>
            <a:p>
              <a:pPr algn="ctr"/>
              <a:r>
                <a:rPr sz="700" b="0">
                  <a:solidFill>
                    <a:srgbClr val="1F2937"/>
                  </a:solidFill>
                  <a:latin typeface="Arial"/>
                </a:rPr>
                <a:t>HDMI video + audio</a:t>
              </a:r>
            </a:p>
          </p:txBody>
        </p:sp>
      </p:grpSp>
      <p:grpSp>
        <p:nvGrpSpPr>
          <p:cNvPr id="31" name="Sam"/>
          <p:cNvGrpSpPr/>
          <p:nvPr/>
        </p:nvGrpSpPr>
        <p:grpSpPr>
          <a:xfrm>
            <a:off x="6674002" y="3881526"/>
            <a:ext cx="914400" cy="558292"/>
            <a:chOff x="6674002" y="3881526"/>
            <a:chExt cx="914400" cy="558292"/>
          </a:xfrm>
        </p:grpSpPr>
        <p:sp>
          <p:nvSpPr>
            <p:cNvPr id="32" name="Oval 31"/>
            <p:cNvSpPr/>
            <p:nvPr/>
          </p:nvSpPr>
          <p:spPr>
            <a:xfrm>
              <a:off x="6852056" y="3881526"/>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4002" y="4035704"/>
              <a:ext cx="914400" cy="249935"/>
            </a:xfrm>
            <a:prstGeom prst="rect">
              <a:avLst/>
            </a:prstGeom>
            <a:noFill/>
          </p:spPr>
          <p:txBody>
            <a:bodyPr wrap="square" lIns="0" rIns="0" tIns="0" bIns="0" anchor="ctr">
              <a:spAutoFit/>
            </a:bodyPr>
            <a:lstStyle/>
            <a:p>
              <a:pPr algn="ctr"/>
              <a:r>
                <a:rPr sz="700" b="0">
                  <a:solidFill>
                    <a:srgbClr val="1F2937"/>
                  </a:solidFill>
                  <a:latin typeface="Arial"/>
                </a:rPr>
                <a:t>Sam</a:t>
              </a:r>
            </a:p>
            <a:p>
              <a:pPr algn="ctr"/>
              <a:r>
                <a:rPr sz="700" b="0">
                  <a:solidFill>
                    <a:srgbClr val="1F2937"/>
                  </a:solidFill>
                  <a:latin typeface="Arial"/>
                </a:rPr>
                <a:t>bass</a:t>
              </a:r>
            </a:p>
          </p:txBody>
        </p:sp>
      </p:grpSp>
      <p:grpSp>
        <p:nvGrpSpPr>
          <p:cNvPr id="34" name="Keira's wireless · TBC"/>
          <p:cNvGrpSpPr/>
          <p:nvPr/>
        </p:nvGrpSpPr>
        <p:grpSpPr>
          <a:xfrm>
            <a:off x="8613648" y="3658209"/>
            <a:ext cx="1737360" cy="705713"/>
            <a:chOff x="8613648" y="3658209"/>
            <a:chExt cx="1737360" cy="705713"/>
          </a:xfrm>
        </p:grpSpPr>
        <p:sp>
          <p:nvSpPr>
            <p:cNvPr id="35" name="Rounded Rectangle 34"/>
            <p:cNvSpPr/>
            <p:nvPr/>
          </p:nvSpPr>
          <p:spPr>
            <a:xfrm>
              <a:off x="9420199" y="3658209"/>
              <a:ext cx="558292" cy="446633"/>
            </a:xfrm>
            <a:prstGeom prst="roundRect">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13648" y="4113987"/>
              <a:ext cx="1737360" cy="249935"/>
            </a:xfrm>
            <a:prstGeom prst="rect">
              <a:avLst/>
            </a:prstGeom>
            <a:noFill/>
          </p:spPr>
          <p:txBody>
            <a:bodyPr wrap="square" lIns="0" rIns="0" tIns="0" bIns="0" anchor="ctr">
              <a:spAutoFit/>
            </a:bodyPr>
            <a:lstStyle/>
            <a:p>
              <a:pPr algn="ctr"/>
              <a:r>
                <a:rPr sz="700" b="0">
                  <a:solidFill>
                    <a:srgbClr val="1F2937"/>
                  </a:solidFill>
                  <a:latin typeface="Arial"/>
                </a:rPr>
                <a:t>Keira's wireless · TBC</a:t>
              </a:r>
            </a:p>
            <a:p>
              <a:pPr algn="ctr"/>
              <a:r>
                <a:rPr sz="700" b="0">
                  <a:solidFill>
                    <a:srgbClr val="1F2937"/>
                  </a:solidFill>
                  <a:latin typeface="Arial"/>
                </a:rPr>
                <a:t>receiver out · in-ear mix in</a:t>
              </a:r>
            </a:p>
          </p:txBody>
        </p:sp>
      </p:grpSp>
      <p:grpSp>
        <p:nvGrpSpPr>
          <p:cNvPr id="37" name="Aaron"/>
          <p:cNvGrpSpPr/>
          <p:nvPr/>
        </p:nvGrpSpPr>
        <p:grpSpPr>
          <a:xfrm>
            <a:off x="1314399" y="4383989"/>
            <a:ext cx="914400" cy="558292"/>
            <a:chOff x="1314399" y="4383989"/>
            <a:chExt cx="914400" cy="558292"/>
          </a:xfrm>
        </p:grpSpPr>
        <p:sp>
          <p:nvSpPr>
            <p:cNvPr id="38" name="Oval 37"/>
            <p:cNvSpPr/>
            <p:nvPr/>
          </p:nvSpPr>
          <p:spPr>
            <a:xfrm>
              <a:off x="1492453" y="4383989"/>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14399" y="4538167"/>
              <a:ext cx="914400" cy="249935"/>
            </a:xfrm>
            <a:prstGeom prst="rect">
              <a:avLst/>
            </a:prstGeom>
            <a:noFill/>
          </p:spPr>
          <p:txBody>
            <a:bodyPr wrap="square" lIns="0" rIns="0" tIns="0" bIns="0" anchor="ctr">
              <a:spAutoFit/>
            </a:bodyPr>
            <a:lstStyle/>
            <a:p>
              <a:pPr algn="ctr"/>
              <a:r>
                <a:rPr sz="700" b="0">
                  <a:solidFill>
                    <a:srgbClr val="1F2937"/>
                  </a:solidFill>
                  <a:latin typeface="Arial"/>
                </a:rPr>
                <a:t>Aaron</a:t>
              </a:r>
            </a:p>
            <a:p>
              <a:pPr algn="ctr"/>
              <a:r>
                <a:rPr sz="700" b="0">
                  <a:solidFill>
                    <a:srgbClr val="1F2937"/>
                  </a:solidFill>
                  <a:latin typeface="Arial"/>
                </a:rPr>
                <a:t>keys + vox</a:t>
              </a:r>
            </a:p>
          </p:txBody>
        </p:sp>
      </p:grpSp>
      <p:grpSp>
        <p:nvGrpSpPr>
          <p:cNvPr id="40" name="Keys (own) · stereo DI ch 19/20"/>
          <p:cNvGrpSpPr/>
          <p:nvPr/>
        </p:nvGrpSpPr>
        <p:grpSpPr>
          <a:xfrm>
            <a:off x="1040079" y="5053939"/>
            <a:ext cx="1463040" cy="446633"/>
            <a:chOff x="1040079" y="5053939"/>
            <a:chExt cx="1463040" cy="446633"/>
          </a:xfrm>
        </p:grpSpPr>
        <p:sp>
          <p:nvSpPr>
            <p:cNvPr id="41" name="Rounded Rectangle 40"/>
            <p:cNvSpPr/>
            <p:nvPr/>
          </p:nvSpPr>
          <p:spPr>
            <a:xfrm>
              <a:off x="1101648" y="5053939"/>
              <a:ext cx="1339900" cy="446633"/>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40079" y="5205628"/>
              <a:ext cx="1463040" cy="143256"/>
            </a:xfrm>
            <a:prstGeom prst="rect">
              <a:avLst/>
            </a:prstGeom>
            <a:noFill/>
          </p:spPr>
          <p:txBody>
            <a:bodyPr wrap="square" lIns="0" rIns="0" tIns="0" bIns="0" anchor="ctr">
              <a:spAutoFit/>
            </a:bodyPr>
            <a:lstStyle/>
            <a:p>
              <a:pPr algn="ctr"/>
              <a:r>
                <a:rPr sz="700" b="0">
                  <a:solidFill>
                    <a:srgbClr val="1F2937"/>
                  </a:solidFill>
                  <a:latin typeface="Arial"/>
                </a:rPr>
                <a:t>Keys (own) · stereo DI ch 19/20</a:t>
              </a:r>
            </a:p>
          </p:txBody>
        </p:sp>
      </p:grpSp>
      <p:grpSp>
        <p:nvGrpSpPr>
          <p:cNvPr id="43" name="Keira"/>
          <p:cNvGrpSpPr/>
          <p:nvPr/>
        </p:nvGrpSpPr>
        <p:grpSpPr>
          <a:xfrm>
            <a:off x="3659225" y="4998110"/>
            <a:ext cx="914400" cy="558292"/>
            <a:chOff x="3659225" y="4998110"/>
            <a:chExt cx="914400" cy="558292"/>
          </a:xfrm>
        </p:grpSpPr>
        <p:sp>
          <p:nvSpPr>
            <p:cNvPr id="44" name="Oval 43"/>
            <p:cNvSpPr/>
            <p:nvPr/>
          </p:nvSpPr>
          <p:spPr>
            <a:xfrm>
              <a:off x="3837279"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9225" y="5152288"/>
              <a:ext cx="914400" cy="249935"/>
            </a:xfrm>
            <a:prstGeom prst="rect">
              <a:avLst/>
            </a:prstGeom>
            <a:noFill/>
          </p:spPr>
          <p:txBody>
            <a:bodyPr wrap="square" lIns="0" rIns="0" tIns="0" bIns="0" anchor="ctr">
              <a:spAutoFit/>
            </a:bodyPr>
            <a:lstStyle/>
            <a:p>
              <a:pPr algn="ctr"/>
              <a:r>
                <a:rPr sz="700" b="0">
                  <a:solidFill>
                    <a:srgbClr val="1F2937"/>
                  </a:solidFill>
                  <a:latin typeface="Arial"/>
                </a:rPr>
                <a:t>Keira</a:t>
              </a:r>
            </a:p>
            <a:p>
              <a:pPr algn="ctr"/>
              <a:r>
                <a:rPr sz="700" b="0">
                  <a:solidFill>
                    <a:srgbClr val="1F2937"/>
                  </a:solidFill>
                  <a:latin typeface="Arial"/>
                </a:rPr>
                <a:t>lead vox</a:t>
              </a:r>
            </a:p>
          </p:txBody>
        </p:sp>
      </p:grpSp>
      <p:grpSp>
        <p:nvGrpSpPr>
          <p:cNvPr id="46" name="Tyler"/>
          <p:cNvGrpSpPr/>
          <p:nvPr/>
        </p:nvGrpSpPr>
        <p:grpSpPr>
          <a:xfrm>
            <a:off x="6115710" y="4998110"/>
            <a:ext cx="914400" cy="558292"/>
            <a:chOff x="6115710" y="4998110"/>
            <a:chExt cx="914400" cy="558292"/>
          </a:xfrm>
        </p:grpSpPr>
        <p:sp>
          <p:nvSpPr>
            <p:cNvPr id="47" name="Oval 46"/>
            <p:cNvSpPr/>
            <p:nvPr/>
          </p:nvSpPr>
          <p:spPr>
            <a:xfrm>
              <a:off x="6293764" y="4998110"/>
              <a:ext cx="558292" cy="558292"/>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15710" y="5098948"/>
              <a:ext cx="914400" cy="356615"/>
            </a:xfrm>
            <a:prstGeom prst="rect">
              <a:avLst/>
            </a:prstGeom>
            <a:noFill/>
          </p:spPr>
          <p:txBody>
            <a:bodyPr wrap="square" lIns="0" rIns="0" tIns="0" bIns="0" anchor="ctr">
              <a:spAutoFit/>
            </a:bodyPr>
            <a:lstStyle/>
            <a:p>
              <a:pPr algn="ctr"/>
              <a:r>
                <a:rPr sz="700" b="0">
                  <a:solidFill>
                    <a:srgbClr val="1F2937"/>
                  </a:solidFill>
                  <a:latin typeface="Arial"/>
                </a:rPr>
                <a:t>Tyler</a:t>
              </a:r>
            </a:p>
            <a:p>
              <a:pPr algn="ctr"/>
              <a:r>
                <a:rPr sz="700" b="0">
                  <a:solidFill>
                    <a:srgbClr val="1F2937"/>
                  </a:solidFill>
                  <a:latin typeface="Arial"/>
                </a:rPr>
                <a:t>guitar</a:t>
              </a:r>
            </a:p>
            <a:p>
              <a:pPr algn="ctr"/>
              <a:r>
                <a:rPr sz="700" b="0">
                  <a:solidFill>
                    <a:srgbClr val="1F2937"/>
                  </a:solidFill>
                  <a:latin typeface="Arial"/>
                </a:rPr>
                <a:t>+ vox</a:t>
              </a:r>
            </a:p>
          </p:txBody>
        </p:sp>
      </p:grpSp>
      <p:grpSp>
        <p:nvGrpSpPr>
          <p:cNvPr id="49" name="Vox 1 · ch 21"/>
          <p:cNvGrpSpPr/>
          <p:nvPr/>
        </p:nvGrpSpPr>
        <p:grpSpPr>
          <a:xfrm>
            <a:off x="902919" y="5723890"/>
            <a:ext cx="1737360" cy="594054"/>
            <a:chOff x="902919" y="5723890"/>
            <a:chExt cx="1737360" cy="594054"/>
          </a:xfrm>
        </p:grpSpPr>
        <p:sp>
          <p:nvSpPr>
            <p:cNvPr id="50" name="Oval 49"/>
            <p:cNvSpPr/>
            <p:nvPr/>
          </p:nvSpPr>
          <p:spPr>
            <a:xfrm>
              <a:off x="1604111"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2919" y="6068009"/>
              <a:ext cx="1737360" cy="249935"/>
            </a:xfrm>
            <a:prstGeom prst="rect">
              <a:avLst/>
            </a:prstGeom>
            <a:noFill/>
          </p:spPr>
          <p:txBody>
            <a:bodyPr wrap="square" lIns="0" rIns="0" tIns="0" bIns="0" anchor="ctr">
              <a:spAutoFit/>
            </a:bodyPr>
            <a:lstStyle/>
            <a:p>
              <a:pPr algn="ctr"/>
              <a:r>
                <a:rPr sz="700" b="0">
                  <a:solidFill>
                    <a:srgbClr val="1F2937"/>
                  </a:solidFill>
                  <a:latin typeface="Arial"/>
                </a:rPr>
                <a:t>Vox 1 · ch 21</a:t>
              </a:r>
            </a:p>
            <a:p>
              <a:pPr algn="ctr"/>
              <a:r>
                <a:rPr sz="700" b="0">
                  <a:solidFill>
                    <a:srgbClr val="1F2937"/>
                  </a:solidFill>
                  <a:latin typeface="Arial"/>
                </a:rPr>
                <a:t>(over the keys)</a:t>
              </a:r>
            </a:p>
          </p:txBody>
        </p:sp>
      </p:grpSp>
      <p:grpSp>
        <p:nvGrpSpPr>
          <p:cNvPr id="52" name="Wireless · ch 26"/>
          <p:cNvGrpSpPr/>
          <p:nvPr/>
        </p:nvGrpSpPr>
        <p:grpSpPr>
          <a:xfrm>
            <a:off x="3247745" y="5723890"/>
            <a:ext cx="1737360" cy="594054"/>
            <a:chOff x="3247745" y="5723890"/>
            <a:chExt cx="1737360" cy="594054"/>
          </a:xfrm>
        </p:grpSpPr>
        <p:sp>
          <p:nvSpPr>
            <p:cNvPr id="53" name="Oval 52"/>
            <p:cNvSpPr/>
            <p:nvPr/>
          </p:nvSpPr>
          <p:spPr>
            <a:xfrm>
              <a:off x="3948937"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247745" y="6068009"/>
              <a:ext cx="1737360" cy="249935"/>
            </a:xfrm>
            <a:prstGeom prst="rect">
              <a:avLst/>
            </a:prstGeom>
            <a:noFill/>
          </p:spPr>
          <p:txBody>
            <a:bodyPr wrap="square" lIns="0" rIns="0" tIns="0" bIns="0" anchor="ctr">
              <a:spAutoFit/>
            </a:bodyPr>
            <a:lstStyle/>
            <a:p>
              <a:pPr algn="ctr"/>
              <a:r>
                <a:rPr sz="700" b="0">
                  <a:solidFill>
                    <a:srgbClr val="1F2937"/>
                  </a:solidFill>
                  <a:latin typeface="Arial"/>
                </a:rPr>
                <a:t>Wireless · ch 26</a:t>
              </a:r>
            </a:p>
            <a:p>
              <a:pPr algn="ctr"/>
              <a:r>
                <a:rPr sz="700" b="0">
                  <a:solidFill>
                    <a:srgbClr val="1F2937"/>
                  </a:solidFill>
                  <a:latin typeface="Arial"/>
                </a:rPr>
                <a:t>straight stand</a:t>
              </a:r>
            </a:p>
          </p:txBody>
        </p:sp>
      </p:grpSp>
      <p:grpSp>
        <p:nvGrpSpPr>
          <p:cNvPr id="55" name="Vox 3 · ch 23"/>
          <p:cNvGrpSpPr/>
          <p:nvPr/>
        </p:nvGrpSpPr>
        <p:grpSpPr>
          <a:xfrm>
            <a:off x="5704230" y="5723890"/>
            <a:ext cx="1737360" cy="487375"/>
            <a:chOff x="5704230" y="5723890"/>
            <a:chExt cx="1737360" cy="487375"/>
          </a:xfrm>
        </p:grpSpPr>
        <p:sp>
          <p:nvSpPr>
            <p:cNvPr id="56" name="Oval 55"/>
            <p:cNvSpPr/>
            <p:nvPr/>
          </p:nvSpPr>
          <p:spPr>
            <a:xfrm>
              <a:off x="6405422" y="5723890"/>
              <a:ext cx="334975" cy="334975"/>
            </a:xfrm>
            <a:prstGeom prst="ellipse">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704230" y="6068009"/>
              <a:ext cx="1737360" cy="143256"/>
            </a:xfrm>
            <a:prstGeom prst="rect">
              <a:avLst/>
            </a:prstGeom>
            <a:noFill/>
          </p:spPr>
          <p:txBody>
            <a:bodyPr wrap="square" lIns="0" rIns="0" tIns="0" bIns="0" anchor="ctr">
              <a:spAutoFit/>
            </a:bodyPr>
            <a:lstStyle/>
            <a:p>
              <a:pPr algn="ctr"/>
              <a:r>
                <a:rPr sz="700" b="0">
                  <a:solidFill>
                    <a:srgbClr val="1F2937"/>
                  </a:solidFill>
                  <a:latin typeface="Arial"/>
                </a:rPr>
                <a:t>Vox 3 · ch 23</a:t>
              </a:r>
            </a:p>
          </p:txBody>
        </p:sp>
      </p:grpSp>
      <p:grpSp>
        <p:nvGrpSpPr>
          <p:cNvPr id="58" name="Vox 4 · fold down"/>
          <p:cNvGrpSpPr/>
          <p:nvPr/>
        </p:nvGrpSpPr>
        <p:grpSpPr>
          <a:xfrm>
            <a:off x="8049056" y="5723890"/>
            <a:ext cx="1737360" cy="487375"/>
            <a:chOff x="8049056" y="5723890"/>
            <a:chExt cx="1737360" cy="487375"/>
          </a:xfrm>
        </p:grpSpPr>
        <p:sp>
          <p:nvSpPr>
            <p:cNvPr id="59" name="Oval 58"/>
            <p:cNvSpPr/>
            <p:nvPr/>
          </p:nvSpPr>
          <p:spPr>
            <a:xfrm>
              <a:off x="8750249" y="5723890"/>
              <a:ext cx="334975" cy="334975"/>
            </a:xfrm>
            <a:prstGeom prst="ellipse">
              <a:avLst/>
            </a:prstGeom>
            <a:solidFill>
              <a:srgbClr val="FFFFFF"/>
            </a:solidFill>
            <a:ln w="12700">
              <a:solidFill>
                <a:srgbClr val="D1D5D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049056" y="6068009"/>
              <a:ext cx="1737360" cy="143256"/>
            </a:xfrm>
            <a:prstGeom prst="rect">
              <a:avLst/>
            </a:prstGeom>
            <a:noFill/>
          </p:spPr>
          <p:txBody>
            <a:bodyPr wrap="square" lIns="0" rIns="0" tIns="0" bIns="0" anchor="ctr">
              <a:spAutoFit/>
            </a:bodyPr>
            <a:lstStyle/>
            <a:p>
              <a:pPr algn="ctr"/>
              <a:r>
                <a:rPr sz="700" b="0">
                  <a:solidFill>
                    <a:srgbClr val="9CA3AF"/>
                  </a:solidFill>
                  <a:latin typeface="Arial"/>
                </a:rPr>
                <a:t>Vox 4 · fold down</a:t>
              </a:r>
            </a:p>
          </p:txBody>
        </p:sp>
      </p:grpSp>
      <p:sp>
        <p:nvSpPr>
          <p:cNvPr id="61" name=""/>
          <p:cNvSpPr/>
          <p:nvPr/>
        </p:nvSpPr>
        <p:spPr>
          <a:xfrm>
            <a:off x="320040" y="6599326"/>
            <a:ext cx="146304" cy="118872"/>
          </a:xfrm>
          <a:prstGeom prst="roundRect">
            <a:avLst/>
          </a:prstGeom>
          <a:solidFill>
            <a:srgbClr val="FDF1E3"/>
          </a:solidFill>
          <a:ln w="12700">
            <a:solidFill>
              <a:srgbClr val="9CA3AF"/>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2" name="TextBox 61"/>
          <p:cNvSpPr txBox="1"/>
          <p:nvPr/>
        </p:nvSpPr>
        <p:spPr>
          <a:xfrm>
            <a:off x="484632"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Backline</a:t>
            </a:r>
          </a:p>
        </p:txBody>
      </p:sp>
      <p:sp>
        <p:nvSpPr>
          <p:cNvPr id="63" name=""/>
          <p:cNvSpPr/>
          <p:nvPr/>
        </p:nvSpPr>
        <p:spPr>
          <a:xfrm>
            <a:off x="1047902" y="6599326"/>
            <a:ext cx="146304" cy="118872"/>
          </a:xfrm>
          <a:prstGeom prst="roundRect">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4" name="TextBox 63"/>
          <p:cNvSpPr txBox="1"/>
          <p:nvPr/>
        </p:nvSpPr>
        <p:spPr>
          <a:xfrm>
            <a:off x="12124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Player</a:t>
            </a:r>
          </a:p>
        </p:txBody>
      </p:sp>
      <p:sp>
        <p:nvSpPr>
          <p:cNvPr id="65" name=""/>
          <p:cNvSpPr/>
          <p:nvPr/>
        </p:nvSpPr>
        <p:spPr>
          <a:xfrm>
            <a:off x="1662379" y="6599326"/>
            <a:ext cx="146304" cy="118872"/>
          </a:xfrm>
          <a:prstGeom prst="roundRect">
            <a:avLst/>
          </a:prstGeom>
          <a:solidFill>
            <a:srgbClr val="F7E8F2"/>
          </a:solidFill>
          <a:ln w="12700">
            <a:solidFill>
              <a:srgbClr val="C084B5"/>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6" name="TextBox 65"/>
          <p:cNvSpPr txBox="1"/>
          <p:nvPr/>
        </p:nvSpPr>
        <p:spPr>
          <a:xfrm>
            <a:off x="1826971"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Vocal mic</a:t>
            </a:r>
          </a:p>
        </p:txBody>
      </p:sp>
      <p:sp>
        <p:nvSpPr>
          <p:cNvPr id="67" name=""/>
          <p:cNvSpPr/>
          <p:nvPr/>
        </p:nvSpPr>
        <p:spPr>
          <a:xfrm>
            <a:off x="2446934" y="6599326"/>
            <a:ext cx="146304" cy="118872"/>
          </a:xfrm>
          <a:prstGeom prst="roundRect">
            <a:avLst/>
          </a:prstGeom>
          <a:solidFill>
            <a:srgbClr val="FEF3C7"/>
          </a:solidFill>
          <a:ln w="12700">
            <a:solidFill>
              <a:srgbClr val="D97706"/>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68" name="TextBox 67"/>
          <p:cNvSpPr txBox="1"/>
          <p:nvPr/>
        </p:nvSpPr>
        <p:spPr>
          <a:xfrm>
            <a:off x="261152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DI box</a:t>
            </a:r>
          </a:p>
        </p:txBody>
      </p:sp>
      <p:sp>
        <p:nvSpPr>
          <p:cNvPr id="69" name=""/>
          <p:cNvSpPr/>
          <p:nvPr/>
        </p:nvSpPr>
        <p:spPr>
          <a:xfrm>
            <a:off x="3061411" y="6599326"/>
            <a:ext cx="146304" cy="118872"/>
          </a:xfrm>
          <a:prstGeom prst="roundRect">
            <a:avLst/>
          </a:prstGeom>
          <a:solidFill>
            <a:srgbClr val="DCFCE7"/>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0" name="TextBox 69"/>
          <p:cNvSpPr txBox="1"/>
          <p:nvPr/>
        </p:nvSpPr>
        <p:spPr>
          <a:xfrm>
            <a:off x="3226003"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Keys</a:t>
            </a:r>
          </a:p>
        </p:txBody>
      </p:sp>
      <p:sp>
        <p:nvSpPr>
          <p:cNvPr id="71" name=""/>
          <p:cNvSpPr/>
          <p:nvPr/>
        </p:nvSpPr>
        <p:spPr>
          <a:xfrm>
            <a:off x="3562502" y="6599326"/>
            <a:ext cx="146304" cy="118872"/>
          </a:xfrm>
          <a:prstGeom prst="roundRect">
            <a:avLst/>
          </a:prstGeom>
          <a:solidFill>
            <a:srgbClr val="E0F2FE"/>
          </a:solidFill>
          <a:ln w="1270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2" name="TextBox 71"/>
          <p:cNvSpPr txBox="1"/>
          <p:nvPr/>
        </p:nvSpPr>
        <p:spPr>
          <a:xfrm>
            <a:off x="3727094"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Laptop / screen</a:t>
            </a:r>
          </a:p>
        </p:txBody>
      </p:sp>
      <p:sp>
        <p:nvSpPr>
          <p:cNvPr id="73" name=""/>
          <p:cNvSpPr/>
          <p:nvPr/>
        </p:nvSpPr>
        <p:spPr>
          <a:xfrm>
            <a:off x="4687214" y="6599326"/>
            <a:ext cx="146304" cy="118872"/>
          </a:xfrm>
          <a:prstGeom prst="roundRect">
            <a:avLst/>
          </a:prstGeom>
          <a:solidFill>
            <a:srgbClr val="FFEDD5"/>
          </a:solidFill>
          <a:ln w="12700">
            <a:solidFill>
              <a:srgbClr val="EA580C"/>
            </a:solidFill>
          </a:ln>
          <a:effectLst/>
        </p:spPr>
        <p:style>
          <a:lnRef idx="1">
            <a:schemeClr val="accent1"/>
          </a:lnRef>
          <a:fillRef idx="3">
            <a:schemeClr val="accent1"/>
          </a:fillRef>
          <a:effectRef idx="2">
            <a:schemeClr val="accent1"/>
          </a:effectRef>
          <a:fontRef idx="minor">
            <a:schemeClr val="lt1"/>
          </a:fontRef>
        </p:style>
        <p:txBody>
          <a:bodyPr rtlCol="0" anchor="ctr" lIns="27432" rIns="27432" tIns="18288" bIns="18288" wrap="square"/>
          <a:lstStyle/>
          <a:p>
            <a:pPr algn="ctr"/>
            <a:r>
              <a:rPr sz="700" b="0">
                <a:solidFill>
                  <a:srgbClr val="1F2937"/>
                </a:solidFill>
                <a:latin typeface="Arial"/>
              </a:rPr>
              <a:t/>
            </a:r>
          </a:p>
        </p:txBody>
      </p:sp>
      <p:sp>
        <p:nvSpPr>
          <p:cNvPr id="74" name="TextBox 73"/>
          <p:cNvSpPr txBox="1"/>
          <p:nvPr/>
        </p:nvSpPr>
        <p:spPr>
          <a:xfrm>
            <a:off x="4851806" y="6562750"/>
            <a:ext cx="914400" cy="182880"/>
          </a:xfrm>
          <a:prstGeom prst="rect">
            <a:avLst/>
          </a:prstGeom>
          <a:noFill/>
        </p:spPr>
        <p:txBody>
          <a:bodyPr wrap="square" lIns="27432" rIns="27432" tIns="27432" bIns="27432" anchor="t">
            <a:spAutoFit/>
          </a:bodyPr>
          <a:lstStyle/>
          <a:p>
            <a:pPr algn="l"/>
            <a:r>
              <a:rPr sz="700" b="0">
                <a:solidFill>
                  <a:srgbClr val="6B7280"/>
                </a:solidFill>
                <a:latin typeface="Arial"/>
              </a:rPr>
              <a:t>In-ears / wireless</a:t>
            </a:r>
          </a:p>
        </p:txBody>
      </p:sp>
      <p:sp>
        <p:nvSpPr>
          <p:cNvPr id="75" name="TextBox 74"/>
          <p:cNvSpPr txBox="1"/>
          <p:nvPr/>
        </p:nvSpPr>
        <p:spPr>
          <a:xfrm>
            <a:off x="5982004" y="6562750"/>
            <a:ext cx="1828800" cy="182880"/>
          </a:xfrm>
          <a:prstGeom prst="rect">
            <a:avLst/>
          </a:prstGeom>
          <a:noFill/>
        </p:spPr>
        <p:txBody>
          <a:bodyPr wrap="square" lIns="27432" rIns="27432" tIns="27432" bIns="27432" anchor="t">
            <a:spAutoFit/>
          </a:bodyPr>
          <a:lstStyle/>
          <a:p>
            <a:pPr algn="l"/>
            <a:r>
              <a:rPr sz="700" b="0">
                <a:solidFill>
                  <a:srgbClr val="6B7280"/>
                </a:solidFill>
                <a:latin typeface="Arial"/>
              </a:rPr>
              <a:t>Dashed = not used this set</a:t>
            </a:r>
          </a:p>
        </p:txBody>
      </p:sp>
      <p:sp>
        <p:nvSpPr>
          <p:cNvPr id="76" name="Rectangle 75"/>
          <p:cNvSpPr/>
          <p:nvPr/>
        </p:nvSpPr>
        <p:spPr>
          <a:xfrm>
            <a:off x="320040" y="6882790"/>
            <a:ext cx="1116584" cy="4572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509776" y="6818782"/>
            <a:ext cx="5486400" cy="182880"/>
          </a:xfrm>
          <a:prstGeom prst="rect">
            <a:avLst/>
          </a:prstGeom>
          <a:noFill/>
        </p:spPr>
        <p:txBody>
          <a:bodyPr wrap="square" lIns="27432" rIns="27432" tIns="27432" bIns="27432" anchor="t">
            <a:spAutoFit/>
          </a:bodyPr>
          <a:lstStyle/>
          <a:p>
            <a:pPr algn="l"/>
            <a:r>
              <a:rPr sz="700" b="0">
                <a:solidFill>
                  <a:srgbClr val="6B7280"/>
                </a:solidFill>
                <a:latin typeface="Arial"/>
              </a:rPr>
              <a:t>1 m · all to scale; DI boxes and mic stands slightly enlarged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Amakazaam! (Amazon) — patch and notes</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9:00–9:25 pm · soundcheck 5:15 pm · contact on the day: Keira Daley</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320040" y="777240"/>
          <a:ext cx="4663440" cy="3182481"/>
        </p:xfrm>
        <a:graphic>
          <a:graphicData uri="http://schemas.openxmlformats.org/drawingml/2006/table">
            <a:tbl>
              <a:tblPr firstRow="1">
                <a:tableStyleId>{5C22544A-7EE6-4342-B048-85BDC9FD1C3A}</a:tableStyleId>
              </a:tblPr>
              <a:tblGrid>
                <a:gridCol w="502920"/>
                <a:gridCol w="1143000"/>
                <a:gridCol w="3017520"/>
              </a:tblGrid>
              <a:tr h="232282">
                <a:tc>
                  <a:txBody>
                    <a:bodyPr wrap="square"/>
                    <a:lstStyle/>
                    <a:p>
                      <a:pPr algn="l"/>
                      <a:r>
                        <a:rPr sz="850" b="1">
                          <a:solidFill>
                            <a:srgbClr val="1F2937"/>
                          </a:solidFill>
                          <a:latin typeface="Arial"/>
                        </a:rPr>
                        <a:t>Ch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Input</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50" b="1">
                          <a:solidFill>
                            <a:srgbClr val="1F2937"/>
                          </a:solidFill>
                          <a:latin typeface="Arial"/>
                        </a:rPr>
                        <a:t>Who and notes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232282">
                <a:tc>
                  <a:txBody>
                    <a:bodyPr wrap="square"/>
                    <a:lstStyle/>
                    <a:p>
                      <a:pPr algn="l"/>
                      <a:r>
                        <a:rPr sz="850" b="1">
                          <a:solidFill>
                            <a:srgbClr val="1F2937"/>
                          </a:solidFill>
                          <a:latin typeface="Arial"/>
                        </a:rPr>
                        <a:t>1–10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Drum kit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Andrew; Keira plays on song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Bass DI</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Sam: Ampeg DI out (uses a tuner)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Bass cab mic</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Ampeg cab</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Gtr 1 (Fender)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Tim, with pedalboard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15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Gtr 2 (Vox AC30)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Tyler, with pedalboard</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63981">
                <a:tc>
                  <a:txBody>
                    <a:bodyPr wrap="square"/>
                    <a:lstStyle/>
                    <a:p>
                      <a:pPr algn="l"/>
                      <a:r>
                        <a:rPr sz="850" b="1">
                          <a:solidFill>
                            <a:srgbClr val="1F2937"/>
                          </a:solidFill>
                          <a:latin typeface="Arial"/>
                        </a:rPr>
                        <a:t>19/20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Keys L/R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Aaron: own keyboard, stereo, needs a DI with two inputs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63981">
                <a:tc>
                  <a:txBody>
                    <a:bodyPr wrap="square"/>
                    <a:lstStyle/>
                    <a:p>
                      <a:pPr algn="l"/>
                      <a:r>
                        <a:rPr sz="850" b="1">
                          <a:solidFill>
                            <a:srgbClr val="1F2937"/>
                          </a:solidFill>
                          <a:latin typeface="Arial"/>
                        </a:rPr>
                        <a:t>21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Aaron: backing on song 6. Andrew's cowbell spot on song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Tyler: co-lead on song 3, backing on song 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Vox 5 (drums)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Andrew: spoken line. Keira: sings song 4 from the kit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63981">
                <a:tc>
                  <a:txBody>
                    <a:bodyPr wrap="square"/>
                    <a:lstStyle/>
                    <a:p>
                      <a:pPr algn="l"/>
                      <a:r>
                        <a:rPr sz="850" b="1">
                          <a:solidFill>
                            <a:srgbClr val="1F2937"/>
                          </a:solidFill>
                          <a:latin typeface="Arial"/>
                        </a:rPr>
                        <a:t>26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Wireless vocal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Keira: own mic and receiver (XLR out), on a straight stand at centre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32282">
                <a:tc>
                  <a:txBody>
                    <a:bodyPr wrap="square"/>
                    <a:lstStyle/>
                    <a:p>
                      <a:pPr algn="l"/>
                      <a:r>
                        <a:rPr sz="850" b="1">
                          <a:solidFill>
                            <a:srgbClr val="1F2937"/>
                          </a:solidFill>
                          <a:latin typeface="Arial"/>
                        </a:rPr>
                        <a:t>27/28</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Playback L/R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50" b="0">
                          <a:solidFill>
                            <a:srgbClr val="1F2937"/>
                          </a:solidFill>
                          <a:latin typeface="Arial"/>
                        </a:rPr>
                        <a:t>Laptop audio over HDMI: Alexa voice-over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
        <p:nvSpPr>
          <p:cNvPr id="6" name="TextBox 5"/>
          <p:cNvSpPr txBox="1"/>
          <p:nvPr/>
        </p:nvSpPr>
        <p:spPr>
          <a:xfrm>
            <a:off x="320040" y="4005452"/>
            <a:ext cx="4663440" cy="457200"/>
          </a:xfrm>
          <a:prstGeom prst="rect">
            <a:avLst/>
          </a:prstGeom>
          <a:noFill/>
        </p:spPr>
        <p:txBody>
          <a:bodyPr wrap="square" lIns="27432" rIns="27432" tIns="27432" bIns="27432" anchor="t">
            <a:spAutoFit/>
          </a:bodyPr>
          <a:lstStyle/>
          <a:p>
            <a:pPr algn="l"/>
            <a:r>
              <a:rPr sz="800" b="0">
                <a:solidFill>
                  <a:srgbClr val="6B7280"/>
                </a:solidFill>
                <a:latin typeface="Arial"/>
              </a:rPr>
              <a:t>Not used this set: ch 14, 16, 17, 18, 22, 24. Ch 31/32 are the crowd mics, for the recording only.</a:t>
            </a:r>
          </a:p>
        </p:txBody>
      </p:sp>
      <p:sp>
        <p:nvSpPr>
          <p:cNvPr id="7" name="Monitors and in-ears"/>
          <p:cNvSpPr/>
          <p:nvPr/>
        </p:nvSpPr>
        <p:spPr>
          <a:xfrm>
            <a:off x="5257799" y="777240"/>
            <a:ext cx="5111496" cy="794067"/>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Monitors and in-ears</a:t>
            </a:r>
          </a:p>
          <a:p>
            <a:r>
              <a:rPr sz="950">
                <a:solidFill>
                  <a:srgbClr val="1F2937"/>
                </a:solidFill>
                <a:latin typeface="Arial"/>
              </a:rPr>
              <a:t>Keira has her own wireless in-ears; her transmitter takes an XLR from the desk. The mix is vocals only: her wireless (ch 26), plus Vox 5 when she sings from the kit (song 4), plus a little Vox 3 on song 3.</a:t>
            </a:r>
          </a:p>
        </p:txBody>
      </p:sp>
      <p:sp>
        <p:nvSpPr>
          <p:cNvPr id="8" name="Screen and playback"/>
          <p:cNvSpPr/>
          <p:nvPr/>
        </p:nvSpPr>
        <p:spPr>
          <a:xfrm>
            <a:off x="5257799" y="1681035"/>
            <a:ext cx="5111496" cy="794067"/>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Screen and playback</a:t>
            </a:r>
          </a:p>
          <a:p>
            <a:r>
              <a:rPr sz="950">
                <a:solidFill>
                  <a:srgbClr val="1F2937"/>
                </a:solidFill>
                <a:latin typeface="Arial"/>
              </a:rPr>
              <a:t>Laptop at side stage on HDMI. Video all the way through; Alexa voice-over audio at the intro, between songs 3 → 4 and 5 → 6, and at the finish (ch 27/28). Keira runs it with a clicker.</a:t>
            </a:r>
          </a:p>
        </p:txBody>
      </p:sp>
      <p:sp>
        <p:nvSpPr>
          <p:cNvPr id="9" name="Notes and to confirm"/>
          <p:cNvSpPr/>
          <p:nvPr/>
        </p:nvSpPr>
        <p:spPr>
          <a:xfrm>
            <a:off x="5257799" y="2584831"/>
            <a:ext cx="5111496" cy="794067"/>
          </a:xfrm>
          <a:prstGeom prst="rect">
            <a:avLst/>
          </a:prstGeom>
          <a:solidFill>
            <a:srgbClr val="F3F0FF"/>
          </a:solidFill>
          <a:ln>
            <a:noFill/>
          </a:ln>
          <a:effectLst/>
        </p:spPr>
        <p:style>
          <a:lnRef idx="1">
            <a:schemeClr val="accent1"/>
          </a:lnRef>
          <a:fillRef idx="3">
            <a:schemeClr val="accent1"/>
          </a:fillRef>
          <a:effectRef idx="2">
            <a:schemeClr val="accent1"/>
          </a:effectRef>
          <a:fontRef idx="minor">
            <a:schemeClr val="lt1"/>
          </a:fontRef>
        </p:style>
        <p:txBody>
          <a:bodyPr rtlCol="0" anchor="t" lIns="73152" rIns="73152" tIns="54864" bIns="54864" wrap="square"/>
          <a:lstStyle/>
          <a:p>
            <a:pPr algn="l"/>
            <a:r>
              <a:rPr sz="1000" b="1">
                <a:solidFill>
                  <a:srgbClr val="7C3AED"/>
                </a:solidFill>
                <a:latin typeface="Arial"/>
              </a:rPr>
              <a:t>Notes and to confirm</a:t>
            </a:r>
          </a:p>
          <a:p>
            <a:r>
              <a:rPr sz="950">
                <a:solidFill>
                  <a:srgbClr val="1F2937"/>
                </a:solidFill>
                <a:latin typeface="Arial"/>
              </a:rPr>
              <a:t>Song 4: Keira and Andrew swap on the kit. Andrew plays cowbell at Vox 1, then takes the kit back at the guitar solo. Where the wireless receiver and in-ear transmitter sit. Planned running time is 24:00 in a 25-minute slot.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201168"/>
            <a:ext cx="6583680" cy="365760"/>
          </a:xfrm>
          <a:prstGeom prst="rect">
            <a:avLst/>
          </a:prstGeom>
          <a:noFill/>
        </p:spPr>
        <p:txBody>
          <a:bodyPr wrap="square" lIns="27432" rIns="27432" tIns="27432" bIns="27432" anchor="t">
            <a:spAutoFit/>
          </a:bodyPr>
          <a:lstStyle/>
          <a:p>
            <a:pPr algn="l"/>
            <a:r>
              <a:rPr sz="1700" b="1">
                <a:solidFill>
                  <a:srgbClr val="1F2937"/>
                </a:solidFill>
                <a:latin typeface="Arial"/>
              </a:rPr>
              <a:t>Amakazaam! (Amazon) — the set</a:t>
            </a:r>
          </a:p>
        </p:txBody>
      </p:sp>
      <p:sp>
        <p:nvSpPr>
          <p:cNvPr id="3" name="TextBox 2"/>
          <p:cNvSpPr txBox="1"/>
          <p:nvPr/>
        </p:nvSpPr>
        <p:spPr>
          <a:xfrm>
            <a:off x="5669280" y="182880"/>
            <a:ext cx="4700016" cy="384048"/>
          </a:xfrm>
          <a:prstGeom prst="rect">
            <a:avLst/>
          </a:prstGeom>
          <a:noFill/>
        </p:spPr>
        <p:txBody>
          <a:bodyPr wrap="square" lIns="27432" rIns="27432" tIns="27432" bIns="27432" anchor="t">
            <a:spAutoFit/>
          </a:bodyPr>
          <a:lstStyle/>
          <a:p>
            <a:pPr algn="r"/>
            <a:r>
              <a:rPr sz="900" b="0">
                <a:solidFill>
                  <a:srgbClr val="6B7280"/>
                </a:solidFill>
                <a:latin typeface="Arial"/>
              </a:rPr>
              <a:t>Set 9:00–9:25 pm · soundcheck 5:15 pm · contact on the day: Keira Daley</a:t>
            </a:r>
          </a:p>
        </p:txBody>
      </p:sp>
      <p:sp>
        <p:nvSpPr>
          <p:cNvPr id="4" name="Rectangle 3"/>
          <p:cNvSpPr/>
          <p:nvPr/>
        </p:nvSpPr>
        <p:spPr>
          <a:xfrm>
            <a:off x="320040" y="621792"/>
            <a:ext cx="10049256" cy="274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20040" y="731520"/>
            <a:ext cx="10049256" cy="274320"/>
          </a:xfrm>
          <a:prstGeom prst="rect">
            <a:avLst/>
          </a:prstGeom>
          <a:noFill/>
        </p:spPr>
        <p:txBody>
          <a:bodyPr wrap="square" lIns="27432" rIns="27432" tIns="27432" bIns="27432" anchor="t">
            <a:spAutoFit/>
          </a:bodyPr>
          <a:lstStyle/>
          <a:p>
            <a:pPr algn="l"/>
            <a:r>
              <a:rPr sz="900" b="0">
                <a:solidFill>
                  <a:srgbClr val="6B7280"/>
                </a:solidFill>
                <a:latin typeface="Arial"/>
              </a:rPr>
              <a:t>Running time: 24:00 planned, in a 25-minute slot. The band's own run sheet has the full spoken script.</a:t>
            </a:r>
          </a:p>
        </p:txBody>
      </p:sp>
      <p:graphicFrame>
        <p:nvGraphicFramePr>
          <p:cNvPr id="6" name="Table 5"/>
          <p:cNvGraphicFramePr>
            <a:graphicFrameLocks noGrp="1"/>
          </p:cNvGraphicFramePr>
          <p:nvPr/>
        </p:nvGraphicFramePr>
        <p:xfrm>
          <a:off x="320040" y="1097280"/>
          <a:ext cx="10049256" cy="5126725"/>
        </p:xfrm>
        <a:graphic>
          <a:graphicData uri="http://schemas.openxmlformats.org/drawingml/2006/table">
            <a:tbl>
              <a:tblPr firstRow="1">
                <a:tableStyleId>{5C22544A-7EE6-4342-B048-85BDC9FD1C3A}</a:tableStyleId>
              </a:tblPr>
              <a:tblGrid>
                <a:gridCol w="594360"/>
                <a:gridCol w="2148840"/>
                <a:gridCol w="502920"/>
                <a:gridCol w="2743200"/>
                <a:gridCol w="1417320"/>
                <a:gridCol w="2642616"/>
              </a:tblGrid>
              <a:tr h="224535">
                <a:tc>
                  <a:txBody>
                    <a:bodyPr wrap="square"/>
                    <a:lstStyle/>
                    <a:p>
                      <a:pPr algn="l"/>
                      <a:r>
                        <a:rPr sz="800" b="1">
                          <a:solidFill>
                            <a:srgbClr val="1F2937"/>
                          </a:solidFill>
                          <a:latin typeface="Arial"/>
                        </a:rPr>
                        <a:t>Step</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Song, or what happens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Length</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On stage · lead · moves</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Screen · playback</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c>
                  <a:txBody>
                    <a:bodyPr wrap="square"/>
                    <a:lstStyle/>
                    <a:p>
                      <a:pPr algn="l"/>
                      <a:r>
                        <a:rPr sz="800" b="1">
                          <a:solidFill>
                            <a:srgbClr val="1F2937"/>
                          </a:solidFill>
                          <a:latin typeface="Arial"/>
                        </a:rPr>
                        <a:t>Lighting</a:t>
                      </a:r>
                    </a:p>
                  </a:txBody>
                  <a:tcPr marL="45720" marR="45720" marT="32004" marB="32004" anchor="ctr">
                    <a:lnL w="6350">
                      <a:solidFill>
                        <a:srgbClr val="D1D5DB"/>
                      </a:solidFill>
                    </a:lnL>
                    <a:lnR w="6350">
                      <a:solidFill>
                        <a:srgbClr val="D1D5DB"/>
                      </a:solidFill>
                    </a:lnR>
                    <a:lnT w="6350">
                      <a:solidFill>
                        <a:srgbClr val="D1D5DB"/>
                      </a:solidFill>
                    </a:lnT>
                    <a:lnB w="6350">
                      <a:solidFill>
                        <a:srgbClr val="D1D5DB"/>
                      </a:solidFill>
                    </a:lnB>
                    <a:solidFill>
                      <a:srgbClr val="F3F0FF"/>
                    </a:solidFill>
                  </a:tcPr>
                </a:tc>
              </a:tr>
              <a:tr h="348487">
                <a:tc>
                  <a:txBody>
                    <a:bodyPr wrap="square"/>
                    <a:lstStyle/>
                    <a:p>
                      <a:pPr algn="l"/>
                      <a:r>
                        <a:rPr sz="800" b="1">
                          <a:solidFill>
                            <a:srgbClr val="1F2937"/>
                          </a:solidFill>
                          <a:latin typeface="Arial"/>
                        </a:rPr>
                        <a:t>Intro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Alexa's intro (band already on stage)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0:10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Blackout until Alexa says “Amakazaam!”, then bring up a warm wash</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Song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Valerie — Amy Winehouse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Keira (wireless, centre)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Warm vintage vibes, gold and pink</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1 →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Straight into the next song</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Keira talks over the intro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Wash with screen visible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348487">
                <a:tc>
                  <a:txBody>
                    <a:bodyPr wrap="square"/>
                    <a:lstStyle/>
                    <a:p>
                      <a:pPr algn="l"/>
                      <a:r>
                        <a:rPr sz="800" b="1">
                          <a:solidFill>
                            <a:srgbClr val="1F2937"/>
                          </a:solidFill>
                          <a:latin typeface="Arial"/>
                        </a:rPr>
                        <a:t>Song 2</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Superstition — Stevie Wonder</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Keira</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Groovy and spooky? Halloween orange, occasional greens, occasional disco?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2 →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Straight into the next song</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0:20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Keira talks over the intro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Wash with screen visible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472440">
                <a:tc>
                  <a:txBody>
                    <a:bodyPr wrap="square"/>
                    <a:lstStyle/>
                    <a:p>
                      <a:pPr algn="l"/>
                      <a:r>
                        <a:rPr sz="800" b="1">
                          <a:solidFill>
                            <a:srgbClr val="1F2937"/>
                          </a:solidFill>
                          <a:latin typeface="Arial"/>
                        </a:rPr>
                        <a:t>Song 3</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Under Pressure — Queen &amp; David Bowie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Keira (wireless) and Tyler (Vox 3). Add a bit of Vox 3 to Keira's in-ears</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Start with spotlights on lead vox (wireless) and lead guitar (Vox 3). Bright whites with red and blue accents. Build and break tension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472440">
                <a:tc>
                  <a:txBody>
                    <a:bodyPr wrap="square"/>
                    <a:lstStyle/>
                    <a:p>
                      <a:pPr algn="l"/>
                      <a:r>
                        <a:rPr sz="800" b="1">
                          <a:solidFill>
                            <a:srgbClr val="1F2937"/>
                          </a:solidFill>
                          <a:latin typeface="Arial"/>
                        </a:rPr>
                        <a:t>3 →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Straight into the next song, over dialogue between Keira, Alexa and Andrew</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0:30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Andrew speaks from the kit (Vox 5), then Keira takes over the drums and Andrew moves to cowbell at Vox 1. Keira's in-ears need Vox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Laptop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Wash with screen visible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596391">
                <a:tc>
                  <a:txBody>
                    <a:bodyPr wrap="square"/>
                    <a:lstStyle/>
                    <a:p>
                      <a:pPr algn="l"/>
                      <a:r>
                        <a:rPr sz="800" b="1">
                          <a:solidFill>
                            <a:srgbClr val="1F2937"/>
                          </a:solidFill>
                          <a:latin typeface="Arial"/>
                        </a:rPr>
                        <a:t>Song 4</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Are You Gonna Go My Way — Lenny Kravitz</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3:00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Keira sings from the kit on Vox 5; Andrew on cowbell near Vox 1. At the hits at the top of the guitar solo Andrew takes the kit back, and Keira sings the final line on the wireless at centre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Cue: Keira's first drum fill (after the opening hits). Epic stadium: flashes on song accents, backlights, colour and movement</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4 →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Straight into the next song</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Keira talks over the intro. Sam tunes down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Moody, but with screen visible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472440">
                <a:tc>
                  <a:txBody>
                    <a:bodyPr wrap="square"/>
                    <a:lstStyle/>
                    <a:p>
                      <a:pPr algn="l"/>
                      <a:r>
                        <a:rPr sz="800" b="1">
                          <a:solidFill>
                            <a:srgbClr val="1F2937"/>
                          </a:solidFill>
                          <a:latin typeface="Arial"/>
                        </a:rPr>
                        <a:t>Song 5</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You Oughta Know — Alanis Morissette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4:00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Keira</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At the first lyric, bring the wash down to just a spotlight on lead vox. Moody blue and magenta. Start small and build to hectic</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348487">
                <a:tc>
                  <a:txBody>
                    <a:bodyPr wrap="square"/>
                    <a:lstStyle/>
                    <a:p>
                      <a:pPr algn="l"/>
                      <a:r>
                        <a:rPr sz="800" b="1">
                          <a:solidFill>
                            <a:srgbClr val="1F2937"/>
                          </a:solidFill>
                          <a:latin typeface="Arial"/>
                        </a:rPr>
                        <a:t>5 → 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Alexa dialogue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0:10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Keira (wireless) and Alexa (laptop). Sam tunes back up</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Laptop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c>
                  <a:txBody>
                    <a:bodyPr wrap="square"/>
                    <a:lstStyle/>
                    <a:p>
                      <a:pPr algn="l"/>
                      <a:r>
                        <a:rPr sz="800" b="0">
                          <a:solidFill>
                            <a:srgbClr val="1F2937"/>
                          </a:solidFill>
                          <a:latin typeface="Arial"/>
                        </a:rPr>
                        <a:t>Wash with screen visible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7E6"/>
                    </a:solidFill>
                  </a:tcPr>
                </a:tc>
              </a:tr>
              <a:tr h="720343">
                <a:tc>
                  <a:txBody>
                    <a:bodyPr wrap="square"/>
                    <a:lstStyle/>
                    <a:p>
                      <a:pPr algn="l"/>
                      <a:r>
                        <a:rPr sz="800" b="1">
                          <a:solidFill>
                            <a:srgbClr val="1F2937"/>
                          </a:solidFill>
                          <a:latin typeface="Arial"/>
                        </a:rPr>
                        <a:t>Song 6</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Killing in the Name — Rage Against the Machine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5:00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Everyone. Lead: Keira. Backing: Tyler (Vox 3), Aaron (Vox 1)</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video: the on-screen gauge explodes at the big section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Song cue: “Okay crew, we know what to do.” Start dark, end in absolute carnage: red and orange like flames, flashes on song accents, strobe by the end. Important: “destruction” lights at the big “fuck you I won't do what you tell me!” section</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r h="224535">
                <a:tc>
                  <a:txBody>
                    <a:bodyPr wrap="square"/>
                    <a:lstStyle/>
                    <a:p>
                      <a:pPr algn="l"/>
                      <a:r>
                        <a:rPr sz="800" b="1">
                          <a:solidFill>
                            <a:srgbClr val="1F2937"/>
                          </a:solidFill>
                          <a:latin typeface="Arial"/>
                        </a:rPr>
                        <a:t>Finish</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Alexa's outro, curtain call</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0:10</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Laptop audio and video</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c>
                  <a:txBody>
                    <a:bodyPr wrap="square"/>
                    <a:lstStyle/>
                    <a:p>
                      <a:pPr algn="l"/>
                      <a:r>
                        <a:rPr sz="800" b="0">
                          <a:solidFill>
                            <a:srgbClr val="1F2937"/>
                          </a:solidFill>
                          <a:latin typeface="Arial"/>
                        </a:rPr>
                        <a:t>Wash with screen visible</a:t>
                      </a:r>
                    </a:p>
                  </a:txBody>
                  <a:tcPr marL="45720" marR="45720" marT="32004" marB="32004" anchor="t">
                    <a:lnL w="6350">
                      <a:solidFill>
                        <a:srgbClr val="D1D5DB"/>
                      </a:solidFill>
                    </a:lnL>
                    <a:lnR w="6350">
                      <a:solidFill>
                        <a:srgbClr val="D1D5DB"/>
                      </a:solidFill>
                    </a:lnR>
                    <a:lnT w="6350">
                      <a:solidFill>
                        <a:srgbClr val="D1D5DB"/>
                      </a:solidFill>
                    </a:lnT>
                    <a:lnB w="6350">
                      <a:solidFill>
                        <a:srgbClr val="D1D5DB"/>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