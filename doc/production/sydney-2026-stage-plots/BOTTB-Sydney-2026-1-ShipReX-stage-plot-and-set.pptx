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ShipReX (Rex Software) — stage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7:15–7:40 pm · soundcheck 6:00 pm · contact on the day: Scott Warren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86384"/>
            <a:ext cx="100492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Arial"/>
              </a:rPr>
              <a:t>UPSTAGE (back wall)</a:t>
            </a:r>
          </a:p>
        </p:txBody>
      </p:sp>
      <p:sp>
        <p:nvSpPr>
          <p:cNvPr id="6" name="Stage"/>
          <p:cNvSpPr/>
          <p:nvPr/>
        </p:nvSpPr>
        <p:spPr>
          <a:xfrm>
            <a:off x="320040" y="978408"/>
            <a:ext cx="10049256" cy="5136286"/>
          </a:xfrm>
          <a:prstGeom prst="rect">
            <a:avLst/>
          </a:prstGeom>
          <a:solidFill>
            <a:srgbClr val="FAFAFA"/>
          </a:solidFill>
          <a:ln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334150"/>
            <a:ext cx="10049256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700" b="1">
                <a:solidFill>
                  <a:srgbClr val="6B7280"/>
                </a:solidFill>
                <a:latin typeface="Arial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334150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◀ house left (stage right)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6334150"/>
            <a:ext cx="2011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700" b="0">
                <a:solidFill>
                  <a:srgbClr val="6B7280"/>
                </a:solidFill>
                <a:latin typeface="Arial"/>
              </a:rPr>
              <a:t>house right (stage left) ▶</a:t>
            </a:r>
          </a:p>
        </p:txBody>
      </p:sp>
      <p:grpSp>
        <p:nvGrpSpPr>
          <p:cNvPr id="10" name="DW kit · ch 1–10"/>
          <p:cNvGrpSpPr/>
          <p:nvPr/>
        </p:nvGrpSpPr>
        <p:grpSpPr>
          <a:xfrm>
            <a:off x="4004767" y="1425041"/>
            <a:ext cx="2679801" cy="2009851"/>
            <a:chOff x="4004767" y="1425041"/>
            <a:chExt cx="2679801" cy="2009851"/>
          </a:xfrm>
        </p:grpSpPr>
        <p:sp>
          <p:nvSpPr>
            <p:cNvPr id="11" name="Rounded Rectangle 10"/>
            <p:cNvSpPr/>
            <p:nvPr/>
          </p:nvSpPr>
          <p:spPr>
            <a:xfrm>
              <a:off x="4004767" y="1425041"/>
              <a:ext cx="2679801" cy="2009851"/>
            </a:xfrm>
            <a:prstGeom prst="roundRect">
              <a:avLst/>
            </a:prstGeom>
            <a:solidFill>
              <a:srgbClr val="E8F0FA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04767" y="2251659"/>
              <a:ext cx="2679801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DW kit · ch 1–10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Simon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riser 2.4 × 1.8 m</a:t>
              </a:r>
            </a:p>
          </p:txBody>
        </p:sp>
      </p:grpSp>
      <p:grpSp>
        <p:nvGrpSpPr>
          <p:cNvPr id="13" name="Fender · mic ch 13"/>
          <p:cNvGrpSpPr/>
          <p:nvPr/>
        </p:nvGrpSpPr>
        <p:grpSpPr>
          <a:xfrm>
            <a:off x="2186990" y="2904515"/>
            <a:ext cx="1737360" cy="538225"/>
            <a:chOff x="2186990" y="2904515"/>
            <a:chExt cx="1737360" cy="538225"/>
          </a:xfrm>
        </p:grpSpPr>
        <p:sp>
          <p:nvSpPr>
            <p:cNvPr id="14" name="Rounded Rectangle 13"/>
            <p:cNvSpPr/>
            <p:nvPr/>
          </p:nvSpPr>
          <p:spPr>
            <a:xfrm>
              <a:off x="2703946" y="2904515"/>
              <a:ext cx="703447" cy="279146"/>
            </a:xfrm>
            <a:prstGeom prst="roundRect">
              <a:avLst/>
            </a:prstGeom>
            <a:solidFill>
              <a:srgbClr val="FDF1E3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186990" y="3192805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Fender · mic ch 13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Scotty</a:t>
              </a:r>
            </a:p>
          </p:txBody>
        </p:sp>
      </p:grpSp>
      <p:grpSp>
        <p:nvGrpSpPr>
          <p:cNvPr id="16" name="Ampeg · not mic'd"/>
          <p:cNvGrpSpPr/>
          <p:nvPr/>
        </p:nvGrpSpPr>
        <p:grpSpPr>
          <a:xfrm>
            <a:off x="6430009" y="2681198"/>
            <a:ext cx="1737360" cy="654863"/>
            <a:chOff x="6430009" y="2681198"/>
            <a:chExt cx="1737360" cy="654863"/>
          </a:xfrm>
        </p:grpSpPr>
        <p:sp>
          <p:nvSpPr>
            <p:cNvPr id="17" name="Rounded Rectangle 16"/>
            <p:cNvSpPr/>
            <p:nvPr/>
          </p:nvSpPr>
          <p:spPr>
            <a:xfrm>
              <a:off x="6958131" y="2681198"/>
              <a:ext cx="681116" cy="50246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430009" y="3192805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9CA3AF"/>
                  </a:solidFill>
                  <a:latin typeface="Arial"/>
                </a:rPr>
                <a:t>Ampeg · not mic'd</a:t>
              </a:r>
            </a:p>
          </p:txBody>
        </p:sp>
      </p:grpSp>
      <p:grpSp>
        <p:nvGrpSpPr>
          <p:cNvPr id="19" name="Vox AC30 · mic ch 15"/>
          <p:cNvGrpSpPr/>
          <p:nvPr/>
        </p:nvGrpSpPr>
        <p:grpSpPr>
          <a:xfrm>
            <a:off x="7602423" y="2837520"/>
            <a:ext cx="1737360" cy="560557"/>
            <a:chOff x="7602423" y="2837520"/>
            <a:chExt cx="1737360" cy="560557"/>
          </a:xfrm>
        </p:grpSpPr>
        <p:sp>
          <p:nvSpPr>
            <p:cNvPr id="20" name="Rounded Rectangle 19"/>
            <p:cNvSpPr/>
            <p:nvPr/>
          </p:nvSpPr>
          <p:spPr>
            <a:xfrm>
              <a:off x="8080298" y="2837520"/>
              <a:ext cx="781608" cy="301477"/>
            </a:xfrm>
            <a:prstGeom prst="roundRect">
              <a:avLst/>
            </a:prstGeom>
            <a:solidFill>
              <a:srgbClr val="FDF1E3"/>
            </a:solidFill>
            <a:ln w="12700">
              <a:solidFill>
                <a:srgbClr val="9CA3A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602423" y="3148142"/>
              <a:ext cx="173736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AC30 · mic ch 15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Thiago</a:t>
              </a:r>
            </a:p>
          </p:txBody>
        </p:sp>
      </p:grpSp>
      <p:grpSp>
        <p:nvGrpSpPr>
          <p:cNvPr id="22" name="Keys · Daniel · TBC"/>
          <p:cNvGrpSpPr/>
          <p:nvPr/>
        </p:nvGrpSpPr>
        <p:grpSpPr>
          <a:xfrm>
            <a:off x="850417" y="3641460"/>
            <a:ext cx="1619046" cy="480131"/>
            <a:chOff x="850417" y="3641460"/>
            <a:chExt cx="1619046" cy="480131"/>
          </a:xfrm>
        </p:grpSpPr>
        <p:sp>
          <p:nvSpPr>
            <p:cNvPr id="23" name="Rounded Rectangle 22"/>
            <p:cNvSpPr/>
            <p:nvPr/>
          </p:nvSpPr>
          <p:spPr>
            <a:xfrm>
              <a:off x="850417" y="3641460"/>
              <a:ext cx="1619046" cy="480131"/>
            </a:xfrm>
            <a:prstGeom prst="roundRect">
              <a:avLst/>
            </a:prstGeom>
            <a:solidFill>
              <a:srgbClr val="DCFCE7"/>
            </a:solidFill>
            <a:ln w="12700">
              <a:solidFill>
                <a:srgbClr val="16A34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50417" y="3756558"/>
              <a:ext cx="1619046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Keys · Daniel · TBC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DI ch 19/20</a:t>
              </a:r>
            </a:p>
          </p:txBody>
        </p:sp>
      </p:grpSp>
      <p:grpSp>
        <p:nvGrpSpPr>
          <p:cNvPr id="25" name="Scotty"/>
          <p:cNvGrpSpPr/>
          <p:nvPr/>
        </p:nvGrpSpPr>
        <p:grpSpPr>
          <a:xfrm>
            <a:off x="1314399" y="5109768"/>
            <a:ext cx="914400" cy="558292"/>
            <a:chOff x="1314399" y="5109768"/>
            <a:chExt cx="914400" cy="558292"/>
          </a:xfrm>
        </p:grpSpPr>
        <p:sp>
          <p:nvSpPr>
            <p:cNvPr id="26" name="Oval 25"/>
            <p:cNvSpPr/>
            <p:nvPr/>
          </p:nvSpPr>
          <p:spPr>
            <a:xfrm>
              <a:off x="1492453" y="5109768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14399" y="5210606"/>
              <a:ext cx="914400" cy="35661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Scotty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 (from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song 2)</a:t>
              </a:r>
            </a:p>
          </p:txBody>
        </p:sp>
      </p:grpSp>
      <p:grpSp>
        <p:nvGrpSpPr>
          <p:cNvPr id="28" name="Scott W"/>
          <p:cNvGrpSpPr/>
          <p:nvPr/>
        </p:nvGrpSpPr>
        <p:grpSpPr>
          <a:xfrm>
            <a:off x="2877616" y="4998110"/>
            <a:ext cx="914400" cy="558292"/>
            <a:chOff x="2877616" y="4998110"/>
            <a:chExt cx="914400" cy="558292"/>
          </a:xfrm>
        </p:grpSpPr>
        <p:sp>
          <p:nvSpPr>
            <p:cNvPr id="29" name="Oval 28"/>
            <p:cNvSpPr/>
            <p:nvPr/>
          </p:nvSpPr>
          <p:spPr>
            <a:xfrm>
              <a:off x="3055670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77616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Scott W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31" name="Sophie"/>
          <p:cNvGrpSpPr/>
          <p:nvPr/>
        </p:nvGrpSpPr>
        <p:grpSpPr>
          <a:xfrm>
            <a:off x="3156762" y="3881526"/>
            <a:ext cx="914400" cy="558292"/>
            <a:chOff x="3156762" y="3881526"/>
            <a:chExt cx="914400" cy="558292"/>
          </a:xfrm>
        </p:grpSpPr>
        <p:sp>
          <p:nvSpPr>
            <p:cNvPr id="32" name="Oval 31"/>
            <p:cNvSpPr/>
            <p:nvPr/>
          </p:nvSpPr>
          <p:spPr>
            <a:xfrm>
              <a:off x="3334816" y="3881526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156762" y="4035704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Sophie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erhu</a:t>
              </a:r>
            </a:p>
          </p:txBody>
        </p:sp>
      </p:grpSp>
      <p:grpSp>
        <p:nvGrpSpPr>
          <p:cNvPr id="34" name="Erhu DI · ch 18"/>
          <p:cNvGrpSpPr/>
          <p:nvPr/>
        </p:nvGrpSpPr>
        <p:grpSpPr>
          <a:xfrm>
            <a:off x="3993601" y="4082511"/>
            <a:ext cx="1562384" cy="156321"/>
            <a:chOff x="3993601" y="4082511"/>
            <a:chExt cx="1562384" cy="156321"/>
          </a:xfrm>
        </p:grpSpPr>
        <p:sp>
          <p:nvSpPr>
            <p:cNvPr id="35" name="Rounded Rectangle 34"/>
            <p:cNvSpPr/>
            <p:nvPr/>
          </p:nvSpPr>
          <p:spPr>
            <a:xfrm>
              <a:off x="3993601" y="4082511"/>
              <a:ext cx="245648" cy="156321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275825" y="4089044"/>
              <a:ext cx="12801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1F2937"/>
                  </a:solidFill>
                  <a:latin typeface="Arial"/>
                </a:rPr>
                <a:t>Erhu DI · ch 18</a:t>
              </a:r>
            </a:p>
          </p:txBody>
        </p:sp>
      </p:grpSp>
      <p:grpSp>
        <p:nvGrpSpPr>
          <p:cNvPr id="37" name="Kirra"/>
          <p:cNvGrpSpPr/>
          <p:nvPr/>
        </p:nvGrpSpPr>
        <p:grpSpPr>
          <a:xfrm>
            <a:off x="6674002" y="3881526"/>
            <a:ext cx="914400" cy="558292"/>
            <a:chOff x="6674002" y="3881526"/>
            <a:chExt cx="914400" cy="558292"/>
          </a:xfrm>
        </p:grpSpPr>
        <p:sp>
          <p:nvSpPr>
            <p:cNvPr id="38" name="Oval 37"/>
            <p:cNvSpPr/>
            <p:nvPr/>
          </p:nvSpPr>
          <p:spPr>
            <a:xfrm>
              <a:off x="6852056" y="3881526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74002" y="4035704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Kirra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bass</a:t>
              </a:r>
            </a:p>
          </p:txBody>
        </p:sp>
      </p:grpSp>
      <p:grpSp>
        <p:nvGrpSpPr>
          <p:cNvPr id="40" name="Bass DI · ch 11"/>
          <p:cNvGrpSpPr/>
          <p:nvPr/>
        </p:nvGrpSpPr>
        <p:grpSpPr>
          <a:xfrm>
            <a:off x="7510840" y="4082511"/>
            <a:ext cx="1562385" cy="156321"/>
            <a:chOff x="7510840" y="4082511"/>
            <a:chExt cx="1562385" cy="156321"/>
          </a:xfrm>
        </p:grpSpPr>
        <p:sp>
          <p:nvSpPr>
            <p:cNvPr id="41" name="Rounded Rectangle 40"/>
            <p:cNvSpPr/>
            <p:nvPr/>
          </p:nvSpPr>
          <p:spPr>
            <a:xfrm>
              <a:off x="7510840" y="4082511"/>
              <a:ext cx="245648" cy="156321"/>
            </a:xfrm>
            <a:prstGeom prst="roundRect">
              <a:avLst/>
            </a:prstGeom>
            <a:solidFill>
              <a:srgbClr val="FEF3C7"/>
            </a:solidFill>
            <a:ln w="12700">
              <a:solidFill>
                <a:srgbClr val="D9770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93065" y="4089044"/>
              <a:ext cx="12801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700" b="0">
                  <a:solidFill>
                    <a:srgbClr val="1F2937"/>
                  </a:solidFill>
                  <a:latin typeface="Arial"/>
                </a:rPr>
                <a:t>Bass DI · ch 11</a:t>
              </a:r>
            </a:p>
          </p:txBody>
        </p:sp>
      </p:grpSp>
      <p:grpSp>
        <p:nvGrpSpPr>
          <p:cNvPr id="43" name="Hamish"/>
          <p:cNvGrpSpPr/>
          <p:nvPr/>
        </p:nvGrpSpPr>
        <p:grpSpPr>
          <a:xfrm>
            <a:off x="4440834" y="4998110"/>
            <a:ext cx="914400" cy="558292"/>
            <a:chOff x="4440834" y="4998110"/>
            <a:chExt cx="914400" cy="558292"/>
          </a:xfrm>
        </p:grpSpPr>
        <p:sp>
          <p:nvSpPr>
            <p:cNvPr id="44" name="Oval 43"/>
            <p:cNvSpPr/>
            <p:nvPr/>
          </p:nvSpPr>
          <p:spPr>
            <a:xfrm>
              <a:off x="4618888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440834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Hamish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46" name="Thiago"/>
          <p:cNvGrpSpPr/>
          <p:nvPr/>
        </p:nvGrpSpPr>
        <p:grpSpPr>
          <a:xfrm>
            <a:off x="5557418" y="5109768"/>
            <a:ext cx="914400" cy="558292"/>
            <a:chOff x="5557418" y="5109768"/>
            <a:chExt cx="914400" cy="558292"/>
          </a:xfrm>
        </p:grpSpPr>
        <p:sp>
          <p:nvSpPr>
            <p:cNvPr id="47" name="Oval 46"/>
            <p:cNvSpPr/>
            <p:nvPr/>
          </p:nvSpPr>
          <p:spPr>
            <a:xfrm>
              <a:off x="5735472" y="5109768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557418" y="5263946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Thiago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guitar</a:t>
              </a:r>
            </a:p>
          </p:txBody>
        </p:sp>
      </p:grpSp>
      <p:grpSp>
        <p:nvGrpSpPr>
          <p:cNvPr id="49" name="Mindy"/>
          <p:cNvGrpSpPr/>
          <p:nvPr/>
        </p:nvGrpSpPr>
        <p:grpSpPr>
          <a:xfrm>
            <a:off x="6562343" y="4998110"/>
            <a:ext cx="914400" cy="558292"/>
            <a:chOff x="6562343" y="4998110"/>
            <a:chExt cx="914400" cy="558292"/>
          </a:xfrm>
        </p:grpSpPr>
        <p:sp>
          <p:nvSpPr>
            <p:cNvPr id="50" name="Oval 49"/>
            <p:cNvSpPr/>
            <p:nvPr/>
          </p:nvSpPr>
          <p:spPr>
            <a:xfrm>
              <a:off x="6740397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62343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Mindy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52" name="Elle"/>
          <p:cNvGrpSpPr/>
          <p:nvPr/>
        </p:nvGrpSpPr>
        <p:grpSpPr>
          <a:xfrm>
            <a:off x="7232294" y="4998110"/>
            <a:ext cx="914400" cy="558292"/>
            <a:chOff x="7232294" y="4998110"/>
            <a:chExt cx="914400" cy="558292"/>
          </a:xfrm>
        </p:grpSpPr>
        <p:sp>
          <p:nvSpPr>
            <p:cNvPr id="53" name="Oval 52"/>
            <p:cNvSpPr/>
            <p:nvPr/>
          </p:nvSpPr>
          <p:spPr>
            <a:xfrm>
              <a:off x="7410348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232294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Elle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55" name="Lil"/>
          <p:cNvGrpSpPr/>
          <p:nvPr/>
        </p:nvGrpSpPr>
        <p:grpSpPr>
          <a:xfrm>
            <a:off x="8237220" y="4998110"/>
            <a:ext cx="914400" cy="558292"/>
            <a:chOff x="8237220" y="4998110"/>
            <a:chExt cx="914400" cy="558292"/>
          </a:xfrm>
        </p:grpSpPr>
        <p:sp>
          <p:nvSpPr>
            <p:cNvPr id="56" name="Oval 55"/>
            <p:cNvSpPr/>
            <p:nvPr/>
          </p:nvSpPr>
          <p:spPr>
            <a:xfrm>
              <a:off x="8415273" y="4998110"/>
              <a:ext cx="558292" cy="558292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237220" y="5152288"/>
              <a:ext cx="914400" cy="249935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Lil</a:t>
              </a:r>
            </a:p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</a:t>
              </a:r>
            </a:p>
          </p:txBody>
        </p:sp>
      </p:grpSp>
      <p:grpSp>
        <p:nvGrpSpPr>
          <p:cNvPr id="58" name="Vox 1 · ch 21"/>
          <p:cNvGrpSpPr/>
          <p:nvPr/>
        </p:nvGrpSpPr>
        <p:grpSpPr>
          <a:xfrm>
            <a:off x="2466136" y="5723890"/>
            <a:ext cx="1737360" cy="487375"/>
            <a:chOff x="2466136" y="5723890"/>
            <a:chExt cx="1737360" cy="487375"/>
          </a:xfrm>
        </p:grpSpPr>
        <p:sp>
          <p:nvSpPr>
            <p:cNvPr id="59" name="Oval 58"/>
            <p:cNvSpPr/>
            <p:nvPr/>
          </p:nvSpPr>
          <p:spPr>
            <a:xfrm>
              <a:off x="3167329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466136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1 · ch 21</a:t>
              </a:r>
            </a:p>
          </p:txBody>
        </p:sp>
      </p:grpSp>
      <p:grpSp>
        <p:nvGrpSpPr>
          <p:cNvPr id="61" name="Vox 2 · ch 22"/>
          <p:cNvGrpSpPr/>
          <p:nvPr/>
        </p:nvGrpSpPr>
        <p:grpSpPr>
          <a:xfrm>
            <a:off x="4029354" y="5723890"/>
            <a:ext cx="1737360" cy="487375"/>
            <a:chOff x="4029354" y="5723890"/>
            <a:chExt cx="1737360" cy="487375"/>
          </a:xfrm>
        </p:grpSpPr>
        <p:sp>
          <p:nvSpPr>
            <p:cNvPr id="62" name="Oval 61"/>
            <p:cNvSpPr/>
            <p:nvPr/>
          </p:nvSpPr>
          <p:spPr>
            <a:xfrm>
              <a:off x="4730546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029354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2 · ch 22</a:t>
              </a:r>
            </a:p>
          </p:txBody>
        </p:sp>
      </p:grpSp>
      <p:grpSp>
        <p:nvGrpSpPr>
          <p:cNvPr id="64" name="Vox 3 · ch 23"/>
          <p:cNvGrpSpPr/>
          <p:nvPr/>
        </p:nvGrpSpPr>
        <p:grpSpPr>
          <a:xfrm>
            <a:off x="6485839" y="5723890"/>
            <a:ext cx="1737360" cy="487375"/>
            <a:chOff x="6485839" y="5723890"/>
            <a:chExt cx="1737360" cy="487375"/>
          </a:xfrm>
        </p:grpSpPr>
        <p:sp>
          <p:nvSpPr>
            <p:cNvPr id="65" name="Oval 64"/>
            <p:cNvSpPr/>
            <p:nvPr/>
          </p:nvSpPr>
          <p:spPr>
            <a:xfrm>
              <a:off x="7187031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6485839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3 · ch 23</a:t>
              </a:r>
            </a:p>
          </p:txBody>
        </p:sp>
      </p:grpSp>
      <p:grpSp>
        <p:nvGrpSpPr>
          <p:cNvPr id="67" name="Vox 4 · ch 24"/>
          <p:cNvGrpSpPr/>
          <p:nvPr/>
        </p:nvGrpSpPr>
        <p:grpSpPr>
          <a:xfrm>
            <a:off x="7825740" y="5723890"/>
            <a:ext cx="1737360" cy="487375"/>
            <a:chOff x="7825740" y="5723890"/>
            <a:chExt cx="1737360" cy="487375"/>
          </a:xfrm>
        </p:grpSpPr>
        <p:sp>
          <p:nvSpPr>
            <p:cNvPr id="68" name="Oval 67"/>
            <p:cNvSpPr/>
            <p:nvPr/>
          </p:nvSpPr>
          <p:spPr>
            <a:xfrm>
              <a:off x="8526932" y="5723890"/>
              <a:ext cx="334975" cy="334975"/>
            </a:xfrm>
            <a:prstGeom prst="ellipse">
              <a:avLst/>
            </a:prstGeom>
            <a:solidFill>
              <a:srgbClr val="F7E8F2"/>
            </a:solidFill>
            <a:ln w="12700">
              <a:solidFill>
                <a:srgbClr val="C084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825740" y="6068009"/>
              <a:ext cx="1737360" cy="14325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ctr"/>
              <a:r>
                <a:rPr sz="700" b="0">
                  <a:solidFill>
                    <a:srgbClr val="1F2937"/>
                  </a:solidFill>
                  <a:latin typeface="Arial"/>
                </a:rPr>
                <a:t>Vox 4 · ch 24</a:t>
              </a:r>
            </a:p>
          </p:txBody>
        </p:sp>
      </p:grpSp>
      <p:sp>
        <p:nvSpPr>
          <p:cNvPr id="70" name=""/>
          <p:cNvSpPr/>
          <p:nvPr/>
        </p:nvSpPr>
        <p:spPr>
          <a:xfrm>
            <a:off x="320040" y="6599326"/>
            <a:ext cx="146304" cy="118872"/>
          </a:xfrm>
          <a:prstGeom prst="roundRect">
            <a:avLst/>
          </a:prstGeom>
          <a:solidFill>
            <a:srgbClr val="FDF1E3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4632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Backline</a:t>
            </a:r>
          </a:p>
        </p:txBody>
      </p:sp>
      <p:sp>
        <p:nvSpPr>
          <p:cNvPr id="72" name=""/>
          <p:cNvSpPr/>
          <p:nvPr/>
        </p:nvSpPr>
        <p:spPr>
          <a:xfrm>
            <a:off x="1047902" y="6599326"/>
            <a:ext cx="146304" cy="118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494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Player</a:t>
            </a:r>
          </a:p>
        </p:txBody>
      </p:sp>
      <p:sp>
        <p:nvSpPr>
          <p:cNvPr id="74" name=""/>
          <p:cNvSpPr/>
          <p:nvPr/>
        </p:nvSpPr>
        <p:spPr>
          <a:xfrm>
            <a:off x="1662379" y="6599326"/>
            <a:ext cx="146304" cy="118872"/>
          </a:xfrm>
          <a:prstGeom prst="roundRect">
            <a:avLst/>
          </a:prstGeom>
          <a:solidFill>
            <a:srgbClr val="F7E8F2"/>
          </a:solidFill>
          <a:ln w="12700">
            <a:solidFill>
              <a:srgbClr val="C08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26971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Vocal mic</a:t>
            </a:r>
          </a:p>
        </p:txBody>
      </p:sp>
      <p:sp>
        <p:nvSpPr>
          <p:cNvPr id="76" name=""/>
          <p:cNvSpPr/>
          <p:nvPr/>
        </p:nvSpPr>
        <p:spPr>
          <a:xfrm>
            <a:off x="2446934" y="6599326"/>
            <a:ext cx="146304" cy="1188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11526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DI box</a:t>
            </a:r>
          </a:p>
        </p:txBody>
      </p:sp>
      <p:sp>
        <p:nvSpPr>
          <p:cNvPr id="78" name=""/>
          <p:cNvSpPr/>
          <p:nvPr/>
        </p:nvSpPr>
        <p:spPr>
          <a:xfrm>
            <a:off x="3061411" y="6599326"/>
            <a:ext cx="146304" cy="1188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26003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Keys</a:t>
            </a:r>
          </a:p>
        </p:txBody>
      </p:sp>
      <p:sp>
        <p:nvSpPr>
          <p:cNvPr id="80" name=""/>
          <p:cNvSpPr/>
          <p:nvPr/>
        </p:nvSpPr>
        <p:spPr>
          <a:xfrm>
            <a:off x="3562502" y="6599326"/>
            <a:ext cx="146304" cy="11887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27094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Laptop / screen</a:t>
            </a:r>
          </a:p>
        </p:txBody>
      </p:sp>
      <p:sp>
        <p:nvSpPr>
          <p:cNvPr id="82" name=""/>
          <p:cNvSpPr/>
          <p:nvPr/>
        </p:nvSpPr>
        <p:spPr>
          <a:xfrm>
            <a:off x="4687214" y="6599326"/>
            <a:ext cx="146304" cy="118872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18288" bIns="18288" wrap="square"/>
          <a:lstStyle/>
          <a:p>
            <a:pPr algn="ctr"/>
            <a:r>
              <a:rPr sz="7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51806" y="6562750"/>
            <a:ext cx="914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In-ears / wireless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82004" y="6562750"/>
            <a:ext cx="18288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Dashed = not used this set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6882790"/>
            <a:ext cx="1116584" cy="457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09776" y="6818782"/>
            <a:ext cx="54864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B7280"/>
                </a:solidFill>
                <a:latin typeface="Arial"/>
              </a:rPr>
              <a:t>1 m · all to scale; DI boxes and mic stands slightly enlarged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ShipReX (Rex Software) — patch and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7:15–7:40 pm · soundcheck 6:00 pm · contact on the day: Scott Warren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777240"/>
          <a:ext cx="4663440" cy="25551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/>
                <a:gridCol w="1143000"/>
                <a:gridCol w="3017520"/>
              </a:tblGrid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Ch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Who and notes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1–10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Drum kit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Simon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Bass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Kirra, DI only (no cab mic)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1 (Fender)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Scotty, joins from song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Gtr 2 (Vox AC30)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Thiago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Instrument DI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Sophie, erhu pickup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19/20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Keys L/R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Daniel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Scott W: lead on songs 3 and 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Hamish: lead on songs 1, 2, 5 and 6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Mindy and Elle share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32282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1F293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Vox 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7"/>
                          </a:solidFill>
                          <a:latin typeface="Arial"/>
                        </a:rPr>
                        <a:t>Lil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0040" y="3378072"/>
            <a:ext cx="4663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Arial"/>
              </a:rPr>
              <a:t>Not used this set: ch 12, 14, 16, 17, 25, 26, 27, 28. Ch 31/32 are the crowd mics, for the recording only.</a:t>
            </a:r>
          </a:p>
        </p:txBody>
      </p:sp>
      <p:sp>
        <p:nvSpPr>
          <p:cNvPr id="7" name="Monitors and in-ears"/>
          <p:cNvSpPr/>
          <p:nvPr/>
        </p:nvSpPr>
        <p:spPr>
          <a:xfrm>
            <a:off x="5257799" y="777240"/>
            <a:ext cx="5111496" cy="492442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Monitors and in-ears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No in-ear feeds requested.</a:t>
            </a:r>
          </a:p>
        </p:txBody>
      </p:sp>
      <p:sp>
        <p:nvSpPr>
          <p:cNvPr id="8" name="Screen and playback"/>
          <p:cNvSpPr/>
          <p:nvPr/>
        </p:nvSpPr>
        <p:spPr>
          <a:xfrm>
            <a:off x="5257799" y="1379410"/>
            <a:ext cx="5111496" cy="492442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Screen and playback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None.</a:t>
            </a:r>
          </a:p>
        </p:txBody>
      </p:sp>
      <p:sp>
        <p:nvSpPr>
          <p:cNvPr id="9" name="Notes and to confirm"/>
          <p:cNvSpPr/>
          <p:nvPr/>
        </p:nvSpPr>
        <p:spPr>
          <a:xfrm>
            <a:off x="5257799" y="1981581"/>
            <a:ext cx="5111496" cy="794067"/>
          </a:xfrm>
          <a:prstGeom prst="rect">
            <a:avLst/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54864" bIns="54864" wrap="square"/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Notes and to confirm</a:t>
            </a:r>
          </a:p>
          <a:p>
            <a:r>
              <a:rPr sz="950">
                <a:solidFill>
                  <a:srgbClr val="1F2937"/>
                </a:solidFill>
                <a:latin typeface="Arial"/>
              </a:rPr>
              <a:t>Stage layout is as they stood in Brisbane. Is Daniel bringing a keyboard, or using the Korg Kronos? Lighting for Mustang Sally (new for Sydney); the other lighting notes are carried over from Brisbane.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65836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Arial"/>
              </a:rPr>
              <a:t>ShipReX (Rex Software) — the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0" y="182880"/>
            <a:ext cx="470001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rial"/>
              </a:rPr>
              <a:t>Set 7:15–7:40 pm · soundcheck 6:00 pm · contact on the day: Scott Warren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10049256" cy="274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0"/>
            <a:ext cx="100492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Running time: 24:25 planned, in a 25-minute slot. No walk-on or between-song details given.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97280"/>
          <a:ext cx="10049256" cy="31831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"/>
                <a:gridCol w="2148840"/>
                <a:gridCol w="502920"/>
                <a:gridCol w="2743200"/>
                <a:gridCol w="1417320"/>
                <a:gridCol w="2642616"/>
              </a:tblGrid>
              <a:tr h="22453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Song, or what happens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Length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On stage · lead · moves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Screen · playback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Lighting</a:t>
                      </a:r>
                    </a:p>
                  </a:txBody>
                  <a:tcPr marL="45720" marR="45720" marT="32004" marB="32004" anchor="ctr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3F0FF"/>
                    </a:solidFill>
                  </a:tcPr>
                </a:tc>
              </a:tr>
              <a:tr h="720343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1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Uprising — Muse (opens with 30 s of Careless Whisper on erhu)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6:00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except Scotty (guitar). Lead: Hamish (Vox 2)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Dark, spotlight on the erhu to begin. Blackout on the last erhu note, then hit the full band in deep red on the Uprising riff. Moody red through the verses with a slow pulse on the stomp beat, brighter white hits on the choruses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2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Espresso — Sabrina Carpenter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3:00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 (Scotty joins on guitar). Lead: Hamish (Vox 2)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Bright and poppy: full warm wash, yellows, oranges and hot pink. No dark moments. Colour sweep or mirror ball on each chorus; keep the crowd lit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3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Dumb Things — Paul Kelly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3:00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Everyone. Lead: Scott W (Vox 1)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Warm white pub-rock wash, even and front-lit so faces are visible. Lift the wash and bring up the crowd for the singalong choruses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24535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4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Mustang Sally — Wilson Pickett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4:10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Everyone. Lead: Scott W (Vox 1)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Not given yet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6391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Everlong — Foo Fighters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4:30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Everyone. Lead: Hamish (Vox 2)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Cool blues and purples on the verses, slam to bright white on every chorus. Drop to a single colour for the quiet bridge, then full blast for the last chorus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1F2937"/>
                          </a:solidFill>
                          <a:latin typeface="Arial"/>
                        </a:rPr>
                        <a:t>Song 6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Covered in Chrome — Violent Soho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3:45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Everyone. Lead: Hamish (Vox 2)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F2937"/>
                          </a:solidFill>
                          <a:latin typeface="Arial"/>
                        </a:rPr>
                        <a:t>Closer, go big: hot white and red, strobes on the chant, everything on for the outro. Hard blackout on the final hit</a:t>
                      </a:r>
                    </a:p>
                  </a:txBody>
                  <a:tcPr marL="45720" marR="45720" marT="32004" marB="32004" anchor="t">
                    <a:lnL w="6350">
                      <a:solidFill>
                        <a:srgbClr val="D1D5DB"/>
                      </a:solidFill>
                    </a:lnL>
                    <a:lnR w="6350">
                      <a:solidFill>
                        <a:srgbClr val="D1D5DB"/>
                      </a:solidFill>
                    </a:lnR>
                    <a:lnT w="6350">
                      <a:solidFill>
                        <a:srgbClr val="D1D5DB"/>
                      </a:solidFill>
                    </a:lnT>
                    <a:lnB w="6350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