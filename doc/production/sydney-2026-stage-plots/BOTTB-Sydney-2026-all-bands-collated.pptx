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presentation/d/13kDtpZfeE78rUEX50qO-1JYZqYxgJPIKwIyCDkCDH3s/edit" TargetMode="External"/><Relationship Id="rId3" Type="http://schemas.openxmlformats.org/officeDocument/2006/relationships/hyperlink" Target="https://docs.google.com/presentation/d/1WdRTelFiFVAHDGStc1lxRVyhc5u9dn9ax1Lk1M-akW8/edit" TargetMode="External"/><Relationship Id="rId4" Type="http://schemas.openxmlformats.org/officeDocument/2006/relationships/hyperlink" Target="https://docs.google.com/presentation/d/17NXjACPkFnfVskxzNZCTRbII2xrDVCOSez4jvBjAYqY/edit" TargetMode="External"/><Relationship Id="rId5" Type="http://schemas.openxmlformats.org/officeDocument/2006/relationships/hyperlink" Target="https://docs.google.com/presentation/d/1j1ol8AKbWQOVr2-PfTfjyT2YKO2YBtgOhMsoF72pB9U/edit" TargetMode="External"/><Relationship Id="rId6" Type="http://schemas.openxmlformats.org/officeDocument/2006/relationships/hyperlink" Target="https://docs.google.com/presentation/d/1RByvEr_wjXjokN81PsBnh-N5d51IOKCbXBaMItnDU4E/ed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Stage plots, patches and sets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Battle of the Tech Bands Sydney · Thursday 8 October 2026 · Manning Bar, University of Sydney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5120640" cy="274320"/>
          </a:xfrm>
          <a:prstGeom prst="rect">
            <a:avLst/>
          </a:prstGeom>
          <a:noFill/>
        </p:spPr>
        <p:txBody>
          <a:bodyPr wrap="square" lIns="27432" rIns="27432" tIns="27432" bIns="27432" anchor="t">
            <a:spAutoFit/>
          </a:bodyPr>
          <a:lstStyle/>
          <a:p>
            <a:pPr algn="l"/>
            <a:r>
              <a:rPr sz="1100" b="1">
                <a:solidFill>
                  <a:srgbClr val="7C3AED"/>
                </a:solidFill>
                <a:latin typeface="Arial"/>
              </a:rPr>
              <a:t>Schedule</a:t>
            </a:r>
          </a:p>
        </p:txBody>
      </p:sp>
      <p:graphicFrame>
        <p:nvGraphicFramePr>
          <p:cNvPr id="6" name="Table 5"/>
          <p:cNvGraphicFramePr>
            <a:graphicFrameLocks noGrp="1"/>
          </p:cNvGraphicFramePr>
          <p:nvPr/>
        </p:nvGraphicFramePr>
        <p:xfrm>
          <a:off x="320040" y="1005840"/>
          <a:ext cx="5166360" cy="4738878"/>
        </p:xfrm>
        <a:graphic>
          <a:graphicData uri="http://schemas.openxmlformats.org/drawingml/2006/table">
            <a:tbl>
              <a:tblPr firstRow="1">
                <a:tableStyleId>{5C22544A-7EE6-4342-B048-85BDC9FD1C3A}</a:tableStyleId>
              </a:tblPr>
              <a:tblGrid>
                <a:gridCol w="914400"/>
                <a:gridCol w="2148840"/>
                <a:gridCol w="2103120"/>
              </a:tblGrid>
              <a:tr h="240030">
                <a:tc>
                  <a:txBody>
                    <a:bodyPr wrap="square"/>
                    <a:lstStyle/>
                    <a:p>
                      <a:pPr algn="l"/>
                      <a:r>
                        <a:rPr sz="900" b="1">
                          <a:solidFill>
                            <a:srgbClr val="1F2937"/>
                          </a:solidFill>
                          <a:latin typeface="Arial"/>
                        </a:rPr>
                        <a:t>Time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00" b="1">
                          <a:solidFill>
                            <a:srgbClr val="1F2937"/>
                          </a:solidFill>
                          <a:latin typeface="Arial"/>
                        </a:rPr>
                        <a:t>What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40030">
                <a:tc>
                  <a:txBody>
                    <a:bodyPr wrap="square"/>
                    <a:lstStyle/>
                    <a:p>
                      <a:pPr algn="l"/>
                      <a:r>
                        <a:rPr sz="900" b="1">
                          <a:solidFill>
                            <a:srgbClr val="1F2937"/>
                          </a:solidFill>
                          <a:latin typeface="Arial"/>
                        </a:rPr>
                        <a:t>3:30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Bump-in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5:00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V2 Voyagers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10 minutes each, in the reverse of show order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5:15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Amakazaam!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Canvanauts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5:45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Bandlassian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6:00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ShipReX</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Stage stays set for ShipReX, who open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6:30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Doors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7:00–7:15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Intros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Host uses one of the band vocal mics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7:15–7:40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ShipReX (Rex Software)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Special guests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7:40–7:50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7:50–8:15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Bandlassian (Atlassian)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8:15–8:25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8:25–8:50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Canvanauts (Canva)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8:50–9:00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9:00–9:25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Amakazaam! (Amazon)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9:25–9:35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9:35–10:00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V2 Voyagers (V2 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7" name="TextBox 6"/>
          <p:cNvSpPr txBox="1"/>
          <p:nvPr/>
        </p:nvSpPr>
        <p:spPr>
          <a:xfrm>
            <a:off x="5897880" y="731520"/>
            <a:ext cx="4480560" cy="274320"/>
          </a:xfrm>
          <a:prstGeom prst="rect">
            <a:avLst/>
          </a:prstGeom>
          <a:noFill/>
        </p:spPr>
        <p:txBody>
          <a:bodyPr wrap="square" lIns="27432" rIns="27432" tIns="27432" bIns="27432" anchor="t">
            <a:spAutoFit/>
          </a:bodyPr>
          <a:lstStyle/>
          <a:p>
            <a:pPr algn="l"/>
            <a:r>
              <a:rPr sz="1100" b="1">
                <a:solidFill>
                  <a:srgbClr val="7C3AED"/>
                </a:solidFill>
                <a:latin typeface="Arial"/>
              </a:rPr>
              <a:t>How to read these</a:t>
            </a:r>
          </a:p>
        </p:txBody>
      </p:sp>
      <p:sp>
        <p:nvSpPr>
          <p:cNvPr id="8" name="TextBox 7"/>
          <p:cNvSpPr txBox="1"/>
          <p:nvPr/>
        </p:nvSpPr>
        <p:spPr>
          <a:xfrm>
            <a:off x="5897880" y="1042416"/>
            <a:ext cx="4480560" cy="529894"/>
          </a:xfrm>
          <a:prstGeom prst="rect">
            <a:avLst/>
          </a:prstGeom>
          <a:noFill/>
        </p:spPr>
        <p:txBody>
          <a:bodyPr wrap="square" lIns="27432" tIns="27432">
            <a:spAutoFit/>
          </a:bodyPr>
          <a:lstStyle/>
          <a:p>
            <a:pPr algn="l"/>
            <a:r>
              <a:rPr sz="950" b="1">
                <a:solidFill>
                  <a:srgbClr val="1F2937"/>
                </a:solidFill>
                <a:latin typeface="Arial"/>
              </a:rPr>
              <a:t>Left and right. </a:t>
            </a:r>
            <a:r>
              <a:rPr sz="950" b="0">
                <a:solidFill>
                  <a:srgbClr val="1F2937"/>
                </a:solidFill>
                <a:latin typeface="Arial"/>
              </a:rPr>
              <a:t>Always as the audience sees the stage (house left / house right). Vocal mics Vox 1–4 run house left to house right along the front; Vox 5 is at the kit.</a:t>
            </a:r>
          </a:p>
        </p:txBody>
      </p:sp>
      <p:sp>
        <p:nvSpPr>
          <p:cNvPr id="9" name="TextBox 8"/>
          <p:cNvSpPr txBox="1"/>
          <p:nvPr/>
        </p:nvSpPr>
        <p:spPr>
          <a:xfrm>
            <a:off x="5897880" y="1663750"/>
            <a:ext cx="4480560" cy="529894"/>
          </a:xfrm>
          <a:prstGeom prst="rect">
            <a:avLst/>
          </a:prstGeom>
          <a:noFill/>
        </p:spPr>
        <p:txBody>
          <a:bodyPr wrap="square" lIns="27432" tIns="27432">
            <a:spAutoFit/>
          </a:bodyPr>
          <a:lstStyle/>
          <a:p>
            <a:pPr algn="l"/>
            <a:r>
              <a:rPr sz="950" b="1">
                <a:solidFill>
                  <a:srgbClr val="1F2937"/>
                </a:solidFill>
                <a:latin typeface="Arial"/>
              </a:rPr>
              <a:t>One patch all night. </a:t>
            </a:r>
            <a:r>
              <a:rPr sz="950" b="0">
                <a:solidFill>
                  <a:srgbClr val="1F2937"/>
                </a:solidFill>
                <a:latin typeface="Arial"/>
              </a:rPr>
              <a:t>Page 2 is the festival patch. Each band's deck lists only the channels that are live for that set; everything else can stay muted.</a:t>
            </a:r>
          </a:p>
        </p:txBody>
      </p:sp>
      <p:sp>
        <p:nvSpPr>
          <p:cNvPr id="10" name="TextBox 9"/>
          <p:cNvSpPr txBox="1"/>
          <p:nvPr/>
        </p:nvSpPr>
        <p:spPr>
          <a:xfrm>
            <a:off x="5897880" y="2285085"/>
            <a:ext cx="4480560" cy="824280"/>
          </a:xfrm>
          <a:prstGeom prst="rect">
            <a:avLst/>
          </a:prstGeom>
          <a:noFill/>
        </p:spPr>
        <p:txBody>
          <a:bodyPr wrap="square" lIns="27432" tIns="27432">
            <a:spAutoFit/>
          </a:bodyPr>
          <a:lstStyle/>
          <a:p>
            <a:pPr algn="l"/>
            <a:r>
              <a:rPr sz="950" b="1">
                <a:solidFill>
                  <a:srgbClr val="1F2937"/>
                </a:solidFill>
                <a:latin typeface="Arial"/>
              </a:rPr>
              <a:t>Stage plots are drafts. </a:t>
            </a:r>
            <a:r>
              <a:rPr sz="950" b="0">
                <a:solidFill>
                  <a:srgbClr val="1F2937"/>
                </a:solidFill>
                <a:latin typeface="Arial"/>
              </a:rPr>
              <a:t>Built from each band's run sheet, to scale: the stage is 9 m × 4.6 m, the drum riser 2.4 m × 1.8 m, and amps, keys and players are their real size. Every item is its own shape, so drag it to where it should go. TBC marks something the band hasn't told us yet. Grey dashed items aren't used in that set.</a:t>
            </a:r>
          </a:p>
        </p:txBody>
      </p:sp>
      <p:sp>
        <p:nvSpPr>
          <p:cNvPr id="11" name="TextBox 10"/>
          <p:cNvSpPr txBox="1"/>
          <p:nvPr/>
        </p:nvSpPr>
        <p:spPr>
          <a:xfrm>
            <a:off x="5897880" y="3200806"/>
            <a:ext cx="4480560" cy="677087"/>
          </a:xfrm>
          <a:prstGeom prst="rect">
            <a:avLst/>
          </a:prstGeom>
          <a:noFill/>
        </p:spPr>
        <p:txBody>
          <a:bodyPr wrap="square" lIns="27432" tIns="27432">
            <a:spAutoFit/>
          </a:bodyPr>
          <a:lstStyle/>
          <a:p>
            <a:pPr algn="l"/>
            <a:r>
              <a:rPr sz="950" b="1">
                <a:solidFill>
                  <a:srgbClr val="1F2937"/>
                </a:solidFill>
                <a:latin typeface="Arial"/>
              </a:rPr>
              <a:t>Shared backline. </a:t>
            </a:r>
            <a:r>
              <a:rPr sz="950" b="0">
                <a:solidFill>
                  <a:srgbClr val="1F2937"/>
                </a:solidFill>
                <a:latin typeface="Arial"/>
              </a:rPr>
              <a:t>DW Collectors kit with double pedal · Ampeg SVT-VR + SVT 410 · Fender '65 Super Reverb (house left) · Vox AC30 (house right) · Korg Kronos 2 (Bandlassian and Canvanauts) · one single-tier X keyboard stand.</a:t>
            </a:r>
          </a:p>
        </p:txBody>
      </p:sp>
      <p:sp>
        <p:nvSpPr>
          <p:cNvPr id="12" name="TextBox 11"/>
          <p:cNvSpPr txBox="1"/>
          <p:nvPr/>
        </p:nvSpPr>
        <p:spPr>
          <a:xfrm>
            <a:off x="5897880" y="4060774"/>
            <a:ext cx="4480560" cy="274320"/>
          </a:xfrm>
          <a:prstGeom prst="rect">
            <a:avLst/>
          </a:prstGeom>
          <a:noFill/>
        </p:spPr>
        <p:txBody>
          <a:bodyPr wrap="square" lIns="27432" rIns="27432" tIns="27432" bIns="27432" anchor="t">
            <a:spAutoFit/>
          </a:bodyPr>
          <a:lstStyle/>
          <a:p>
            <a:pPr algn="l"/>
            <a:r>
              <a:rPr sz="1100" b="1">
                <a:solidFill>
                  <a:srgbClr val="7C3AED"/>
                </a:solidFill>
                <a:latin typeface="Arial"/>
              </a:rPr>
              <a:t>Band stage plots and sets</a:t>
            </a:r>
          </a:p>
        </p:txBody>
      </p:sp>
      <p:sp>
        <p:nvSpPr>
          <p:cNvPr id="13" name="TextBox 12"/>
          <p:cNvSpPr txBox="1"/>
          <p:nvPr/>
        </p:nvSpPr>
        <p:spPr>
          <a:xfrm>
            <a:off x="5897880" y="4371670"/>
            <a:ext cx="4480560" cy="1463040"/>
          </a:xfrm>
          <a:prstGeom prst="rect">
            <a:avLst/>
          </a:prstGeom>
          <a:noFill/>
        </p:spPr>
        <p:txBody>
          <a:bodyPr wrap="square" lIns="27432" tIns="27432">
            <a:spAutoFit/>
          </a:bodyPr>
          <a:lstStyle/>
          <a:p>
            <a:pPr algn="l"/>
            <a:r>
              <a:rPr sz="950" b="0">
                <a:solidFill>
                  <a:srgbClr val="1F2937"/>
                </a:solidFill>
                <a:latin typeface="Arial"/>
              </a:rPr>
              <a:t>One deck per band, in show order. Drafts until each band confirms.</a:t>
            </a:r>
          </a:p>
          <a:p>
            <a:pPr>
              <a:spcBef>
                <a:spcPts val="300"/>
              </a:spcBef>
            </a:pPr>
            <a:r>
              <a:rPr sz="950" b="1">
                <a:solidFill>
                  <a:srgbClr val="1F2937"/>
                </a:solidFill>
                <a:latin typeface="Arial"/>
              </a:rPr>
              <a:t>S  7:15–7:40  </a:t>
            </a:r>
            <a:r>
              <a:rPr sz="950" u="sng">
                <a:solidFill>
                  <a:srgbClr val="7C3AED"/>
                </a:solidFill>
                <a:latin typeface="Arial"/>
                <a:hlinkClick r:id="rId2"/>
              </a:rPr>
              <a:t>ShipReX (Rex Software)</a:t>
            </a:r>
          </a:p>
          <a:p>
            <a:pPr>
              <a:spcBef>
                <a:spcPts val="300"/>
              </a:spcBef>
            </a:pPr>
            <a:r>
              <a:rPr sz="950" b="1">
                <a:solidFill>
                  <a:srgbClr val="1F2937"/>
                </a:solidFill>
                <a:latin typeface="Arial"/>
              </a:rPr>
              <a:t>B  7:50–8:15  </a:t>
            </a:r>
            <a:r>
              <a:rPr sz="950" u="sng">
                <a:solidFill>
                  <a:srgbClr val="7C3AED"/>
                </a:solidFill>
                <a:latin typeface="Arial"/>
                <a:hlinkClick r:id="rId3"/>
              </a:rPr>
              <a:t>Bandlassian (Atlassian)</a:t>
            </a:r>
          </a:p>
          <a:p>
            <a:pPr>
              <a:spcBef>
                <a:spcPts val="300"/>
              </a:spcBef>
            </a:pPr>
            <a:r>
              <a:rPr sz="950" b="1">
                <a:solidFill>
                  <a:srgbClr val="1F2937"/>
                </a:solidFill>
                <a:latin typeface="Arial"/>
              </a:rPr>
              <a:t>C  8:25–8:50  </a:t>
            </a:r>
            <a:r>
              <a:rPr sz="950" u="sng">
                <a:solidFill>
                  <a:srgbClr val="7C3AED"/>
                </a:solidFill>
                <a:latin typeface="Arial"/>
                <a:hlinkClick r:id="rId4"/>
              </a:rPr>
              <a:t>Canvanauts (Canva)</a:t>
            </a:r>
          </a:p>
          <a:p>
            <a:pPr>
              <a:spcBef>
                <a:spcPts val="300"/>
              </a:spcBef>
            </a:pPr>
            <a:r>
              <a:rPr sz="950" b="1">
                <a:solidFill>
                  <a:srgbClr val="1F2937"/>
                </a:solidFill>
                <a:latin typeface="Arial"/>
              </a:rPr>
              <a:t>A  9:00–9:25  </a:t>
            </a:r>
            <a:r>
              <a:rPr sz="950" u="sng">
                <a:solidFill>
                  <a:srgbClr val="7C3AED"/>
                </a:solidFill>
                <a:latin typeface="Arial"/>
                <a:hlinkClick r:id="rId5"/>
              </a:rPr>
              <a:t>Amakazaam! (Amazon)</a:t>
            </a:r>
          </a:p>
          <a:p>
            <a:pPr>
              <a:spcBef>
                <a:spcPts val="300"/>
              </a:spcBef>
            </a:pPr>
            <a:r>
              <a:rPr sz="950" b="1">
                <a:solidFill>
                  <a:srgbClr val="1F2937"/>
                </a:solidFill>
                <a:latin typeface="Arial"/>
              </a:rPr>
              <a:t>V  9:35–10:00  </a:t>
            </a:r>
            <a:r>
              <a:rPr sz="950" u="sng">
                <a:solidFill>
                  <a:srgbClr val="7C3AED"/>
                </a:solidFill>
                <a:latin typeface="Arial"/>
                <a:hlinkClick r:id="rId6"/>
              </a:rPr>
              <a:t>V2 Voyagers (V2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Festival patch</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The same 32 inputs for every band · ● used · ○ only if needed</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822960"/>
          <a:ext cx="4764023" cy="4312903"/>
        </p:xfrm>
        <a:graphic>
          <a:graphicData uri="http://schemas.openxmlformats.org/drawingml/2006/table">
            <a:tbl>
              <a:tblPr firstRow="1">
                <a:tableStyleId>{5C22544A-7EE6-4342-B048-85BDC9FD1C3A}</a:tableStyleId>
              </a:tblPr>
              <a:tblGrid>
                <a:gridCol w="329184"/>
                <a:gridCol w="1325880"/>
                <a:gridCol w="246888"/>
                <a:gridCol w="246888"/>
                <a:gridCol w="246888"/>
                <a:gridCol w="246888"/>
                <a:gridCol w="246888"/>
                <a:gridCol w="1874519"/>
              </a:tblGrid>
              <a:tr h="224535">
                <a:tc>
                  <a:txBody>
                    <a:bodyPr wrap="square"/>
                    <a:lstStyle/>
                    <a:p>
                      <a:pPr algn="l"/>
                      <a:r>
                        <a:rPr sz="80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Source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B</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C</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A</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V</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Kick 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House DW kit: 22" kick, 10" + 12" racks, 16" floor, 14" snare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Kick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Snare top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Snare bottom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Hi-hat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Rack tom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Rack tom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Floor tom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Overhead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Overhead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Ampeg SVT-VR DI out, or the player's own DI / modeller XLR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Ampeg SVT 410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Mic on the Fender '65 Super Reverb, house left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1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Mic on the Vox AC30, house right, next to the bass rig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2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graphicFrame>
        <p:nvGraphicFramePr>
          <p:cNvPr id="6" name="Table 5"/>
          <p:cNvGraphicFramePr>
            <a:graphicFrameLocks noGrp="1"/>
          </p:cNvGraphicFramePr>
          <p:nvPr/>
        </p:nvGraphicFramePr>
        <p:xfrm>
          <a:off x="5330952" y="822960"/>
          <a:ext cx="4764023" cy="4188951"/>
        </p:xfrm>
        <a:graphic>
          <a:graphicData uri="http://schemas.openxmlformats.org/drawingml/2006/table">
            <a:tbl>
              <a:tblPr firstRow="1">
                <a:tableStyleId>{5C22544A-7EE6-4342-B048-85BDC9FD1C3A}</a:tableStyleId>
              </a:tblPr>
              <a:tblGrid>
                <a:gridCol w="329184"/>
                <a:gridCol w="1325880"/>
                <a:gridCol w="246888"/>
                <a:gridCol w="246888"/>
                <a:gridCol w="246888"/>
                <a:gridCol w="246888"/>
                <a:gridCol w="246888"/>
                <a:gridCol w="1874519"/>
              </a:tblGrid>
              <a:tr h="224535">
                <a:tc>
                  <a:txBody>
                    <a:bodyPr wrap="square"/>
                    <a:lstStyle/>
                    <a:p>
                      <a:pPr algn="l"/>
                      <a:r>
                        <a:rPr sz="80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Source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B</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C</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A</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V</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17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Acoustic guitar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V2 Voyagers' acoustic; Canvanauts' third 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Instrument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Erhu pickup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Keys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Keys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1 (house left)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Vocal mics numbered house left → house right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4 (house right)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5 (drums)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Wireless vocal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Amakazaam!'s own receiver, XLR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27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Playback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(V2 Voyagers: mono backing track, L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Playback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Crowd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Recording only; keep out of FOH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Crowd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Recording only; keep out of FOH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7" name="TextBox 6"/>
          <p:cNvSpPr txBox="1"/>
          <p:nvPr/>
        </p:nvSpPr>
        <p:spPr>
          <a:xfrm>
            <a:off x="320040" y="6812280"/>
            <a:ext cx="10049256" cy="457200"/>
          </a:xfrm>
          <a:prstGeom prst="rect">
            <a:avLst/>
          </a:prstGeom>
          <a:noFill/>
        </p:spPr>
        <p:txBody>
          <a:bodyPr wrap="square" lIns="27432" rIns="27432" tIns="27432" bIns="27432" anchor="t">
            <a:spAutoFit/>
          </a:bodyPr>
          <a:lstStyle/>
          <a:p>
            <a:pPr algn="l"/>
            <a:r>
              <a:rPr sz="900" b="0">
                <a:solidFill>
                  <a:srgbClr val="6B7280"/>
                </a:solidFill>
                <a:latin typeface="Arial"/>
              </a:rPr>
              <a:t>S ShipReX · B Bandlassian · C Canvanauts · A Amakazaam! · V V2 Voyagers. Walk-in and changeover music on the desk's stereo line inputs, outside the 32. The host uses one of the band vocal mics between 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Changeovers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What changes on stage going into each set</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822960"/>
          <a:ext cx="10049256" cy="2958591"/>
        </p:xfrm>
        <a:graphic>
          <a:graphicData uri="http://schemas.openxmlformats.org/drawingml/2006/table">
            <a:tbl>
              <a:tblPr firstRow="1">
                <a:tableStyleId>{5C22544A-7EE6-4342-B048-85BDC9FD1C3A}</a:tableStyleId>
              </a:tblPr>
              <a:tblGrid>
                <a:gridCol w="1097280"/>
                <a:gridCol w="1828800"/>
                <a:gridCol w="7123176"/>
              </a:tblGrid>
              <a:tr h="247777">
                <a:tc>
                  <a:txBody>
                    <a:bodyPr wrap="square"/>
                    <a:lstStyle/>
                    <a:p>
                      <a:pPr algn="l"/>
                      <a:r>
                        <a:rPr sz="950" b="1">
                          <a:solidFill>
                            <a:srgbClr val="1F2937"/>
                          </a:solidFill>
                          <a:latin typeface="Arial"/>
                        </a:rPr>
                        <a:t>Set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50" b="1">
                          <a:solidFill>
                            <a:srgbClr val="1F2937"/>
                          </a:solidFill>
                          <a:latin typeface="Arial"/>
                        </a:rPr>
                        <a:t>Into</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50" b="1">
                          <a:solidFill>
                            <a:srgbClr val="1F2937"/>
                          </a:solidFill>
                          <a:latin typeface="Arial"/>
                        </a:rPr>
                        <a:t>What changes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94969">
                <a:tc>
                  <a:txBody>
                    <a:bodyPr wrap="square"/>
                    <a:lstStyle/>
                    <a:p>
                      <a:pPr algn="l"/>
                      <a:r>
                        <a:rPr sz="950" b="1">
                          <a:solidFill>
                            <a:srgbClr val="1F2937"/>
                          </a:solidFill>
                          <a:latin typeface="Arial"/>
                        </a:rPr>
                        <a:t>7:15–7:40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ShipReX (Rex Software)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Opening set, so the stage stays set from their 6:00 pm soundcheck. 11 people on stage: five singers on four mics, two guitars, bass, drums, keys and erhu.</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7:50–8:15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Bandlassian (Atlassian)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the erhu DI. Keys go house right beside the AC30. Fold down Vox 1 and Vox 4. Bass moves from DI to the Ampeg (ch 11 DI + ch 12 mic). Pedalboards: Boss ME-70 at the AC30, Zoom G5n at the Fender, Zoom B1 Four at the Ampeg. Connect the laptop HDMI and the drummer's XLR feed.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8:25–8:50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Canvanauts (Canva)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Guitar amps aren't used: mute ch 13 and 15. Three DIs for the amp modellers (ch 14, 16, 17). The Kronos moves from house right to house left, at Vox 1. Vox 1 up; Vox 4 stays down. Bass: Quad Cortex into ch 11. Strike Bandlassian's laptop.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689356">
                <a:tc>
                  <a:txBody>
                    <a:bodyPr wrap="square"/>
                    <a:lstStyle/>
                    <a:p>
                      <a:pPr algn="l"/>
                      <a:r>
                        <a:rPr sz="950" b="1">
                          <a:solidFill>
                            <a:srgbClr val="1F2937"/>
                          </a:solidFill>
                          <a:latin typeface="Arial"/>
                        </a:rPr>
                        <a:t>9:00–9:25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Amakazaam! (Amazon)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the Kronos and the three guitar DIs. Aaron's keyboard and stand go house left at Vox 1, on a stereo DI. Amps back in: Tim on the Fender, Tyler on the AC30. Swap the Vox 2 stand for a straight (boomless) stand with Keira's wireless mic and clip. Vox 5 up at the kit. Patch her receiver (ch 26) and in-ear transmitter. Andrew fits clamps for cowbell and tambourine.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9:35–10:00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V2 Voyagers (V2 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Aaron's keys, Keira's wireless rig and the side-stage laptop. Regular stand back at Vox 2, with Holly's own Beta 58. AC30 isn't used: mute ch 15. Acoustic DI (ch 17) at Vox 4. Fold down Vox 1, 3 and 5. HDMI run and a DI line to the laptop at the riser.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ShipReX (Rex Software)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7:15–7:40 pm · soundcheck 6:00 pm · contact on the day: Scott Warren</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Simon</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Scotty</a:t>
              </a:r>
            </a:p>
          </p:txBody>
        </p:sp>
      </p:grpSp>
      <p:grpSp>
        <p:nvGrpSpPr>
          <p:cNvPr id="16" name="Ampeg · not mic'd"/>
          <p:cNvGrpSpPr/>
          <p:nvPr/>
        </p:nvGrpSpPr>
        <p:grpSpPr>
          <a:xfrm>
            <a:off x="6430009" y="2681198"/>
            <a:ext cx="1737360" cy="654863"/>
            <a:chOff x="6430009" y="2681198"/>
            <a:chExt cx="1737360" cy="654863"/>
          </a:xfrm>
        </p:grpSpPr>
        <p:sp>
          <p:nvSpPr>
            <p:cNvPr id="17" name="Rounded Rectangle 16"/>
            <p:cNvSpPr/>
            <p:nvPr/>
          </p:nvSpPr>
          <p:spPr>
            <a:xfrm>
              <a:off x="6958131" y="2681198"/>
              <a:ext cx="681116" cy="502462"/>
            </a:xfrm>
            <a:prstGeom prst="roundRect">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143256"/>
            </a:xfrm>
            <a:prstGeom prst="rect">
              <a:avLst/>
            </a:prstGeom>
            <a:noFill/>
          </p:spPr>
          <p:txBody>
            <a:bodyPr wrap="square" lIns="0" rIns="0" tIns="0" bIns="0" anchor="ctr">
              <a:spAutoFit/>
            </a:bodyPr>
            <a:lstStyle/>
            <a:p>
              <a:pPr algn="ctr"/>
              <a:r>
                <a:rPr sz="700" b="0">
                  <a:solidFill>
                    <a:srgbClr val="9CA3AF"/>
                  </a:solidFill>
                  <a:latin typeface="Arial"/>
                </a:rPr>
                <a:t>Ampeg · not mic'd</a:t>
              </a:r>
            </a:p>
          </p:txBody>
        </p:sp>
      </p:grpSp>
      <p:grpSp>
        <p:nvGrpSpPr>
          <p:cNvPr id="19" name="Vox AC30 · mic ch 15"/>
          <p:cNvGrpSpPr/>
          <p:nvPr/>
        </p:nvGrpSpPr>
        <p:grpSpPr>
          <a:xfrm>
            <a:off x="7602423" y="2837520"/>
            <a:ext cx="1737360" cy="560557"/>
            <a:chOff x="7602423" y="2837520"/>
            <a:chExt cx="1737360" cy="560557"/>
          </a:xfrm>
        </p:grpSpPr>
        <p:sp>
          <p:nvSpPr>
            <p:cNvPr id="20" name="Rounded Rectangle 19"/>
            <p:cNvSpPr/>
            <p:nvPr/>
          </p:nvSpPr>
          <p:spPr>
            <a:xfrm>
              <a:off x="8080298" y="2837520"/>
              <a:ext cx="781608" cy="301477"/>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249935"/>
            </a:xfrm>
            <a:prstGeom prst="rect">
              <a:avLst/>
            </a:prstGeom>
            <a:noFill/>
          </p:spPr>
          <p:txBody>
            <a:bodyPr wrap="square" lIns="0" rIns="0" tIns="0" bIns="0" anchor="ctr">
              <a:spAutoFit/>
            </a:bodyPr>
            <a:lstStyle/>
            <a:p>
              <a:pPr algn="ctr"/>
              <a:r>
                <a:rPr sz="700" b="0">
                  <a:solidFill>
                    <a:srgbClr val="1F2937"/>
                  </a:solidFill>
                  <a:latin typeface="Arial"/>
                </a:rPr>
                <a:t>Vox AC30 · mic ch 15</a:t>
              </a:r>
            </a:p>
            <a:p>
              <a:pPr algn="ctr"/>
              <a:r>
                <a:rPr sz="700" b="0">
                  <a:solidFill>
                    <a:srgbClr val="1F2937"/>
                  </a:solidFill>
                  <a:latin typeface="Arial"/>
                </a:rPr>
                <a:t>Thiago</a:t>
              </a:r>
            </a:p>
          </p:txBody>
        </p:sp>
      </p:grpSp>
      <p:grpSp>
        <p:nvGrpSpPr>
          <p:cNvPr id="22" name="Keys · Daniel · TBC"/>
          <p:cNvGrpSpPr/>
          <p:nvPr/>
        </p:nvGrpSpPr>
        <p:grpSpPr>
          <a:xfrm>
            <a:off x="850417" y="3641460"/>
            <a:ext cx="1619046" cy="480131"/>
            <a:chOff x="850417" y="3641460"/>
            <a:chExt cx="1619046" cy="480131"/>
          </a:xfrm>
        </p:grpSpPr>
        <p:sp>
          <p:nvSpPr>
            <p:cNvPr id="23" name="Rounded Rectangle 22"/>
            <p:cNvSpPr/>
            <p:nvPr/>
          </p:nvSpPr>
          <p:spPr>
            <a:xfrm>
              <a:off x="850417" y="3641460"/>
              <a:ext cx="1619046" cy="480131"/>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417" y="3756558"/>
              <a:ext cx="1619046" cy="249935"/>
            </a:xfrm>
            <a:prstGeom prst="rect">
              <a:avLst/>
            </a:prstGeom>
            <a:noFill/>
          </p:spPr>
          <p:txBody>
            <a:bodyPr wrap="square" lIns="0" rIns="0" tIns="0" bIns="0" anchor="ctr">
              <a:spAutoFit/>
            </a:bodyPr>
            <a:lstStyle/>
            <a:p>
              <a:pPr algn="ctr"/>
              <a:r>
                <a:rPr sz="700" b="0">
                  <a:solidFill>
                    <a:srgbClr val="1F2937"/>
                  </a:solidFill>
                  <a:latin typeface="Arial"/>
                </a:rPr>
                <a:t>Keys · Daniel · TBC</a:t>
              </a:r>
            </a:p>
            <a:p>
              <a:pPr algn="ctr"/>
              <a:r>
                <a:rPr sz="700" b="0">
                  <a:solidFill>
                    <a:srgbClr val="1F2937"/>
                  </a:solidFill>
                  <a:latin typeface="Arial"/>
                </a:rPr>
                <a:t>DI ch 19/20</a:t>
              </a:r>
            </a:p>
          </p:txBody>
        </p:sp>
      </p:grpSp>
      <p:grpSp>
        <p:nvGrpSpPr>
          <p:cNvPr id="25" name="Scotty"/>
          <p:cNvGrpSpPr/>
          <p:nvPr/>
        </p:nvGrpSpPr>
        <p:grpSpPr>
          <a:xfrm>
            <a:off x="1314399" y="5109768"/>
            <a:ext cx="914400" cy="558292"/>
            <a:chOff x="1314399" y="5109768"/>
            <a:chExt cx="914400" cy="558292"/>
          </a:xfrm>
        </p:grpSpPr>
        <p:sp>
          <p:nvSpPr>
            <p:cNvPr id="26" name="Oval 25"/>
            <p:cNvSpPr/>
            <p:nvPr/>
          </p:nvSpPr>
          <p:spPr>
            <a:xfrm>
              <a:off x="1492453" y="51097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14399" y="5210606"/>
              <a:ext cx="914400" cy="356615"/>
            </a:xfrm>
            <a:prstGeom prst="rect">
              <a:avLst/>
            </a:prstGeom>
            <a:noFill/>
          </p:spPr>
          <p:txBody>
            <a:bodyPr wrap="square" lIns="0" rIns="0" tIns="0" bIns="0" anchor="ctr">
              <a:spAutoFit/>
            </a:bodyPr>
            <a:lstStyle/>
            <a:p>
              <a:pPr algn="ctr"/>
              <a:r>
                <a:rPr sz="700" b="0">
                  <a:solidFill>
                    <a:srgbClr val="1F2937"/>
                  </a:solidFill>
                  <a:latin typeface="Arial"/>
                </a:rPr>
                <a:t>Scotty</a:t>
              </a:r>
            </a:p>
            <a:p>
              <a:pPr algn="ctr"/>
              <a:r>
                <a:rPr sz="700" b="0">
                  <a:solidFill>
                    <a:srgbClr val="1F2937"/>
                  </a:solidFill>
                  <a:latin typeface="Arial"/>
                </a:rPr>
                <a:t>guitar (from</a:t>
              </a:r>
            </a:p>
            <a:p>
              <a:pPr algn="ctr"/>
              <a:r>
                <a:rPr sz="700" b="0">
                  <a:solidFill>
                    <a:srgbClr val="1F2937"/>
                  </a:solidFill>
                  <a:latin typeface="Arial"/>
                </a:rPr>
                <a:t>song 2)</a:t>
              </a:r>
            </a:p>
          </p:txBody>
        </p:sp>
      </p:grpSp>
      <p:grpSp>
        <p:nvGrpSpPr>
          <p:cNvPr id="28" name="Scott W"/>
          <p:cNvGrpSpPr/>
          <p:nvPr/>
        </p:nvGrpSpPr>
        <p:grpSpPr>
          <a:xfrm>
            <a:off x="2877616" y="4998110"/>
            <a:ext cx="914400" cy="558292"/>
            <a:chOff x="2877616" y="4998110"/>
            <a:chExt cx="914400" cy="558292"/>
          </a:xfrm>
        </p:grpSpPr>
        <p:sp>
          <p:nvSpPr>
            <p:cNvPr id="29" name="Oval 28"/>
            <p:cNvSpPr/>
            <p:nvPr/>
          </p:nvSpPr>
          <p:spPr>
            <a:xfrm>
              <a:off x="3055670"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77616"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Scott W</a:t>
              </a:r>
            </a:p>
            <a:p>
              <a:pPr algn="ctr"/>
              <a:r>
                <a:rPr sz="700" b="0">
                  <a:solidFill>
                    <a:srgbClr val="1F2937"/>
                  </a:solidFill>
                  <a:latin typeface="Arial"/>
                </a:rPr>
                <a:t>vox</a:t>
              </a:r>
            </a:p>
          </p:txBody>
        </p:sp>
      </p:grpSp>
      <p:grpSp>
        <p:nvGrpSpPr>
          <p:cNvPr id="31" name="Sophie"/>
          <p:cNvGrpSpPr/>
          <p:nvPr/>
        </p:nvGrpSpPr>
        <p:grpSpPr>
          <a:xfrm>
            <a:off x="3156762" y="3881526"/>
            <a:ext cx="914400" cy="558292"/>
            <a:chOff x="3156762" y="3881526"/>
            <a:chExt cx="914400" cy="558292"/>
          </a:xfrm>
        </p:grpSpPr>
        <p:sp>
          <p:nvSpPr>
            <p:cNvPr id="32" name="Oval 31"/>
            <p:cNvSpPr/>
            <p:nvPr/>
          </p:nvSpPr>
          <p:spPr>
            <a:xfrm>
              <a:off x="333481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5676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Sophie</a:t>
              </a:r>
            </a:p>
            <a:p>
              <a:pPr algn="ctr"/>
              <a:r>
                <a:rPr sz="700" b="0">
                  <a:solidFill>
                    <a:srgbClr val="1F2937"/>
                  </a:solidFill>
                  <a:latin typeface="Arial"/>
                </a:rPr>
                <a:t>erhu</a:t>
              </a:r>
            </a:p>
          </p:txBody>
        </p:sp>
      </p:grpSp>
      <p:grpSp>
        <p:nvGrpSpPr>
          <p:cNvPr id="34" name="Erhu DI · ch 18"/>
          <p:cNvGrpSpPr/>
          <p:nvPr/>
        </p:nvGrpSpPr>
        <p:grpSpPr>
          <a:xfrm>
            <a:off x="3993601" y="4082511"/>
            <a:ext cx="1562384" cy="156321"/>
            <a:chOff x="3993601" y="4082511"/>
            <a:chExt cx="1562384" cy="156321"/>
          </a:xfrm>
        </p:grpSpPr>
        <p:sp>
          <p:nvSpPr>
            <p:cNvPr id="35" name="Rounded Rectangle 34"/>
            <p:cNvSpPr/>
            <p:nvPr/>
          </p:nvSpPr>
          <p:spPr>
            <a:xfrm>
              <a:off x="3993601" y="4082511"/>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75825" y="4089044"/>
              <a:ext cx="1280160" cy="143256"/>
            </a:xfrm>
            <a:prstGeom prst="rect">
              <a:avLst/>
            </a:prstGeom>
            <a:noFill/>
          </p:spPr>
          <p:txBody>
            <a:bodyPr wrap="square" lIns="0" rIns="0" tIns="0" bIns="0" anchor="ctr">
              <a:spAutoFit/>
            </a:bodyPr>
            <a:lstStyle/>
            <a:p>
              <a:pPr algn="l"/>
              <a:r>
                <a:rPr sz="700" b="0">
                  <a:solidFill>
                    <a:srgbClr val="1F2937"/>
                  </a:solidFill>
                  <a:latin typeface="Arial"/>
                </a:rPr>
                <a:t>Erhu DI · ch 18</a:t>
              </a:r>
            </a:p>
          </p:txBody>
        </p:sp>
      </p:grpSp>
      <p:grpSp>
        <p:nvGrpSpPr>
          <p:cNvPr id="37" name="Kirra"/>
          <p:cNvGrpSpPr/>
          <p:nvPr/>
        </p:nvGrpSpPr>
        <p:grpSpPr>
          <a:xfrm>
            <a:off x="6674002" y="3881526"/>
            <a:ext cx="914400" cy="558292"/>
            <a:chOff x="6674002" y="3881526"/>
            <a:chExt cx="914400" cy="558292"/>
          </a:xfrm>
        </p:grpSpPr>
        <p:sp>
          <p:nvSpPr>
            <p:cNvPr id="38" name="Oval 37"/>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Kirra</a:t>
              </a:r>
            </a:p>
            <a:p>
              <a:pPr algn="ctr"/>
              <a:r>
                <a:rPr sz="700" b="0">
                  <a:solidFill>
                    <a:srgbClr val="1F2937"/>
                  </a:solidFill>
                  <a:latin typeface="Arial"/>
                </a:rPr>
                <a:t>bass</a:t>
              </a:r>
            </a:p>
          </p:txBody>
        </p:sp>
      </p:grpSp>
      <p:grpSp>
        <p:nvGrpSpPr>
          <p:cNvPr id="40" name="Bass DI · ch 11"/>
          <p:cNvGrpSpPr/>
          <p:nvPr/>
        </p:nvGrpSpPr>
        <p:grpSpPr>
          <a:xfrm>
            <a:off x="7510840" y="4082511"/>
            <a:ext cx="1562385" cy="156321"/>
            <a:chOff x="7510840" y="4082511"/>
            <a:chExt cx="1562385" cy="156321"/>
          </a:xfrm>
        </p:grpSpPr>
        <p:sp>
          <p:nvSpPr>
            <p:cNvPr id="41" name="Rounded Rectangle 40"/>
            <p:cNvSpPr/>
            <p:nvPr/>
          </p:nvSpPr>
          <p:spPr>
            <a:xfrm>
              <a:off x="7510840" y="4082511"/>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93065" y="4089044"/>
              <a:ext cx="1280160" cy="143256"/>
            </a:xfrm>
            <a:prstGeom prst="rect">
              <a:avLst/>
            </a:prstGeom>
            <a:noFill/>
          </p:spPr>
          <p:txBody>
            <a:bodyPr wrap="square" lIns="0" rIns="0" tIns="0" bIns="0" anchor="ctr">
              <a:spAutoFit/>
            </a:bodyPr>
            <a:lstStyle/>
            <a:p>
              <a:pPr algn="l"/>
              <a:r>
                <a:rPr sz="700" b="0">
                  <a:solidFill>
                    <a:srgbClr val="1F2937"/>
                  </a:solidFill>
                  <a:latin typeface="Arial"/>
                </a:rPr>
                <a:t>Bass DI · ch 11</a:t>
              </a:r>
            </a:p>
          </p:txBody>
        </p:sp>
      </p:grpSp>
      <p:grpSp>
        <p:nvGrpSpPr>
          <p:cNvPr id="43" name="Hamish"/>
          <p:cNvGrpSpPr/>
          <p:nvPr/>
        </p:nvGrpSpPr>
        <p:grpSpPr>
          <a:xfrm>
            <a:off x="4440834" y="4998110"/>
            <a:ext cx="914400" cy="558292"/>
            <a:chOff x="4440834" y="4998110"/>
            <a:chExt cx="914400" cy="558292"/>
          </a:xfrm>
        </p:grpSpPr>
        <p:sp>
          <p:nvSpPr>
            <p:cNvPr id="44" name="Oval 43"/>
            <p:cNvSpPr/>
            <p:nvPr/>
          </p:nvSpPr>
          <p:spPr>
            <a:xfrm>
              <a:off x="4618888"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40834"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Hamish</a:t>
              </a:r>
            </a:p>
            <a:p>
              <a:pPr algn="ctr"/>
              <a:r>
                <a:rPr sz="700" b="0">
                  <a:solidFill>
                    <a:srgbClr val="1F2937"/>
                  </a:solidFill>
                  <a:latin typeface="Arial"/>
                </a:rPr>
                <a:t>vox</a:t>
              </a:r>
            </a:p>
          </p:txBody>
        </p:sp>
      </p:grpSp>
      <p:grpSp>
        <p:nvGrpSpPr>
          <p:cNvPr id="46" name="Thiago"/>
          <p:cNvGrpSpPr/>
          <p:nvPr/>
        </p:nvGrpSpPr>
        <p:grpSpPr>
          <a:xfrm>
            <a:off x="5557418" y="5109768"/>
            <a:ext cx="914400" cy="558292"/>
            <a:chOff x="5557418" y="5109768"/>
            <a:chExt cx="914400" cy="558292"/>
          </a:xfrm>
        </p:grpSpPr>
        <p:sp>
          <p:nvSpPr>
            <p:cNvPr id="47" name="Oval 46"/>
            <p:cNvSpPr/>
            <p:nvPr/>
          </p:nvSpPr>
          <p:spPr>
            <a:xfrm>
              <a:off x="5735472" y="51097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57418" y="5263946"/>
              <a:ext cx="914400" cy="249935"/>
            </a:xfrm>
            <a:prstGeom prst="rect">
              <a:avLst/>
            </a:prstGeom>
            <a:noFill/>
          </p:spPr>
          <p:txBody>
            <a:bodyPr wrap="square" lIns="0" rIns="0" tIns="0" bIns="0" anchor="ctr">
              <a:spAutoFit/>
            </a:bodyPr>
            <a:lstStyle/>
            <a:p>
              <a:pPr algn="ctr"/>
              <a:r>
                <a:rPr sz="700" b="0">
                  <a:solidFill>
                    <a:srgbClr val="1F2937"/>
                  </a:solidFill>
                  <a:latin typeface="Arial"/>
                </a:rPr>
                <a:t>Thiago</a:t>
              </a:r>
            </a:p>
            <a:p>
              <a:pPr algn="ctr"/>
              <a:r>
                <a:rPr sz="700" b="0">
                  <a:solidFill>
                    <a:srgbClr val="1F2937"/>
                  </a:solidFill>
                  <a:latin typeface="Arial"/>
                </a:rPr>
                <a:t>guitar</a:t>
              </a:r>
            </a:p>
          </p:txBody>
        </p:sp>
      </p:grpSp>
      <p:grpSp>
        <p:nvGrpSpPr>
          <p:cNvPr id="49" name="Mindy"/>
          <p:cNvGrpSpPr/>
          <p:nvPr/>
        </p:nvGrpSpPr>
        <p:grpSpPr>
          <a:xfrm>
            <a:off x="6562343" y="4998110"/>
            <a:ext cx="914400" cy="558292"/>
            <a:chOff x="6562343" y="4998110"/>
            <a:chExt cx="914400" cy="558292"/>
          </a:xfrm>
        </p:grpSpPr>
        <p:sp>
          <p:nvSpPr>
            <p:cNvPr id="50" name="Oval 49"/>
            <p:cNvSpPr/>
            <p:nvPr/>
          </p:nvSpPr>
          <p:spPr>
            <a:xfrm>
              <a:off x="6740397"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62343"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Mindy</a:t>
              </a:r>
            </a:p>
            <a:p>
              <a:pPr algn="ctr"/>
              <a:r>
                <a:rPr sz="700" b="0">
                  <a:solidFill>
                    <a:srgbClr val="1F2937"/>
                  </a:solidFill>
                  <a:latin typeface="Arial"/>
                </a:rPr>
                <a:t>vox</a:t>
              </a:r>
            </a:p>
          </p:txBody>
        </p:sp>
      </p:grpSp>
      <p:grpSp>
        <p:nvGrpSpPr>
          <p:cNvPr id="52" name="Elle"/>
          <p:cNvGrpSpPr/>
          <p:nvPr/>
        </p:nvGrpSpPr>
        <p:grpSpPr>
          <a:xfrm>
            <a:off x="7232294" y="4998110"/>
            <a:ext cx="914400" cy="558292"/>
            <a:chOff x="7232294" y="4998110"/>
            <a:chExt cx="914400" cy="558292"/>
          </a:xfrm>
        </p:grpSpPr>
        <p:sp>
          <p:nvSpPr>
            <p:cNvPr id="53" name="Oval 52"/>
            <p:cNvSpPr/>
            <p:nvPr/>
          </p:nvSpPr>
          <p:spPr>
            <a:xfrm>
              <a:off x="7410348"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32294"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Elle</a:t>
              </a:r>
            </a:p>
            <a:p>
              <a:pPr algn="ctr"/>
              <a:r>
                <a:rPr sz="700" b="0">
                  <a:solidFill>
                    <a:srgbClr val="1F2937"/>
                  </a:solidFill>
                  <a:latin typeface="Arial"/>
                </a:rPr>
                <a:t>vox</a:t>
              </a:r>
            </a:p>
          </p:txBody>
        </p:sp>
      </p:grpSp>
      <p:grpSp>
        <p:nvGrpSpPr>
          <p:cNvPr id="55" name="Lil"/>
          <p:cNvGrpSpPr/>
          <p:nvPr/>
        </p:nvGrpSpPr>
        <p:grpSpPr>
          <a:xfrm>
            <a:off x="8237220" y="4998110"/>
            <a:ext cx="914400" cy="558292"/>
            <a:chOff x="8237220" y="4998110"/>
            <a:chExt cx="914400" cy="558292"/>
          </a:xfrm>
        </p:grpSpPr>
        <p:sp>
          <p:nvSpPr>
            <p:cNvPr id="56" name="Oval 55"/>
            <p:cNvSpPr/>
            <p:nvPr/>
          </p:nvSpPr>
          <p:spPr>
            <a:xfrm>
              <a:off x="8415273"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37220"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Lil</a:t>
              </a:r>
            </a:p>
            <a:p>
              <a:pPr algn="ctr"/>
              <a:r>
                <a:rPr sz="700" b="0">
                  <a:solidFill>
                    <a:srgbClr val="1F2937"/>
                  </a:solidFill>
                  <a:latin typeface="Arial"/>
                </a:rPr>
                <a:t>vox</a:t>
              </a:r>
            </a:p>
          </p:txBody>
        </p:sp>
      </p:grpSp>
      <p:grpSp>
        <p:nvGrpSpPr>
          <p:cNvPr id="58" name="Vox 1 · ch 21"/>
          <p:cNvGrpSpPr/>
          <p:nvPr/>
        </p:nvGrpSpPr>
        <p:grpSpPr>
          <a:xfrm>
            <a:off x="2466136" y="5723890"/>
            <a:ext cx="1737360" cy="487375"/>
            <a:chOff x="2466136" y="5723890"/>
            <a:chExt cx="1737360" cy="487375"/>
          </a:xfrm>
        </p:grpSpPr>
        <p:sp>
          <p:nvSpPr>
            <p:cNvPr id="59" name="Oval 58"/>
            <p:cNvSpPr/>
            <p:nvPr/>
          </p:nvSpPr>
          <p:spPr>
            <a:xfrm>
              <a:off x="3167329"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466136"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1 · ch 21</a:t>
              </a:r>
            </a:p>
          </p:txBody>
        </p:sp>
      </p:grpSp>
      <p:grpSp>
        <p:nvGrpSpPr>
          <p:cNvPr id="61" name="Vox 2 · ch 22"/>
          <p:cNvGrpSpPr/>
          <p:nvPr/>
        </p:nvGrpSpPr>
        <p:grpSpPr>
          <a:xfrm>
            <a:off x="4029354" y="5723890"/>
            <a:ext cx="1737360" cy="487375"/>
            <a:chOff x="4029354" y="5723890"/>
            <a:chExt cx="1737360" cy="487375"/>
          </a:xfrm>
        </p:grpSpPr>
        <p:sp>
          <p:nvSpPr>
            <p:cNvPr id="62" name="Oval 61"/>
            <p:cNvSpPr/>
            <p:nvPr/>
          </p:nvSpPr>
          <p:spPr>
            <a:xfrm>
              <a:off x="4730546"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029354"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2 · ch 22</a:t>
              </a:r>
            </a:p>
          </p:txBody>
        </p:sp>
      </p:grpSp>
      <p:grpSp>
        <p:nvGrpSpPr>
          <p:cNvPr id="64" name="Vox 3 · ch 23"/>
          <p:cNvGrpSpPr/>
          <p:nvPr/>
        </p:nvGrpSpPr>
        <p:grpSpPr>
          <a:xfrm>
            <a:off x="6485839" y="5723890"/>
            <a:ext cx="1737360" cy="487375"/>
            <a:chOff x="6485839" y="5723890"/>
            <a:chExt cx="1737360" cy="487375"/>
          </a:xfrm>
        </p:grpSpPr>
        <p:sp>
          <p:nvSpPr>
            <p:cNvPr id="65" name="Oval 64"/>
            <p:cNvSpPr/>
            <p:nvPr/>
          </p:nvSpPr>
          <p:spPr>
            <a:xfrm>
              <a:off x="7187031"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85839"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3 · ch 23</a:t>
              </a:r>
            </a:p>
          </p:txBody>
        </p:sp>
      </p:grpSp>
      <p:grpSp>
        <p:nvGrpSpPr>
          <p:cNvPr id="67" name="Vox 4 · ch 24"/>
          <p:cNvGrpSpPr/>
          <p:nvPr/>
        </p:nvGrpSpPr>
        <p:grpSpPr>
          <a:xfrm>
            <a:off x="7825740" y="5723890"/>
            <a:ext cx="1737360" cy="487375"/>
            <a:chOff x="7825740" y="5723890"/>
            <a:chExt cx="1737360" cy="487375"/>
          </a:xfrm>
        </p:grpSpPr>
        <p:sp>
          <p:nvSpPr>
            <p:cNvPr id="68" name="Oval 67"/>
            <p:cNvSpPr/>
            <p:nvPr/>
          </p:nvSpPr>
          <p:spPr>
            <a:xfrm>
              <a:off x="8526932"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25740"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4 · ch 24</a:t>
              </a:r>
            </a:p>
          </p:txBody>
        </p:sp>
      </p:grpSp>
      <p:sp>
        <p:nvSpPr>
          <p:cNvPr id="70"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1" name="TextBox 70"/>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72"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3" name="TextBox 72"/>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74"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5" name="TextBox 74"/>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76"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7" name="TextBox 76"/>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78"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9" name="TextBox 78"/>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80"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81" name="TextBox 80"/>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82"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83" name="TextBox 82"/>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84" name="TextBox 83"/>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85" name="Rectangle 84"/>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ShipReX (Rex Software)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7:15–7:40 pm · soundcheck 6:00 pm · contact on the day: Scott Warren</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2555102"/>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32282">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Simon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Kirra, DI only (no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Scotty, joins from 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Thiago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Instrument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Sophie, erhu pickup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19/20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Keys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Daniel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Scott W: lead on songs 3 and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Hamish: lead on songs 1, 2, 5 and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Mindy and Elle share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Lil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3378072"/>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12, 14, 16, 17, 25, 26, 27, 28. Ch 31/32 are the crowd mics, for the recording only.</a:t>
            </a:r>
          </a:p>
        </p:txBody>
      </p:sp>
      <p:sp>
        <p:nvSpPr>
          <p:cNvPr id="7" name="Monitors and in-ears"/>
          <p:cNvSpPr/>
          <p:nvPr/>
        </p:nvSpPr>
        <p:spPr>
          <a:xfrm>
            <a:off x="5257799" y="777240"/>
            <a:ext cx="5111496" cy="49244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No in-ear feeds requested.</a:t>
            </a:r>
          </a:p>
        </p:txBody>
      </p:sp>
      <p:sp>
        <p:nvSpPr>
          <p:cNvPr id="8" name="Screen and playback"/>
          <p:cNvSpPr/>
          <p:nvPr/>
        </p:nvSpPr>
        <p:spPr>
          <a:xfrm>
            <a:off x="5257799" y="1379410"/>
            <a:ext cx="5111496" cy="49244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None.</a:t>
            </a:r>
          </a:p>
        </p:txBody>
      </p:sp>
      <p:sp>
        <p:nvSpPr>
          <p:cNvPr id="9" name="Changeover into this set"/>
          <p:cNvSpPr/>
          <p:nvPr/>
        </p:nvSpPr>
        <p:spPr>
          <a:xfrm>
            <a:off x="5257799" y="1981581"/>
            <a:ext cx="5111496" cy="643255"/>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Changeover into this set</a:t>
            </a:r>
          </a:p>
          <a:p>
            <a:r>
              <a:rPr sz="950">
                <a:solidFill>
                  <a:srgbClr val="1F2937"/>
                </a:solidFill>
                <a:latin typeface="Arial"/>
              </a:rPr>
              <a:t>Opening set, so the stage stays set from their 6:00 pm soundcheck. 11 people on stage: five singers on four mics, two guitars, bass, drums, keys and erhu.</a:t>
            </a:r>
          </a:p>
        </p:txBody>
      </p:sp>
      <p:sp>
        <p:nvSpPr>
          <p:cNvPr id="10" name="Notes and to confirm"/>
          <p:cNvSpPr/>
          <p:nvPr/>
        </p:nvSpPr>
        <p:spPr>
          <a:xfrm>
            <a:off x="5257799" y="2734564"/>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Stage layout is as they stood in Brisbane. Is Daniel bringing a keyboard, or using the Korg Kronos? Lighting for Mustang Sally (new for Sydney); the other lighting notes are carried over from Brisbane.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ShipReX (Rex Software)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7:15–7:40 pm · soundcheck 6:00 pm · contact on the day: Scott Warren</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24:25 planned, in a 25-minute slot. No walk-on or between-song details given.</a:t>
            </a:r>
          </a:p>
        </p:txBody>
      </p:sp>
      <p:graphicFrame>
        <p:nvGraphicFramePr>
          <p:cNvPr id="6" name="Table 5"/>
          <p:cNvGraphicFramePr>
            <a:graphicFrameLocks noGrp="1"/>
          </p:cNvGraphicFramePr>
          <p:nvPr/>
        </p:nvGraphicFramePr>
        <p:xfrm>
          <a:off x="320040" y="1097280"/>
          <a:ext cx="10049256" cy="3183124"/>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720343">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Uprising — Muse (opens with 30 s of Careless Whisper on erhu)</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6:00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except Scotty (guitar). Lead: Hamish (Vox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Dark, spotlight on the erhu to begin. Blackout on the last erhu note, then hit the full band in deep red on the Uprising riff. Moody red through the verses with a slow pulse on the stomp beat, brighter white hits on the choruses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Espresso — Sabrina Carpenter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(Scotty joins on guitar). Lead: Hamish (Vox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Bright and poppy: full warm wash, yellows, oranges and hot pink. No dark moments. Colour sweep or mirror ball on each chorus; keep the crowd lit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Dumb Things — Paul Kelly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Scott W (Vox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Warm white pub-rock wash, even and front-lit so faces are visible. Lift the wash and bring up the crowd for the singalong choruses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Mustang Sally — Wilson Pickett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Scott W (Vox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Not given yet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96391">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Everlong — Foo Fighters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Hamish (Vox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Cool blues and purples on the verses, slam to bright white on every chorus. Drop to a single colour for the quiet bridge, then full blast for the last chorus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Covered in Chrome — Violent Soho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3:45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Hamish (Vox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Closer, go big: hot white and red, strobes on the chant, everything on for the outro. Hard blackout on the final hit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Bandlassian (Atlassian)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7:50–8:15 pm · soundcheck 5:45 pm · contact on the day: Steve Kraynov</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Ethan</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Eren / Kazuki</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ch 11 + 12</a:t>
              </a:r>
            </a:p>
          </p:txBody>
        </p:sp>
      </p:grpSp>
      <p:grpSp>
        <p:nvGrpSpPr>
          <p:cNvPr id="19" name="Vox AC30 · mic ch 15"/>
          <p:cNvGrpSpPr/>
          <p:nvPr/>
        </p:nvGrpSpPr>
        <p:grpSpPr>
          <a:xfrm>
            <a:off x="7602423" y="2837520"/>
            <a:ext cx="1737360" cy="560557"/>
            <a:chOff x="7602423" y="2837520"/>
            <a:chExt cx="1737360" cy="560557"/>
          </a:xfrm>
        </p:grpSpPr>
        <p:sp>
          <p:nvSpPr>
            <p:cNvPr id="20" name="Rounded Rectangle 19"/>
            <p:cNvSpPr/>
            <p:nvPr/>
          </p:nvSpPr>
          <p:spPr>
            <a:xfrm>
              <a:off x="8080298" y="2837520"/>
              <a:ext cx="781608" cy="301477"/>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249935"/>
            </a:xfrm>
            <a:prstGeom prst="rect">
              <a:avLst/>
            </a:prstGeom>
            <a:noFill/>
          </p:spPr>
          <p:txBody>
            <a:bodyPr wrap="square" lIns="0" rIns="0" tIns="0" bIns="0" anchor="ctr">
              <a:spAutoFit/>
            </a:bodyPr>
            <a:lstStyle/>
            <a:p>
              <a:pPr algn="ctr"/>
              <a:r>
                <a:rPr sz="700" b="0">
                  <a:solidFill>
                    <a:srgbClr val="1F2937"/>
                  </a:solidFill>
                  <a:latin typeface="Arial"/>
                </a:rPr>
                <a:t>Vox AC30 · mic ch 15</a:t>
              </a:r>
            </a:p>
            <a:p>
              <a:pPr algn="ctr"/>
              <a:r>
                <a:rPr sz="700" b="0">
                  <a:solidFill>
                    <a:srgbClr val="1F2937"/>
                  </a:solidFill>
                  <a:latin typeface="Arial"/>
                </a:rPr>
                <a:t>Steve / Josh</a:t>
              </a:r>
            </a:p>
          </p:txBody>
        </p:sp>
      </p:grpSp>
      <p:grpSp>
        <p:nvGrpSpPr>
          <p:cNvPr id="22" name="Ethan's in-ear amp"/>
          <p:cNvGrpSpPr/>
          <p:nvPr/>
        </p:nvGrpSpPr>
        <p:grpSpPr>
          <a:xfrm>
            <a:off x="5257596" y="2709113"/>
            <a:ext cx="1737360" cy="705712"/>
            <a:chOff x="5257596" y="2709113"/>
            <a:chExt cx="1737360" cy="705712"/>
          </a:xfrm>
        </p:grpSpPr>
        <p:sp>
          <p:nvSpPr>
            <p:cNvPr id="23" name="Rounded Rectangle 22"/>
            <p:cNvSpPr/>
            <p:nvPr/>
          </p:nvSpPr>
          <p:spPr>
            <a:xfrm>
              <a:off x="5847130" y="2709113"/>
              <a:ext cx="558292" cy="446633"/>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596" y="3164890"/>
              <a:ext cx="1737360" cy="249935"/>
            </a:xfrm>
            <a:prstGeom prst="rect">
              <a:avLst/>
            </a:prstGeom>
            <a:noFill/>
          </p:spPr>
          <p:txBody>
            <a:bodyPr wrap="square" lIns="0" rIns="0" tIns="0" bIns="0" anchor="ctr">
              <a:spAutoFit/>
            </a:bodyPr>
            <a:lstStyle/>
            <a:p>
              <a:pPr algn="ctr"/>
              <a:r>
                <a:rPr sz="700" b="0">
                  <a:solidFill>
                    <a:srgbClr val="1F2937"/>
                  </a:solidFill>
                  <a:latin typeface="Arial"/>
                </a:rPr>
                <a:t>Ethan's in-ear amp</a:t>
              </a:r>
            </a:p>
            <a:p>
              <a:pPr algn="ctr"/>
              <a:r>
                <a:rPr sz="700" b="0">
                  <a:solidFill>
                    <a:srgbClr val="1F2937"/>
                  </a:solidFill>
                  <a:latin typeface="Arial"/>
                </a:rPr>
                <a:t>XLR mix feed</a:t>
              </a:r>
            </a:p>
          </p:txBody>
        </p:sp>
      </p:grpSp>
      <p:grpSp>
        <p:nvGrpSpPr>
          <p:cNvPr id="25" name="Eren /"/>
          <p:cNvGrpSpPr/>
          <p:nvPr/>
        </p:nvGrpSpPr>
        <p:grpSpPr>
          <a:xfrm>
            <a:off x="2207666" y="3825697"/>
            <a:ext cx="914400" cy="558292"/>
            <a:chOff x="2207666" y="3825697"/>
            <a:chExt cx="914400" cy="558292"/>
          </a:xfrm>
        </p:grpSpPr>
        <p:sp>
          <p:nvSpPr>
            <p:cNvPr id="26" name="Oval 25"/>
            <p:cNvSpPr/>
            <p:nvPr/>
          </p:nvSpPr>
          <p:spPr>
            <a:xfrm>
              <a:off x="2385720" y="3825697"/>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07666" y="3926535"/>
              <a:ext cx="914400" cy="356615"/>
            </a:xfrm>
            <a:prstGeom prst="rect">
              <a:avLst/>
            </a:prstGeom>
            <a:noFill/>
          </p:spPr>
          <p:txBody>
            <a:bodyPr wrap="square" lIns="0" rIns="0" tIns="0" bIns="0" anchor="ctr">
              <a:spAutoFit/>
            </a:bodyPr>
            <a:lstStyle/>
            <a:p>
              <a:pPr algn="ctr"/>
              <a:r>
                <a:rPr sz="700" b="0">
                  <a:solidFill>
                    <a:srgbClr val="1F2937"/>
                  </a:solidFill>
                  <a:latin typeface="Arial"/>
                </a:rPr>
                <a:t>Eren /</a:t>
              </a:r>
            </a:p>
            <a:p>
              <a:pPr algn="ctr"/>
              <a:r>
                <a:rPr sz="700" b="0">
                  <a:solidFill>
                    <a:srgbClr val="1F2937"/>
                  </a:solidFill>
                  <a:latin typeface="Arial"/>
                </a:rPr>
                <a:t>Kazuki</a:t>
              </a:r>
            </a:p>
            <a:p>
              <a:pPr algn="ctr"/>
              <a:r>
                <a:rPr sz="700" b="0">
                  <a:solidFill>
                    <a:srgbClr val="1F2937"/>
                  </a:solidFill>
                  <a:latin typeface="Arial"/>
                </a:rPr>
                <a:t>guitar</a:t>
              </a:r>
            </a:p>
          </p:txBody>
        </p:sp>
      </p:grpSp>
      <p:grpSp>
        <p:nvGrpSpPr>
          <p:cNvPr id="28" name="Linda"/>
          <p:cNvGrpSpPr/>
          <p:nvPr/>
        </p:nvGrpSpPr>
        <p:grpSpPr>
          <a:xfrm>
            <a:off x="6674002" y="3881526"/>
            <a:ext cx="914400" cy="558292"/>
            <a:chOff x="6674002" y="3881526"/>
            <a:chExt cx="914400" cy="558292"/>
          </a:xfrm>
        </p:grpSpPr>
        <p:sp>
          <p:nvSpPr>
            <p:cNvPr id="29" name="Oval 28"/>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Linda</a:t>
              </a:r>
            </a:p>
            <a:p>
              <a:pPr algn="ctr"/>
              <a:r>
                <a:rPr sz="700" b="0">
                  <a:solidFill>
                    <a:srgbClr val="1F2937"/>
                  </a:solidFill>
                  <a:latin typeface="Arial"/>
                </a:rPr>
                <a:t>bass</a:t>
              </a:r>
            </a:p>
          </p:txBody>
        </p:sp>
      </p:grpSp>
      <p:grpSp>
        <p:nvGrpSpPr>
          <p:cNvPr id="31" name="Josh /"/>
          <p:cNvGrpSpPr/>
          <p:nvPr/>
        </p:nvGrpSpPr>
        <p:grpSpPr>
          <a:xfrm>
            <a:off x="9018828" y="2988259"/>
            <a:ext cx="914400" cy="558292"/>
            <a:chOff x="9018828" y="2988259"/>
            <a:chExt cx="914400" cy="558292"/>
          </a:xfrm>
        </p:grpSpPr>
        <p:sp>
          <p:nvSpPr>
            <p:cNvPr id="32" name="Oval 31"/>
            <p:cNvSpPr/>
            <p:nvPr/>
          </p:nvSpPr>
          <p:spPr>
            <a:xfrm>
              <a:off x="9196882" y="2988259"/>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18828" y="3089097"/>
              <a:ext cx="914400" cy="356615"/>
            </a:xfrm>
            <a:prstGeom prst="rect">
              <a:avLst/>
            </a:prstGeom>
            <a:noFill/>
          </p:spPr>
          <p:txBody>
            <a:bodyPr wrap="square" lIns="0" rIns="0" tIns="0" bIns="0" anchor="ctr">
              <a:spAutoFit/>
            </a:bodyPr>
            <a:lstStyle/>
            <a:p>
              <a:pPr algn="ctr"/>
              <a:r>
                <a:rPr sz="700" b="0">
                  <a:solidFill>
                    <a:srgbClr val="1F2937"/>
                  </a:solidFill>
                  <a:latin typeface="Arial"/>
                </a:rPr>
                <a:t>Josh /</a:t>
              </a:r>
            </a:p>
            <a:p>
              <a:pPr algn="ctr"/>
              <a:r>
                <a:rPr sz="700" b="0">
                  <a:solidFill>
                    <a:srgbClr val="1F2937"/>
                  </a:solidFill>
                  <a:latin typeface="Arial"/>
                </a:rPr>
                <a:t>Mendel</a:t>
              </a:r>
            </a:p>
            <a:p>
              <a:pPr algn="ctr"/>
              <a:r>
                <a:rPr sz="700" b="0">
                  <a:solidFill>
                    <a:srgbClr val="1F2937"/>
                  </a:solidFill>
                  <a:latin typeface="Arial"/>
                </a:rPr>
                <a:t>keys</a:t>
              </a:r>
            </a:p>
          </p:txBody>
        </p:sp>
      </p:grpSp>
      <p:grpSp>
        <p:nvGrpSpPr>
          <p:cNvPr id="34" name="Keys (Kronos) · DI ch 19/20"/>
          <p:cNvGrpSpPr/>
          <p:nvPr/>
        </p:nvGrpSpPr>
        <p:grpSpPr>
          <a:xfrm>
            <a:off x="8610676" y="3641460"/>
            <a:ext cx="1619046" cy="480131"/>
            <a:chOff x="8610676" y="3641460"/>
            <a:chExt cx="1619046" cy="480131"/>
          </a:xfrm>
        </p:grpSpPr>
        <p:sp>
          <p:nvSpPr>
            <p:cNvPr id="35" name="Rounded Rectangle 34"/>
            <p:cNvSpPr/>
            <p:nvPr/>
          </p:nvSpPr>
          <p:spPr>
            <a:xfrm>
              <a:off x="8610676" y="3641460"/>
              <a:ext cx="1619046" cy="480131"/>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0676" y="3809898"/>
              <a:ext cx="1619046" cy="143256"/>
            </a:xfrm>
            <a:prstGeom prst="rect">
              <a:avLst/>
            </a:prstGeom>
            <a:noFill/>
          </p:spPr>
          <p:txBody>
            <a:bodyPr wrap="square" lIns="0" rIns="0" tIns="0" bIns="0" anchor="ctr">
              <a:spAutoFit/>
            </a:bodyPr>
            <a:lstStyle/>
            <a:p>
              <a:pPr algn="ctr"/>
              <a:r>
                <a:rPr sz="700" b="0">
                  <a:solidFill>
                    <a:srgbClr val="1F2937"/>
                  </a:solidFill>
                  <a:latin typeface="Arial"/>
                </a:rPr>
                <a:t>Keys (Kronos) · DI ch 19/20</a:t>
              </a:r>
            </a:p>
          </p:txBody>
        </p:sp>
      </p:grpSp>
      <p:grpSp>
        <p:nvGrpSpPr>
          <p:cNvPr id="37" name="Steve /"/>
          <p:cNvGrpSpPr/>
          <p:nvPr/>
        </p:nvGrpSpPr>
        <p:grpSpPr>
          <a:xfrm>
            <a:off x="8013903" y="4160672"/>
            <a:ext cx="914400" cy="558292"/>
            <a:chOff x="8013903" y="4160672"/>
            <a:chExt cx="914400" cy="558292"/>
          </a:xfrm>
        </p:grpSpPr>
        <p:sp>
          <p:nvSpPr>
            <p:cNvPr id="38" name="Oval 37"/>
            <p:cNvSpPr/>
            <p:nvPr/>
          </p:nvSpPr>
          <p:spPr>
            <a:xfrm>
              <a:off x="8191957" y="4160672"/>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13903" y="4261510"/>
              <a:ext cx="914400" cy="356615"/>
            </a:xfrm>
            <a:prstGeom prst="rect">
              <a:avLst/>
            </a:prstGeom>
            <a:noFill/>
          </p:spPr>
          <p:txBody>
            <a:bodyPr wrap="square" lIns="0" rIns="0" tIns="0" bIns="0" anchor="ctr">
              <a:spAutoFit/>
            </a:bodyPr>
            <a:lstStyle/>
            <a:p>
              <a:pPr algn="ctr"/>
              <a:r>
                <a:rPr sz="700" b="0">
                  <a:solidFill>
                    <a:srgbClr val="1F2937"/>
                  </a:solidFill>
                  <a:latin typeface="Arial"/>
                </a:rPr>
                <a:t>Steve /</a:t>
              </a:r>
            </a:p>
            <a:p>
              <a:pPr algn="ctr"/>
              <a:r>
                <a:rPr sz="700" b="0">
                  <a:solidFill>
                    <a:srgbClr val="1F2937"/>
                  </a:solidFill>
                  <a:latin typeface="Arial"/>
                </a:rPr>
                <a:t>Josh</a:t>
              </a:r>
            </a:p>
            <a:p>
              <a:pPr algn="ctr"/>
              <a:r>
                <a:rPr sz="700" b="0">
                  <a:solidFill>
                    <a:srgbClr val="1F2937"/>
                  </a:solidFill>
                  <a:latin typeface="Arial"/>
                </a:rPr>
                <a:t>guitar</a:t>
              </a:r>
            </a:p>
          </p:txBody>
        </p:sp>
      </p:grpSp>
      <p:grpSp>
        <p:nvGrpSpPr>
          <p:cNvPr id="40" name="Laptop (Ant) · position TBC"/>
          <p:cNvGrpSpPr/>
          <p:nvPr/>
        </p:nvGrpSpPr>
        <p:grpSpPr>
          <a:xfrm>
            <a:off x="338328" y="2960344"/>
            <a:ext cx="1737360" cy="761542"/>
            <a:chOff x="338328" y="2960344"/>
            <a:chExt cx="1737360" cy="761542"/>
          </a:xfrm>
        </p:grpSpPr>
        <p:sp>
          <p:nvSpPr>
            <p:cNvPr id="41" name="Rounded Rectangle 40"/>
            <p:cNvSpPr/>
            <p:nvPr/>
          </p:nvSpPr>
          <p:spPr>
            <a:xfrm>
              <a:off x="822502" y="2960344"/>
              <a:ext cx="669950" cy="50246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8328" y="3471951"/>
              <a:ext cx="1737360" cy="249935"/>
            </a:xfrm>
            <a:prstGeom prst="rect">
              <a:avLst/>
            </a:prstGeom>
            <a:noFill/>
          </p:spPr>
          <p:txBody>
            <a:bodyPr wrap="square" lIns="0" rIns="0" tIns="0" bIns="0" anchor="ctr">
              <a:spAutoFit/>
            </a:bodyPr>
            <a:lstStyle/>
            <a:p>
              <a:pPr algn="ctr"/>
              <a:r>
                <a:rPr sz="700" b="0">
                  <a:solidFill>
                    <a:srgbClr val="1F2937"/>
                  </a:solidFill>
                  <a:latin typeface="Arial"/>
                </a:rPr>
                <a:t>Laptop (Ant) · position TBC</a:t>
              </a:r>
            </a:p>
            <a:p>
              <a:pPr algn="ctr"/>
              <a:r>
                <a:rPr sz="700" b="0">
                  <a:solidFill>
                    <a:srgbClr val="1F2937"/>
                  </a:solidFill>
                  <a:latin typeface="Arial"/>
                </a:rPr>
                <a:t>HDMI video + audio</a:t>
              </a:r>
            </a:p>
          </p:txBody>
        </p:sp>
      </p:grpSp>
      <p:grpSp>
        <p:nvGrpSpPr>
          <p:cNvPr id="43" name="Lesley"/>
          <p:cNvGrpSpPr/>
          <p:nvPr/>
        </p:nvGrpSpPr>
        <p:grpSpPr>
          <a:xfrm>
            <a:off x="3659225" y="4998110"/>
            <a:ext cx="914400" cy="558292"/>
            <a:chOff x="3659225" y="4998110"/>
            <a:chExt cx="914400" cy="558292"/>
          </a:xfrm>
        </p:grpSpPr>
        <p:sp>
          <p:nvSpPr>
            <p:cNvPr id="44" name="Oval 43"/>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Lesley</a:t>
              </a:r>
            </a:p>
            <a:p>
              <a:pPr algn="ctr"/>
              <a:r>
                <a:rPr sz="700" b="0">
                  <a:solidFill>
                    <a:srgbClr val="1F2937"/>
                  </a:solidFill>
                  <a:latin typeface="Arial"/>
                </a:rPr>
                <a:t>vox</a:t>
              </a:r>
            </a:p>
          </p:txBody>
        </p:sp>
      </p:grpSp>
      <p:grpSp>
        <p:nvGrpSpPr>
          <p:cNvPr id="46" name="Luke"/>
          <p:cNvGrpSpPr/>
          <p:nvPr/>
        </p:nvGrpSpPr>
        <p:grpSpPr>
          <a:xfrm>
            <a:off x="6115710" y="4998110"/>
            <a:ext cx="914400" cy="558292"/>
            <a:chOff x="6115710" y="4998110"/>
            <a:chExt cx="914400" cy="558292"/>
          </a:xfrm>
        </p:grpSpPr>
        <p:sp>
          <p:nvSpPr>
            <p:cNvPr id="47" name="Oval 46"/>
            <p:cNvSpPr/>
            <p:nvPr/>
          </p:nvSpPr>
          <p:spPr>
            <a:xfrm>
              <a:off x="6293764"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15710"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Luke</a:t>
              </a:r>
            </a:p>
            <a:p>
              <a:pPr algn="ctr"/>
              <a:r>
                <a:rPr sz="700" b="0">
                  <a:solidFill>
                    <a:srgbClr val="1F2937"/>
                  </a:solidFill>
                  <a:latin typeface="Arial"/>
                </a:rPr>
                <a:t>vox</a:t>
              </a:r>
            </a:p>
          </p:txBody>
        </p:sp>
      </p:grpSp>
      <p:grpSp>
        <p:nvGrpSpPr>
          <p:cNvPr id="49" name="Vox 1 · fold down"/>
          <p:cNvGrpSpPr/>
          <p:nvPr/>
        </p:nvGrpSpPr>
        <p:grpSpPr>
          <a:xfrm>
            <a:off x="902919" y="5723890"/>
            <a:ext cx="1737360" cy="487375"/>
            <a:chOff x="902919" y="5723890"/>
            <a:chExt cx="1737360" cy="487375"/>
          </a:xfrm>
        </p:grpSpPr>
        <p:sp>
          <p:nvSpPr>
            <p:cNvPr id="50" name="Oval 49"/>
            <p:cNvSpPr/>
            <p:nvPr/>
          </p:nvSpPr>
          <p:spPr>
            <a:xfrm>
              <a:off x="1604111"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2919"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1 · fold down</a:t>
              </a:r>
            </a:p>
          </p:txBody>
        </p:sp>
      </p:grpSp>
      <p:grpSp>
        <p:nvGrpSpPr>
          <p:cNvPr id="52" name="Vox 2 · ch 22"/>
          <p:cNvGrpSpPr/>
          <p:nvPr/>
        </p:nvGrpSpPr>
        <p:grpSpPr>
          <a:xfrm>
            <a:off x="3247745" y="5723890"/>
            <a:ext cx="1737360" cy="487375"/>
            <a:chOff x="3247745" y="5723890"/>
            <a:chExt cx="1737360" cy="487375"/>
          </a:xfrm>
        </p:grpSpPr>
        <p:sp>
          <p:nvSpPr>
            <p:cNvPr id="53" name="Oval 52"/>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47745"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2 · ch 22</a:t>
              </a:r>
            </a:p>
          </p:txBody>
        </p:sp>
      </p:grpSp>
      <p:grpSp>
        <p:nvGrpSpPr>
          <p:cNvPr id="55" name="Vox 3 · ch 23"/>
          <p:cNvGrpSpPr/>
          <p:nvPr/>
        </p:nvGrpSpPr>
        <p:grpSpPr>
          <a:xfrm>
            <a:off x="5704230" y="5723890"/>
            <a:ext cx="1737360" cy="487375"/>
            <a:chOff x="5704230" y="5723890"/>
            <a:chExt cx="1737360" cy="487375"/>
          </a:xfrm>
        </p:grpSpPr>
        <p:sp>
          <p:nvSpPr>
            <p:cNvPr id="56" name="Oval 55"/>
            <p:cNvSpPr/>
            <p:nvPr/>
          </p:nvSpPr>
          <p:spPr>
            <a:xfrm>
              <a:off x="6405422"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3 · ch 23</a:t>
              </a:r>
            </a:p>
          </p:txBody>
        </p:sp>
      </p:grpSp>
      <p:grpSp>
        <p:nvGrpSpPr>
          <p:cNvPr id="58" name="Vox 4 · fold down"/>
          <p:cNvGrpSpPr/>
          <p:nvPr/>
        </p:nvGrpSpPr>
        <p:grpSpPr>
          <a:xfrm>
            <a:off x="8049056" y="5723890"/>
            <a:ext cx="1737360" cy="487375"/>
            <a:chOff x="8049056" y="5723890"/>
            <a:chExt cx="1737360" cy="487375"/>
          </a:xfrm>
        </p:grpSpPr>
        <p:sp>
          <p:nvSpPr>
            <p:cNvPr id="59" name="Oval 58"/>
            <p:cNvSpPr/>
            <p:nvPr/>
          </p:nvSpPr>
          <p:spPr>
            <a:xfrm>
              <a:off x="8750249"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4 · fold down</a:t>
              </a:r>
            </a:p>
          </p:txBody>
        </p:sp>
      </p:grpSp>
      <p:sp>
        <p:nvSpPr>
          <p:cNvPr id="61"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2" name="TextBox 61"/>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63"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4" name="TextBox 63"/>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65"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6" name="TextBox 65"/>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67"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8" name="TextBox 67"/>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69"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0" name="TextBox 69"/>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71"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2" name="TextBox 71"/>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73"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4" name="TextBox 73"/>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75" name="TextBox 74"/>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76" name="Rectangle 75"/>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Bandlassian (Atlassian)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7:50–8:15 pm · soundcheck 5:45 pm · contact on the day: Steve Kraynov</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2322820"/>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32282">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Ethan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Linda: Ampeg DI out, own Zoom B1 Four pedal in front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Ampeg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Eren / Kazuki, through their Zoom G5n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Steve / Josh, through their Boss ME-70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19/20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Keys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Josh / Mendel: Korg Kronos, built-in sounds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Lesley: lead on songs 1 and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Luke: lead on songs 4 and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27/28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Playback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Laptop audio over HDMI: walk-on and between songs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3145789"/>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14, 16, 17, 18, 21, 24, 25, 26. Ch 31/32 are the crowd mics, for the recording only.</a:t>
            </a:r>
          </a:p>
        </p:txBody>
      </p:sp>
      <p:sp>
        <p:nvSpPr>
          <p:cNvPr id="7" name="Monitors and in-ears"/>
          <p:cNvSpPr/>
          <p:nvPr/>
        </p:nvSpPr>
        <p:spPr>
          <a:xfrm>
            <a:off x="5257799" y="777240"/>
            <a:ext cx="5111496" cy="49244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Drummer (Ethan) brings his own in-ear amp and needs one XLR mix feed at the kit.</a:t>
            </a:r>
          </a:p>
        </p:txBody>
      </p:sp>
      <p:sp>
        <p:nvSpPr>
          <p:cNvPr id="8" name="Screen and playback"/>
          <p:cNvSpPr/>
          <p:nvPr/>
        </p:nvSpPr>
        <p:spPr>
          <a:xfrm>
            <a:off x="5257799" y="1379410"/>
            <a:ext cx="5111496" cy="643255"/>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Laptop run by Anthony (“Ant”). Video over HDMI all the way through; audio over HDMI for the walk-on and the music between songs (ch 27/28).</a:t>
            </a:r>
          </a:p>
        </p:txBody>
      </p:sp>
      <p:sp>
        <p:nvSpPr>
          <p:cNvPr id="9" name="Changeover into this set"/>
          <p:cNvSpPr/>
          <p:nvPr/>
        </p:nvSpPr>
        <p:spPr>
          <a:xfrm>
            <a:off x="5257799" y="2132393"/>
            <a:ext cx="5111496" cy="944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Changeover into this set</a:t>
            </a:r>
          </a:p>
          <a:p>
            <a:r>
              <a:rPr sz="950">
                <a:solidFill>
                  <a:srgbClr val="1F2937"/>
                </a:solidFill>
                <a:latin typeface="Arial"/>
              </a:rPr>
              <a:t>Strike the erhu DI. Keys go house right beside the AC30. Fold down Vox 1 and Vox 4. Bass moves from DI to the Ampeg (ch 11 DI + ch 12 mic). Pedalboards: Boss ME-70 at the AC30, Zoom G5n at the Fender, Zoom B1 Four at the Ampeg. Connect the laptop HDMI and the drummer's XLR feed.</a:t>
            </a:r>
          </a:p>
        </p:txBody>
      </p:sp>
      <p:sp>
        <p:nvSpPr>
          <p:cNvPr id="10" name="Notes and to confirm"/>
          <p:cNvSpPr/>
          <p:nvPr/>
        </p:nvSpPr>
        <p:spPr>
          <a:xfrm>
            <a:off x="5257799" y="3187001"/>
            <a:ext cx="5111496" cy="944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Where the laptop sits. Six players on stage at a time; guitar and keys players swap between songs (10–15 s each, see the set). Soundcheck plan: Pokémon intro and solo, Still into You intro and verse, Life Is a Highway solo, to set the solo boost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Bandlassian (Atlassian)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7:50–8:15 pm · soundcheck 5:45 pm · contact on the day: Steve Kraynov</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18:55 planned, in a 25-minute slot. Band expects 20–23 minutes end to end.</a:t>
            </a:r>
          </a:p>
        </p:txBody>
      </p:sp>
      <p:graphicFrame>
        <p:nvGraphicFramePr>
          <p:cNvPr id="6" name="Table 5"/>
          <p:cNvGraphicFramePr>
            <a:graphicFrameLocks noGrp="1"/>
          </p:cNvGraphicFramePr>
          <p:nvPr/>
        </p:nvGraphicFramePr>
        <p:xfrm>
          <a:off x="320040" y="1097280"/>
          <a:ext cx="10049256" cy="4305797"/>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Walk-on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Walk on, quick band 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and audio from HDMI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House lights while the band sets up, then dim for the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good 4 u — Olivia Rodrigo (rock/metal version)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Steve (AC30), Eren (Fender), Linda (bass), Josh (keys), Lesley (Vox 2), Luke (Vox 3). Lead: Lesley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Dim to reds to yellow (standard). Blue for slow bridge?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 →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Eren off, Kazuki on (Fender). Josh off, Mendel on (keys)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Video and changeover music from HDMI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Still into You — Paramore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Steve (AC30), Kazuki (Fender), Linda, Mendel (keys), Lesley, Luke. Lead: Lesley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Blackouts to purples to blue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Kazuki off, Eren on (Fender). Mendel off, Josh on (keys)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Video and audio from HDMI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472440">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Life Is a Highway — Rascal Flatts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Steve (AC30), Eren (Fender), Linda, Josh (keys), Lesley, Luke. Dual lead vocal. Eren's solo: boost from his own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Blackouts to yellows. House lights for the second-to-last chorus, when the audience is clapping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3 →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Josh moves from keys to guitar on the AC30 (Steve off). Mendel on keys. Eren off, Kazuki on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Video and audio from HDMI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I'm a Believer — Smash Mouth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Josh (AC30), Kazuki (Fender), Linda, Mendel (keys), Lesley, Luke. Lead: Luke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Blackouts to greens to yellows to standard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4 →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Kazuki off, Eren on (Fender). Kazuki and Steve fetch props and come back on as supporters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Playback audio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596391">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Pokémon Theme — Jason Paige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Josh (AC30), Eren (Fender), Linda, Mendel (keys), Lesley, Luke. Lead: Luke. Josh's solos: boost from the ME-70. Pokéball beach balls thrown into the crowd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Video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Blackouts to blue to yellow (standard), bright yellow snaps during the POKEMON chorus, moving to a rainbow colour wash for the big finish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Finish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Walk off, pack down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Canvanauts (Canva)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8:25–8:50 pm · soundcheck 5:30 pm · contact on the day: not given yet</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Gerónimo</a:t>
              </a:r>
            </a:p>
            <a:p>
              <a:pPr algn="ctr"/>
              <a:r>
                <a:rPr sz="700" b="0">
                  <a:solidFill>
                    <a:srgbClr val="1F2937"/>
                  </a:solidFill>
                  <a:latin typeface="Arial"/>
                </a:rPr>
                <a:t>riser 2.4 × 1.8 m</a:t>
              </a:r>
            </a:p>
          </p:txBody>
        </p:sp>
      </p:grpSp>
      <p:grpSp>
        <p:nvGrpSpPr>
          <p:cNvPr id="13" name="Fender · not used"/>
          <p:cNvGrpSpPr/>
          <p:nvPr/>
        </p:nvGrpSpPr>
        <p:grpSpPr>
          <a:xfrm>
            <a:off x="2186990" y="2904515"/>
            <a:ext cx="1737360" cy="431546"/>
            <a:chOff x="2186990" y="2904515"/>
            <a:chExt cx="1737360" cy="431546"/>
          </a:xfrm>
        </p:grpSpPr>
        <p:sp>
          <p:nvSpPr>
            <p:cNvPr id="14" name="Rounded Rectangle 13"/>
            <p:cNvSpPr/>
            <p:nvPr/>
          </p:nvSpPr>
          <p:spPr>
            <a:xfrm>
              <a:off x="2703946" y="2904515"/>
              <a:ext cx="703447" cy="279146"/>
            </a:xfrm>
            <a:prstGeom prst="roundRect">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143256"/>
            </a:xfrm>
            <a:prstGeom prst="rect">
              <a:avLst/>
            </a:prstGeom>
            <a:noFill/>
          </p:spPr>
          <p:txBody>
            <a:bodyPr wrap="square" lIns="0" rIns="0" tIns="0" bIns="0" anchor="ctr">
              <a:spAutoFit/>
            </a:bodyPr>
            <a:lstStyle/>
            <a:p>
              <a:pPr algn="ctr"/>
              <a:r>
                <a:rPr sz="700" b="0">
                  <a:solidFill>
                    <a:srgbClr val="9CA3AF"/>
                  </a:solidFill>
                  <a:latin typeface="Arial"/>
                </a:rPr>
                <a:t>Fender · not used</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Jeremy</a:t>
              </a:r>
            </a:p>
          </p:txBody>
        </p:sp>
      </p:grpSp>
      <p:grpSp>
        <p:nvGrpSpPr>
          <p:cNvPr id="19" name="Vox AC30 · not used"/>
          <p:cNvGrpSpPr/>
          <p:nvPr/>
        </p:nvGrpSpPr>
        <p:grpSpPr>
          <a:xfrm>
            <a:off x="7602423" y="2837520"/>
            <a:ext cx="1737360" cy="453878"/>
            <a:chOff x="7602423" y="2837520"/>
            <a:chExt cx="1737360" cy="453878"/>
          </a:xfrm>
        </p:grpSpPr>
        <p:sp>
          <p:nvSpPr>
            <p:cNvPr id="20" name="Rounded Rectangle 19"/>
            <p:cNvSpPr/>
            <p:nvPr/>
          </p:nvSpPr>
          <p:spPr>
            <a:xfrm>
              <a:off x="8080298" y="2837520"/>
              <a:ext cx="781608" cy="301477"/>
            </a:xfrm>
            <a:prstGeom prst="roundRect">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143256"/>
            </a:xfrm>
            <a:prstGeom prst="rect">
              <a:avLst/>
            </a:prstGeom>
            <a:noFill/>
          </p:spPr>
          <p:txBody>
            <a:bodyPr wrap="square" lIns="0" rIns="0" tIns="0" bIns="0" anchor="ctr">
              <a:spAutoFit/>
            </a:bodyPr>
            <a:lstStyle/>
            <a:p>
              <a:pPr algn="ctr"/>
              <a:r>
                <a:rPr sz="700" b="0">
                  <a:solidFill>
                    <a:srgbClr val="9CA3AF"/>
                  </a:solidFill>
                  <a:latin typeface="Arial"/>
                </a:rPr>
                <a:t>Vox AC30 · not used</a:t>
              </a:r>
            </a:p>
          </p:txBody>
        </p:sp>
      </p:grpSp>
      <p:grpSp>
        <p:nvGrpSpPr>
          <p:cNvPr id="22" name="Danny"/>
          <p:cNvGrpSpPr/>
          <p:nvPr/>
        </p:nvGrpSpPr>
        <p:grpSpPr>
          <a:xfrm>
            <a:off x="2430983" y="3769868"/>
            <a:ext cx="914400" cy="558292"/>
            <a:chOff x="2430983" y="3769868"/>
            <a:chExt cx="914400" cy="558292"/>
          </a:xfrm>
        </p:grpSpPr>
        <p:sp>
          <p:nvSpPr>
            <p:cNvPr id="23" name="Oval 22"/>
            <p:cNvSpPr/>
            <p:nvPr/>
          </p:nvSpPr>
          <p:spPr>
            <a:xfrm>
              <a:off x="2609037" y="37698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30983" y="3870706"/>
              <a:ext cx="914400" cy="356615"/>
            </a:xfrm>
            <a:prstGeom prst="rect">
              <a:avLst/>
            </a:prstGeom>
            <a:noFill/>
          </p:spPr>
          <p:txBody>
            <a:bodyPr wrap="square" lIns="0" rIns="0" tIns="0" bIns="0" anchor="ctr">
              <a:spAutoFit/>
            </a:bodyPr>
            <a:lstStyle/>
            <a:p>
              <a:pPr algn="ctr"/>
              <a:r>
                <a:rPr sz="700" b="0">
                  <a:solidFill>
                    <a:srgbClr val="1F2937"/>
                  </a:solidFill>
                  <a:latin typeface="Arial"/>
                </a:rPr>
                <a:t>Danny</a:t>
              </a:r>
            </a:p>
            <a:p>
              <a:pPr algn="ctr"/>
              <a:r>
                <a:rPr sz="700" b="0">
                  <a:solidFill>
                    <a:srgbClr val="1F2937"/>
                  </a:solidFill>
                  <a:latin typeface="Arial"/>
                </a:rPr>
                <a:t>guitar</a:t>
              </a:r>
            </a:p>
            <a:p>
              <a:pPr algn="ctr"/>
              <a:r>
                <a:rPr sz="700" b="0">
                  <a:solidFill>
                    <a:srgbClr val="1F2937"/>
                  </a:solidFill>
                  <a:latin typeface="Arial"/>
                </a:rPr>
                <a:t>TBC</a:t>
              </a:r>
            </a:p>
          </p:txBody>
        </p:sp>
      </p:grpSp>
      <p:grpSp>
        <p:nvGrpSpPr>
          <p:cNvPr id="25" name="Gtr DI · ch 14"/>
          <p:cNvGrpSpPr/>
          <p:nvPr/>
        </p:nvGrpSpPr>
        <p:grpSpPr>
          <a:xfrm>
            <a:off x="3267821" y="3970853"/>
            <a:ext cx="1562385" cy="156321"/>
            <a:chOff x="3267821" y="3970853"/>
            <a:chExt cx="1562385" cy="156321"/>
          </a:xfrm>
        </p:grpSpPr>
        <p:sp>
          <p:nvSpPr>
            <p:cNvPr id="26" name="Rounded Rectangle 25"/>
            <p:cNvSpPr/>
            <p:nvPr/>
          </p:nvSpPr>
          <p:spPr>
            <a:xfrm>
              <a:off x="3267821" y="3970853"/>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0046" y="3977386"/>
              <a:ext cx="1280160" cy="143256"/>
            </a:xfrm>
            <a:prstGeom prst="rect">
              <a:avLst/>
            </a:prstGeom>
            <a:noFill/>
          </p:spPr>
          <p:txBody>
            <a:bodyPr wrap="square" lIns="0" rIns="0" tIns="0" bIns="0" anchor="ctr">
              <a:spAutoFit/>
            </a:bodyPr>
            <a:lstStyle/>
            <a:p>
              <a:pPr algn="l"/>
              <a:r>
                <a:rPr sz="700" b="0">
                  <a:solidFill>
                    <a:srgbClr val="1F2937"/>
                  </a:solidFill>
                  <a:latin typeface="Arial"/>
                </a:rPr>
                <a:t>Gtr DI · ch 14</a:t>
              </a:r>
            </a:p>
          </p:txBody>
        </p:sp>
      </p:grpSp>
      <p:grpSp>
        <p:nvGrpSpPr>
          <p:cNvPr id="28" name="Ishraque"/>
          <p:cNvGrpSpPr/>
          <p:nvPr/>
        </p:nvGrpSpPr>
        <p:grpSpPr>
          <a:xfrm>
            <a:off x="4887467" y="3881526"/>
            <a:ext cx="914400" cy="558292"/>
            <a:chOff x="4887467" y="3881526"/>
            <a:chExt cx="914400" cy="558292"/>
          </a:xfrm>
        </p:grpSpPr>
        <p:sp>
          <p:nvSpPr>
            <p:cNvPr id="29" name="Oval 28"/>
            <p:cNvSpPr/>
            <p:nvPr/>
          </p:nvSpPr>
          <p:spPr>
            <a:xfrm>
              <a:off x="5065521"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87467" y="3982364"/>
              <a:ext cx="914400" cy="356615"/>
            </a:xfrm>
            <a:prstGeom prst="rect">
              <a:avLst/>
            </a:prstGeom>
            <a:noFill/>
          </p:spPr>
          <p:txBody>
            <a:bodyPr wrap="square" lIns="0" rIns="0" tIns="0" bIns="0" anchor="ctr">
              <a:spAutoFit/>
            </a:bodyPr>
            <a:lstStyle/>
            <a:p>
              <a:pPr algn="ctr"/>
              <a:r>
                <a:rPr sz="700" b="0">
                  <a:solidFill>
                    <a:srgbClr val="1F2937"/>
                  </a:solidFill>
                  <a:latin typeface="Arial"/>
                </a:rPr>
                <a:t>Ishraque</a:t>
              </a:r>
            </a:p>
            <a:p>
              <a:pPr algn="ctr"/>
              <a:r>
                <a:rPr sz="700" b="0">
                  <a:solidFill>
                    <a:srgbClr val="1F2937"/>
                  </a:solidFill>
                  <a:latin typeface="Arial"/>
                </a:rPr>
                <a:t>guitar</a:t>
              </a:r>
            </a:p>
            <a:p>
              <a:pPr algn="ctr"/>
              <a:r>
                <a:rPr sz="700" b="0">
                  <a:solidFill>
                    <a:srgbClr val="1F2937"/>
                  </a:solidFill>
                  <a:latin typeface="Arial"/>
                </a:rPr>
                <a:t>TBC</a:t>
              </a:r>
            </a:p>
          </p:txBody>
        </p:sp>
      </p:grpSp>
      <p:grpSp>
        <p:nvGrpSpPr>
          <p:cNvPr id="31" name="Gtr DI · ch 17"/>
          <p:cNvGrpSpPr/>
          <p:nvPr/>
        </p:nvGrpSpPr>
        <p:grpSpPr>
          <a:xfrm>
            <a:off x="5724306" y="4082511"/>
            <a:ext cx="1562385" cy="156321"/>
            <a:chOff x="5724306" y="4082511"/>
            <a:chExt cx="1562385" cy="156321"/>
          </a:xfrm>
        </p:grpSpPr>
        <p:sp>
          <p:nvSpPr>
            <p:cNvPr id="32" name="Rounded Rectangle 31"/>
            <p:cNvSpPr/>
            <p:nvPr/>
          </p:nvSpPr>
          <p:spPr>
            <a:xfrm>
              <a:off x="5724306" y="4082511"/>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06531" y="4089044"/>
              <a:ext cx="1280160" cy="143256"/>
            </a:xfrm>
            <a:prstGeom prst="rect">
              <a:avLst/>
            </a:prstGeom>
            <a:noFill/>
          </p:spPr>
          <p:txBody>
            <a:bodyPr wrap="square" lIns="0" rIns="0" tIns="0" bIns="0" anchor="ctr">
              <a:spAutoFit/>
            </a:bodyPr>
            <a:lstStyle/>
            <a:p>
              <a:pPr algn="l"/>
              <a:r>
                <a:rPr sz="700" b="0">
                  <a:solidFill>
                    <a:srgbClr val="1F2937"/>
                  </a:solidFill>
                  <a:latin typeface="Arial"/>
                </a:rPr>
                <a:t>Gtr DI · ch 17</a:t>
              </a:r>
            </a:p>
          </p:txBody>
        </p:sp>
      </p:grpSp>
      <p:grpSp>
        <p:nvGrpSpPr>
          <p:cNvPr id="34" name="Jeremy"/>
          <p:cNvGrpSpPr/>
          <p:nvPr/>
        </p:nvGrpSpPr>
        <p:grpSpPr>
          <a:xfrm>
            <a:off x="6674002" y="3881526"/>
            <a:ext cx="914400" cy="558292"/>
            <a:chOff x="6674002" y="3881526"/>
            <a:chExt cx="914400" cy="558292"/>
          </a:xfrm>
        </p:grpSpPr>
        <p:sp>
          <p:nvSpPr>
            <p:cNvPr id="35" name="Oval 34"/>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Jeremy</a:t>
              </a:r>
            </a:p>
            <a:p>
              <a:pPr algn="ctr"/>
              <a:r>
                <a:rPr sz="700" b="0">
                  <a:solidFill>
                    <a:srgbClr val="1F2937"/>
                  </a:solidFill>
                  <a:latin typeface="Arial"/>
                </a:rPr>
                <a:t>bass</a:t>
              </a:r>
            </a:p>
          </p:txBody>
        </p:sp>
      </p:grpSp>
      <p:grpSp>
        <p:nvGrpSpPr>
          <p:cNvPr id="37" name="Quad Cortex · ch 11"/>
          <p:cNvGrpSpPr/>
          <p:nvPr/>
        </p:nvGrpSpPr>
        <p:grpSpPr>
          <a:xfrm>
            <a:off x="7510840" y="4082511"/>
            <a:ext cx="1562385" cy="156321"/>
            <a:chOff x="7510840" y="4082511"/>
            <a:chExt cx="1562385" cy="156321"/>
          </a:xfrm>
        </p:grpSpPr>
        <p:sp>
          <p:nvSpPr>
            <p:cNvPr id="38" name="Rounded Rectangle 37"/>
            <p:cNvSpPr/>
            <p:nvPr/>
          </p:nvSpPr>
          <p:spPr>
            <a:xfrm>
              <a:off x="7510840" y="4082511"/>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93065" y="4089044"/>
              <a:ext cx="1280160" cy="143256"/>
            </a:xfrm>
            <a:prstGeom prst="rect">
              <a:avLst/>
            </a:prstGeom>
            <a:noFill/>
          </p:spPr>
          <p:txBody>
            <a:bodyPr wrap="square" lIns="0" rIns="0" tIns="0" bIns="0" anchor="ctr">
              <a:spAutoFit/>
            </a:bodyPr>
            <a:lstStyle/>
            <a:p>
              <a:pPr algn="l"/>
              <a:r>
                <a:rPr sz="700" b="0">
                  <a:solidFill>
                    <a:srgbClr val="1F2937"/>
                  </a:solidFill>
                  <a:latin typeface="Arial"/>
                </a:rPr>
                <a:t>Quad Cortex · ch 11</a:t>
              </a:r>
            </a:p>
          </p:txBody>
        </p:sp>
      </p:grpSp>
      <p:grpSp>
        <p:nvGrpSpPr>
          <p:cNvPr id="40" name="Dave"/>
          <p:cNvGrpSpPr/>
          <p:nvPr/>
        </p:nvGrpSpPr>
        <p:grpSpPr>
          <a:xfrm>
            <a:off x="8628024" y="3714038"/>
            <a:ext cx="914400" cy="558292"/>
            <a:chOff x="8628024" y="3714038"/>
            <a:chExt cx="914400" cy="558292"/>
          </a:xfrm>
        </p:grpSpPr>
        <p:sp>
          <p:nvSpPr>
            <p:cNvPr id="41" name="Oval 40"/>
            <p:cNvSpPr/>
            <p:nvPr/>
          </p:nvSpPr>
          <p:spPr>
            <a:xfrm>
              <a:off x="8806078" y="371403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28024" y="3814876"/>
              <a:ext cx="914400" cy="356615"/>
            </a:xfrm>
            <a:prstGeom prst="rect">
              <a:avLst/>
            </a:prstGeom>
            <a:noFill/>
          </p:spPr>
          <p:txBody>
            <a:bodyPr wrap="square" lIns="0" rIns="0" tIns="0" bIns="0" anchor="ctr">
              <a:spAutoFit/>
            </a:bodyPr>
            <a:lstStyle/>
            <a:p>
              <a:pPr algn="ctr"/>
              <a:r>
                <a:rPr sz="700" b="0">
                  <a:solidFill>
                    <a:srgbClr val="1F2937"/>
                  </a:solidFill>
                  <a:latin typeface="Arial"/>
                </a:rPr>
                <a:t>Dave</a:t>
              </a:r>
            </a:p>
            <a:p>
              <a:pPr algn="ctr"/>
              <a:r>
                <a:rPr sz="700" b="0">
                  <a:solidFill>
                    <a:srgbClr val="1F2937"/>
                  </a:solidFill>
                  <a:latin typeface="Arial"/>
                </a:rPr>
                <a:t>guitar</a:t>
              </a:r>
            </a:p>
            <a:p>
              <a:pPr algn="ctr"/>
              <a:r>
                <a:rPr sz="700" b="0">
                  <a:solidFill>
                    <a:srgbClr val="1F2937"/>
                  </a:solidFill>
                  <a:latin typeface="Arial"/>
                </a:rPr>
                <a:t>TBC</a:t>
              </a:r>
            </a:p>
          </p:txBody>
        </p:sp>
      </p:grpSp>
      <p:grpSp>
        <p:nvGrpSpPr>
          <p:cNvPr id="43" name="Gtr DI · ch 16"/>
          <p:cNvGrpSpPr/>
          <p:nvPr/>
        </p:nvGrpSpPr>
        <p:grpSpPr>
          <a:xfrm>
            <a:off x="8794912" y="4417486"/>
            <a:ext cx="1556096" cy="156321"/>
            <a:chOff x="8794912" y="4417486"/>
            <a:chExt cx="1556096" cy="156321"/>
          </a:xfrm>
        </p:grpSpPr>
        <p:sp>
          <p:nvSpPr>
            <p:cNvPr id="44" name="Rounded Rectangle 43"/>
            <p:cNvSpPr/>
            <p:nvPr/>
          </p:nvSpPr>
          <p:spPr>
            <a:xfrm>
              <a:off x="8794912" y="4417486"/>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70848" y="4424019"/>
              <a:ext cx="1280160" cy="143256"/>
            </a:xfrm>
            <a:prstGeom prst="rect">
              <a:avLst/>
            </a:prstGeom>
            <a:noFill/>
          </p:spPr>
          <p:txBody>
            <a:bodyPr wrap="square" lIns="0" rIns="0" tIns="0" bIns="0" anchor="ctr">
              <a:spAutoFit/>
            </a:bodyPr>
            <a:lstStyle/>
            <a:p>
              <a:pPr algn="l"/>
              <a:r>
                <a:rPr sz="700" b="0">
                  <a:solidFill>
                    <a:srgbClr val="1F2937"/>
                  </a:solidFill>
                  <a:latin typeface="Arial"/>
                </a:rPr>
                <a:t>Gtr DI · ch 16</a:t>
              </a:r>
            </a:p>
          </p:txBody>
        </p:sp>
      </p:grpSp>
      <p:grpSp>
        <p:nvGrpSpPr>
          <p:cNvPr id="46" name="Simone"/>
          <p:cNvGrpSpPr/>
          <p:nvPr/>
        </p:nvGrpSpPr>
        <p:grpSpPr>
          <a:xfrm>
            <a:off x="1314399" y="4383989"/>
            <a:ext cx="914400" cy="558292"/>
            <a:chOff x="1314399" y="4383989"/>
            <a:chExt cx="914400" cy="558292"/>
          </a:xfrm>
        </p:grpSpPr>
        <p:sp>
          <p:nvSpPr>
            <p:cNvPr id="47" name="Oval 46"/>
            <p:cNvSpPr/>
            <p:nvPr/>
          </p:nvSpPr>
          <p:spPr>
            <a:xfrm>
              <a:off x="1492453" y="4383989"/>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14399" y="4538167"/>
              <a:ext cx="914400" cy="249935"/>
            </a:xfrm>
            <a:prstGeom prst="rect">
              <a:avLst/>
            </a:prstGeom>
            <a:noFill/>
          </p:spPr>
          <p:txBody>
            <a:bodyPr wrap="square" lIns="0" rIns="0" tIns="0" bIns="0" anchor="ctr">
              <a:spAutoFit/>
            </a:bodyPr>
            <a:lstStyle/>
            <a:p>
              <a:pPr algn="ctr"/>
              <a:r>
                <a:rPr sz="700" b="0">
                  <a:solidFill>
                    <a:srgbClr val="1F2937"/>
                  </a:solidFill>
                  <a:latin typeface="Arial"/>
                </a:rPr>
                <a:t>Simone</a:t>
              </a:r>
            </a:p>
            <a:p>
              <a:pPr algn="ctr"/>
              <a:r>
                <a:rPr sz="700" b="0">
                  <a:solidFill>
                    <a:srgbClr val="1F2937"/>
                  </a:solidFill>
                  <a:latin typeface="Arial"/>
                </a:rPr>
                <a:t>keys + vox</a:t>
              </a:r>
            </a:p>
          </p:txBody>
        </p:sp>
      </p:grpSp>
      <p:grpSp>
        <p:nvGrpSpPr>
          <p:cNvPr id="49" name="Keys (Kronos) · DI ch 19/20"/>
          <p:cNvGrpSpPr/>
          <p:nvPr/>
        </p:nvGrpSpPr>
        <p:grpSpPr>
          <a:xfrm>
            <a:off x="962075" y="5037190"/>
            <a:ext cx="1619046" cy="480131"/>
            <a:chOff x="962075" y="5037190"/>
            <a:chExt cx="1619046" cy="480131"/>
          </a:xfrm>
        </p:grpSpPr>
        <p:sp>
          <p:nvSpPr>
            <p:cNvPr id="50" name="Rounded Rectangle 49"/>
            <p:cNvSpPr/>
            <p:nvPr/>
          </p:nvSpPr>
          <p:spPr>
            <a:xfrm>
              <a:off x="962075" y="5037190"/>
              <a:ext cx="1619046" cy="480131"/>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2075" y="5205628"/>
              <a:ext cx="1619046" cy="143256"/>
            </a:xfrm>
            <a:prstGeom prst="rect">
              <a:avLst/>
            </a:prstGeom>
            <a:noFill/>
          </p:spPr>
          <p:txBody>
            <a:bodyPr wrap="square" lIns="0" rIns="0" tIns="0" bIns="0" anchor="ctr">
              <a:spAutoFit/>
            </a:bodyPr>
            <a:lstStyle/>
            <a:p>
              <a:pPr algn="ctr"/>
              <a:r>
                <a:rPr sz="700" b="0">
                  <a:solidFill>
                    <a:srgbClr val="1F2937"/>
                  </a:solidFill>
                  <a:latin typeface="Arial"/>
                </a:rPr>
                <a:t>Keys (Kronos) · DI ch 19/20</a:t>
              </a:r>
            </a:p>
          </p:txBody>
        </p:sp>
      </p:grpSp>
      <p:grpSp>
        <p:nvGrpSpPr>
          <p:cNvPr id="52" name="Ollie"/>
          <p:cNvGrpSpPr/>
          <p:nvPr/>
        </p:nvGrpSpPr>
        <p:grpSpPr>
          <a:xfrm>
            <a:off x="3659225" y="4998110"/>
            <a:ext cx="914400" cy="558292"/>
            <a:chOff x="3659225" y="4998110"/>
            <a:chExt cx="914400" cy="558292"/>
          </a:xfrm>
        </p:grpSpPr>
        <p:sp>
          <p:nvSpPr>
            <p:cNvPr id="53" name="Oval 52"/>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Ollie</a:t>
              </a:r>
            </a:p>
            <a:p>
              <a:pPr algn="ctr"/>
              <a:r>
                <a:rPr sz="700" b="0">
                  <a:solidFill>
                    <a:srgbClr val="1F2937"/>
                  </a:solidFill>
                  <a:latin typeface="Arial"/>
                </a:rPr>
                <a:t>vox</a:t>
              </a:r>
            </a:p>
          </p:txBody>
        </p:sp>
      </p:grpSp>
      <p:grpSp>
        <p:nvGrpSpPr>
          <p:cNvPr id="55" name="Melad"/>
          <p:cNvGrpSpPr/>
          <p:nvPr/>
        </p:nvGrpSpPr>
        <p:grpSpPr>
          <a:xfrm>
            <a:off x="6115710" y="4998110"/>
            <a:ext cx="914400" cy="558292"/>
            <a:chOff x="6115710" y="4998110"/>
            <a:chExt cx="914400" cy="558292"/>
          </a:xfrm>
        </p:grpSpPr>
        <p:sp>
          <p:nvSpPr>
            <p:cNvPr id="56" name="Oval 55"/>
            <p:cNvSpPr/>
            <p:nvPr/>
          </p:nvSpPr>
          <p:spPr>
            <a:xfrm>
              <a:off x="6293764"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15710"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Melad</a:t>
              </a:r>
            </a:p>
            <a:p>
              <a:pPr algn="ctr"/>
              <a:r>
                <a:rPr sz="700" b="0">
                  <a:solidFill>
                    <a:srgbClr val="1F2937"/>
                  </a:solidFill>
                  <a:latin typeface="Arial"/>
                </a:rPr>
                <a:t>vox</a:t>
              </a:r>
            </a:p>
          </p:txBody>
        </p:sp>
      </p:grpSp>
      <p:grpSp>
        <p:nvGrpSpPr>
          <p:cNvPr id="58" name="Vox 1 · ch 21"/>
          <p:cNvGrpSpPr/>
          <p:nvPr/>
        </p:nvGrpSpPr>
        <p:grpSpPr>
          <a:xfrm>
            <a:off x="902919" y="5723890"/>
            <a:ext cx="1737360" cy="594054"/>
            <a:chOff x="902919" y="5723890"/>
            <a:chExt cx="1737360" cy="594054"/>
          </a:xfrm>
        </p:grpSpPr>
        <p:sp>
          <p:nvSpPr>
            <p:cNvPr id="59" name="Oval 58"/>
            <p:cNvSpPr/>
            <p:nvPr/>
          </p:nvSpPr>
          <p:spPr>
            <a:xfrm>
              <a:off x="1604111"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2919"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Vox 1 · ch 21</a:t>
              </a:r>
            </a:p>
            <a:p>
              <a:pPr algn="ctr"/>
              <a:r>
                <a:rPr sz="700" b="0">
                  <a:solidFill>
                    <a:srgbClr val="1F2937"/>
                  </a:solidFill>
                  <a:latin typeface="Arial"/>
                </a:rPr>
                <a:t>(over the keys)</a:t>
              </a:r>
            </a:p>
          </p:txBody>
        </p:sp>
      </p:grpSp>
      <p:grpSp>
        <p:nvGrpSpPr>
          <p:cNvPr id="61" name="Vox 2 · ch 22"/>
          <p:cNvGrpSpPr/>
          <p:nvPr/>
        </p:nvGrpSpPr>
        <p:grpSpPr>
          <a:xfrm>
            <a:off x="3247745" y="5723890"/>
            <a:ext cx="1737360" cy="487375"/>
            <a:chOff x="3247745" y="5723890"/>
            <a:chExt cx="1737360" cy="487375"/>
          </a:xfrm>
        </p:grpSpPr>
        <p:sp>
          <p:nvSpPr>
            <p:cNvPr id="62" name="Oval 61"/>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47745"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2 · ch 22</a:t>
              </a:r>
            </a:p>
          </p:txBody>
        </p:sp>
      </p:grpSp>
      <p:grpSp>
        <p:nvGrpSpPr>
          <p:cNvPr id="64" name="Vox 3 · ch 23"/>
          <p:cNvGrpSpPr/>
          <p:nvPr/>
        </p:nvGrpSpPr>
        <p:grpSpPr>
          <a:xfrm>
            <a:off x="5704230" y="5723890"/>
            <a:ext cx="1737360" cy="487375"/>
            <a:chOff x="5704230" y="5723890"/>
            <a:chExt cx="1737360" cy="487375"/>
          </a:xfrm>
        </p:grpSpPr>
        <p:sp>
          <p:nvSpPr>
            <p:cNvPr id="65" name="Oval 64"/>
            <p:cNvSpPr/>
            <p:nvPr/>
          </p:nvSpPr>
          <p:spPr>
            <a:xfrm>
              <a:off x="6405422"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3 · ch 23</a:t>
              </a:r>
            </a:p>
          </p:txBody>
        </p:sp>
      </p:grpSp>
      <p:grpSp>
        <p:nvGrpSpPr>
          <p:cNvPr id="67" name="Vox 4 · fold down"/>
          <p:cNvGrpSpPr/>
          <p:nvPr/>
        </p:nvGrpSpPr>
        <p:grpSpPr>
          <a:xfrm>
            <a:off x="8049056" y="5723890"/>
            <a:ext cx="1737360" cy="487375"/>
            <a:chOff x="8049056" y="5723890"/>
            <a:chExt cx="1737360" cy="487375"/>
          </a:xfrm>
        </p:grpSpPr>
        <p:sp>
          <p:nvSpPr>
            <p:cNvPr id="68" name="Oval 67"/>
            <p:cNvSpPr/>
            <p:nvPr/>
          </p:nvSpPr>
          <p:spPr>
            <a:xfrm>
              <a:off x="8750249"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4 · fold down</a:t>
              </a:r>
            </a:p>
          </p:txBody>
        </p:sp>
      </p:grpSp>
      <p:sp>
        <p:nvSpPr>
          <p:cNvPr id="70"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1" name="TextBox 70"/>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72"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3" name="TextBox 72"/>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74"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5" name="TextBox 74"/>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76"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7" name="TextBox 76"/>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78"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9" name="TextBox 78"/>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80"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81" name="TextBox 80"/>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82"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83" name="TextBox 82"/>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84" name="TextBox 83"/>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85" name="Rectangle 84"/>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Canvanauts (Canva)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8:25–8:50 pm · soundcheck 5:30 pm · contact on the day: not given yet</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2555102"/>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32282">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Gerónimo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Jeremy: Quad Cortex and the Ampeg; routing to confirm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Only if the Ampeg cab is in use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Danny: Boss multi-FX</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2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Dave: UAFX pedal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3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Ishraque: Soran Dual Stomp (on the acoustic DI line)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19/20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Keys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Simone: Korg Kronos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Simone, at the keys: lead on 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Ollie: co-lead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Melad: co-lead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3378072"/>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13, 15, 18, 24, 25, 26, 27, 28. Ch 31/32 are the crowd mics, for the recording only.</a:t>
            </a:r>
          </a:p>
        </p:txBody>
      </p:sp>
      <p:sp>
        <p:nvSpPr>
          <p:cNvPr id="7" name="Monitors and in-ears"/>
          <p:cNvSpPr/>
          <p:nvPr/>
        </p:nvSpPr>
        <p:spPr>
          <a:xfrm>
            <a:off x="5257799" y="777240"/>
            <a:ext cx="5111496" cy="643255"/>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No in-ear feeds requested. All three guitars are DI only, with no amps on stage, so the guitarists will need guitar in their wedges.</a:t>
            </a:r>
          </a:p>
        </p:txBody>
      </p:sp>
      <p:sp>
        <p:nvSpPr>
          <p:cNvPr id="8" name="Screen and playback"/>
          <p:cNvSpPr/>
          <p:nvPr/>
        </p:nvSpPr>
        <p:spPr>
          <a:xfrm>
            <a:off x="5257799" y="1530223"/>
            <a:ext cx="5111496" cy="49244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A visualiser on screen for every song. Source to confirm.</a:t>
            </a:r>
          </a:p>
        </p:txBody>
      </p:sp>
      <p:sp>
        <p:nvSpPr>
          <p:cNvPr id="9" name="Changeover into this set"/>
          <p:cNvSpPr/>
          <p:nvPr/>
        </p:nvSpPr>
        <p:spPr>
          <a:xfrm>
            <a:off x="5257799" y="2132393"/>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Changeover into this set</a:t>
            </a:r>
          </a:p>
          <a:p>
            <a:r>
              <a:rPr sz="950">
                <a:solidFill>
                  <a:srgbClr val="1F2937"/>
                </a:solidFill>
                <a:latin typeface="Arial"/>
              </a:rPr>
              <a:t>Guitar amps aren't used: mute ch 13 and 15. Three DIs for the amp modellers (ch 14, 16, 17). The Kronos moves from house right to house left, at Vox 1. Vox 1 up; Vox 4 stays down. Bass: Quad Cortex into ch 11. Strike Bandlassian's laptop.</a:t>
            </a:r>
          </a:p>
        </p:txBody>
      </p:sp>
      <p:sp>
        <p:nvSpPr>
          <p:cNvPr id="10" name="Notes and to confirm"/>
          <p:cNvSpPr/>
          <p:nvPr/>
        </p:nvSpPr>
        <p:spPr>
          <a:xfrm>
            <a:off x="5257799" y="3036189"/>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Which guitarist stands where. Bass routing (Quad Cortex direct, or through the Ampeg?). Visualiser source. Contact on the day. The six songs add up to 23:08 before any gaps, in a 25-minute slot.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Canvanauts (Canva)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8:25–8:50 pm · soundcheck 5:30 pm · contact on the day: not given yet</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23:08 planned, in a 25-minute slot. No walk-on or between-song details given.</a:t>
            </a:r>
          </a:p>
        </p:txBody>
      </p:sp>
      <p:graphicFrame>
        <p:nvGraphicFramePr>
          <p:cNvPr id="6" name="Table 5"/>
          <p:cNvGraphicFramePr>
            <a:graphicFrameLocks noGrp="1"/>
          </p:cNvGraphicFramePr>
          <p:nvPr/>
        </p:nvGraphicFramePr>
        <p:xfrm>
          <a:off x="320040" y="1097280"/>
          <a:ext cx="10049256" cy="2315458"/>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The Joker and the Thief — Wolfmother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(guitar starts alone, then the rest of the band enters). Lead: Ollie and Melad (Vox 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Red lighting, bright flash when the band kicks in at ~20 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Thnks fr th Mmrs — Fall Out Boy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(guitar and keyboard start with a count-in). Lead: Ollie and Melad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Amber lighting, dramatic, lots of action. Kicks in at ~30 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So Easy (To Fall in Love) — Olivia Dean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2:50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(keyboard starts). Lead: Simone (Vox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Purple soft lighting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Beggin' — Måneskin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(Vox 2 starts). Lead: Ollie and Melad. Bass solo at ~2:15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Spotlight on vocalist for intro. Red lights on guitar drop after intro piano and vocals. Big stops at ~0:40, ~1:35, ~2:15 and 2:43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Smooth Criminal — Alien Ant Farm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(drums start). Lead: Ollie and Melad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Dynamic white lighting with the stops at ~1:10 and ~2:05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Welcome to the Black Parade — My Chemical Romance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5:15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(keyboard starts). Lead: Ollie and Melad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Visualiser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Spotlight on vocalist for intro. Red lights on guitar drop after intro piano and vocals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Andrew (Keira on song 4)</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Tim</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ch 11 + 12</a:t>
              </a:r>
            </a:p>
          </p:txBody>
        </p:sp>
      </p:grpSp>
      <p:grpSp>
        <p:nvGrpSpPr>
          <p:cNvPr id="19" name="Vox AC30 · mic ch 15"/>
          <p:cNvGrpSpPr/>
          <p:nvPr/>
        </p:nvGrpSpPr>
        <p:grpSpPr>
          <a:xfrm>
            <a:off x="7602423" y="2837520"/>
            <a:ext cx="1737360" cy="560557"/>
            <a:chOff x="7602423" y="2837520"/>
            <a:chExt cx="1737360" cy="560557"/>
          </a:xfrm>
        </p:grpSpPr>
        <p:sp>
          <p:nvSpPr>
            <p:cNvPr id="20" name="Rounded Rectangle 19"/>
            <p:cNvSpPr/>
            <p:nvPr/>
          </p:nvSpPr>
          <p:spPr>
            <a:xfrm>
              <a:off x="8080298" y="2837520"/>
              <a:ext cx="781608" cy="301477"/>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249935"/>
            </a:xfrm>
            <a:prstGeom prst="rect">
              <a:avLst/>
            </a:prstGeom>
            <a:noFill/>
          </p:spPr>
          <p:txBody>
            <a:bodyPr wrap="square" lIns="0" rIns="0" tIns="0" bIns="0" anchor="ctr">
              <a:spAutoFit/>
            </a:bodyPr>
            <a:lstStyle/>
            <a:p>
              <a:pPr algn="ctr"/>
              <a:r>
                <a:rPr sz="700" b="0">
                  <a:solidFill>
                    <a:srgbClr val="1F2937"/>
                  </a:solidFill>
                  <a:latin typeface="Arial"/>
                </a:rPr>
                <a:t>Vox AC30 · mic ch 15</a:t>
              </a:r>
            </a:p>
            <a:p>
              <a:pPr algn="ctr"/>
              <a:r>
                <a:rPr sz="700" b="0">
                  <a:solidFill>
                    <a:srgbClr val="1F2937"/>
                  </a:solidFill>
                  <a:latin typeface="Arial"/>
                </a:rPr>
                <a:t>Tyler</a:t>
              </a:r>
            </a:p>
          </p:txBody>
        </p:sp>
      </p:grpSp>
      <p:grpSp>
        <p:nvGrpSpPr>
          <p:cNvPr id="22" name="Vox 5 · ch 25"/>
          <p:cNvGrpSpPr/>
          <p:nvPr/>
        </p:nvGrpSpPr>
        <p:grpSpPr>
          <a:xfrm>
            <a:off x="3861866" y="2764942"/>
            <a:ext cx="1737360" cy="487375"/>
            <a:chOff x="3861866" y="2764942"/>
            <a:chExt cx="1737360" cy="487375"/>
          </a:xfrm>
        </p:grpSpPr>
        <p:sp>
          <p:nvSpPr>
            <p:cNvPr id="23" name="Oval 22"/>
            <p:cNvSpPr/>
            <p:nvPr/>
          </p:nvSpPr>
          <p:spPr>
            <a:xfrm>
              <a:off x="4563059" y="2764942"/>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61866" y="3109061"/>
              <a:ext cx="1737360" cy="143256"/>
            </a:xfrm>
            <a:prstGeom prst="rect">
              <a:avLst/>
            </a:prstGeom>
            <a:noFill/>
          </p:spPr>
          <p:txBody>
            <a:bodyPr wrap="square" lIns="0" rIns="0" tIns="0" bIns="0" anchor="ctr">
              <a:spAutoFit/>
            </a:bodyPr>
            <a:lstStyle/>
            <a:p>
              <a:pPr algn="ctr"/>
              <a:r>
                <a:rPr sz="700" b="0">
                  <a:solidFill>
                    <a:srgbClr val="1F2937"/>
                  </a:solidFill>
                  <a:latin typeface="Arial"/>
                </a:rPr>
                <a:t>Vox 5 · ch 25</a:t>
              </a:r>
            </a:p>
          </p:txBody>
        </p:sp>
      </p:grpSp>
      <p:grpSp>
        <p:nvGrpSpPr>
          <p:cNvPr id="25" name="Tim"/>
          <p:cNvGrpSpPr/>
          <p:nvPr/>
        </p:nvGrpSpPr>
        <p:grpSpPr>
          <a:xfrm>
            <a:off x="2430983" y="3769868"/>
            <a:ext cx="914400" cy="558292"/>
            <a:chOff x="2430983" y="3769868"/>
            <a:chExt cx="914400" cy="558292"/>
          </a:xfrm>
        </p:grpSpPr>
        <p:sp>
          <p:nvSpPr>
            <p:cNvPr id="26" name="Oval 25"/>
            <p:cNvSpPr/>
            <p:nvPr/>
          </p:nvSpPr>
          <p:spPr>
            <a:xfrm>
              <a:off x="2609037" y="37698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30983" y="3870706"/>
              <a:ext cx="914400" cy="356615"/>
            </a:xfrm>
            <a:prstGeom prst="rect">
              <a:avLst/>
            </a:prstGeom>
            <a:noFill/>
          </p:spPr>
          <p:txBody>
            <a:bodyPr wrap="square" lIns="0" rIns="0" tIns="0" bIns="0" anchor="ctr">
              <a:spAutoFit/>
            </a:bodyPr>
            <a:lstStyle/>
            <a:p>
              <a:pPr algn="ctr"/>
              <a:r>
                <a:rPr sz="700" b="0">
                  <a:solidFill>
                    <a:srgbClr val="1F2937"/>
                  </a:solidFill>
                  <a:latin typeface="Arial"/>
                </a:rPr>
                <a:t>Tim</a:t>
              </a:r>
            </a:p>
            <a:p>
              <a:pPr algn="ctr"/>
              <a:r>
                <a:rPr sz="700" b="0">
                  <a:solidFill>
                    <a:srgbClr val="1F2937"/>
                  </a:solidFill>
                  <a:latin typeface="Arial"/>
                </a:rPr>
                <a:t>rhythm</a:t>
              </a:r>
            </a:p>
            <a:p>
              <a:pPr algn="ctr"/>
              <a:r>
                <a:rPr sz="700" b="0">
                  <a:solidFill>
                    <a:srgbClr val="1F2937"/>
                  </a:solidFill>
                  <a:latin typeface="Arial"/>
                </a:rPr>
                <a:t>guitar</a:t>
              </a:r>
            </a:p>
          </p:txBody>
        </p:sp>
      </p:grpSp>
      <p:grpSp>
        <p:nvGrpSpPr>
          <p:cNvPr id="28" name="Laptop · side stage, TBC"/>
          <p:cNvGrpSpPr/>
          <p:nvPr/>
        </p:nvGrpSpPr>
        <p:grpSpPr>
          <a:xfrm>
            <a:off x="338328" y="2960344"/>
            <a:ext cx="1737360" cy="761542"/>
            <a:chOff x="338328" y="2960344"/>
            <a:chExt cx="1737360" cy="761542"/>
          </a:xfrm>
        </p:grpSpPr>
        <p:sp>
          <p:nvSpPr>
            <p:cNvPr id="29" name="Rounded Rectangle 28"/>
            <p:cNvSpPr/>
            <p:nvPr/>
          </p:nvSpPr>
          <p:spPr>
            <a:xfrm>
              <a:off x="487527" y="2960344"/>
              <a:ext cx="669950" cy="50246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28" y="3471951"/>
              <a:ext cx="1737360" cy="249935"/>
            </a:xfrm>
            <a:prstGeom prst="rect">
              <a:avLst/>
            </a:prstGeom>
            <a:noFill/>
          </p:spPr>
          <p:txBody>
            <a:bodyPr wrap="square" lIns="0" rIns="0" tIns="0" bIns="0" anchor="ctr">
              <a:spAutoFit/>
            </a:bodyPr>
            <a:lstStyle/>
            <a:p>
              <a:pPr algn="ctr"/>
              <a:r>
                <a:rPr sz="700" b="0">
                  <a:solidFill>
                    <a:srgbClr val="1F2937"/>
                  </a:solidFill>
                  <a:latin typeface="Arial"/>
                </a:rPr>
                <a:t>Laptop · side stage, TBC</a:t>
              </a:r>
            </a:p>
            <a:p>
              <a:pPr algn="ctr"/>
              <a:r>
                <a:rPr sz="700" b="0">
                  <a:solidFill>
                    <a:srgbClr val="1F2937"/>
                  </a:solidFill>
                  <a:latin typeface="Arial"/>
                </a:rPr>
                <a:t>HDMI video + audio</a:t>
              </a:r>
            </a:p>
          </p:txBody>
        </p:sp>
      </p:grpSp>
      <p:grpSp>
        <p:nvGrpSpPr>
          <p:cNvPr id="31" name="Sam"/>
          <p:cNvGrpSpPr/>
          <p:nvPr/>
        </p:nvGrpSpPr>
        <p:grpSpPr>
          <a:xfrm>
            <a:off x="6674002" y="3881526"/>
            <a:ext cx="914400" cy="558292"/>
            <a:chOff x="6674002" y="3881526"/>
            <a:chExt cx="914400" cy="558292"/>
          </a:xfrm>
        </p:grpSpPr>
        <p:sp>
          <p:nvSpPr>
            <p:cNvPr id="32" name="Oval 31"/>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Sam</a:t>
              </a:r>
            </a:p>
            <a:p>
              <a:pPr algn="ctr"/>
              <a:r>
                <a:rPr sz="700" b="0">
                  <a:solidFill>
                    <a:srgbClr val="1F2937"/>
                  </a:solidFill>
                  <a:latin typeface="Arial"/>
                </a:rPr>
                <a:t>bass</a:t>
              </a:r>
            </a:p>
          </p:txBody>
        </p:sp>
      </p:grpSp>
      <p:grpSp>
        <p:nvGrpSpPr>
          <p:cNvPr id="34" name="Keira's wireless · TBC"/>
          <p:cNvGrpSpPr/>
          <p:nvPr/>
        </p:nvGrpSpPr>
        <p:grpSpPr>
          <a:xfrm>
            <a:off x="8613648" y="3658209"/>
            <a:ext cx="1737360" cy="705713"/>
            <a:chOff x="8613648" y="3658209"/>
            <a:chExt cx="1737360" cy="705713"/>
          </a:xfrm>
        </p:grpSpPr>
        <p:sp>
          <p:nvSpPr>
            <p:cNvPr id="35" name="Rounded Rectangle 34"/>
            <p:cNvSpPr/>
            <p:nvPr/>
          </p:nvSpPr>
          <p:spPr>
            <a:xfrm>
              <a:off x="9420199" y="3658209"/>
              <a:ext cx="558292" cy="446633"/>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3648" y="4113987"/>
              <a:ext cx="1737360" cy="249935"/>
            </a:xfrm>
            <a:prstGeom prst="rect">
              <a:avLst/>
            </a:prstGeom>
            <a:noFill/>
          </p:spPr>
          <p:txBody>
            <a:bodyPr wrap="square" lIns="0" rIns="0" tIns="0" bIns="0" anchor="ctr">
              <a:spAutoFit/>
            </a:bodyPr>
            <a:lstStyle/>
            <a:p>
              <a:pPr algn="ctr"/>
              <a:r>
                <a:rPr sz="700" b="0">
                  <a:solidFill>
                    <a:srgbClr val="1F2937"/>
                  </a:solidFill>
                  <a:latin typeface="Arial"/>
                </a:rPr>
                <a:t>Keira's wireless · TBC</a:t>
              </a:r>
            </a:p>
            <a:p>
              <a:pPr algn="ctr"/>
              <a:r>
                <a:rPr sz="700" b="0">
                  <a:solidFill>
                    <a:srgbClr val="1F2937"/>
                  </a:solidFill>
                  <a:latin typeface="Arial"/>
                </a:rPr>
                <a:t>receiver out · in-ear mix in</a:t>
              </a:r>
            </a:p>
          </p:txBody>
        </p:sp>
      </p:grpSp>
      <p:grpSp>
        <p:nvGrpSpPr>
          <p:cNvPr id="37" name="Aaron"/>
          <p:cNvGrpSpPr/>
          <p:nvPr/>
        </p:nvGrpSpPr>
        <p:grpSpPr>
          <a:xfrm>
            <a:off x="1314399" y="4383989"/>
            <a:ext cx="914400" cy="558292"/>
            <a:chOff x="1314399" y="4383989"/>
            <a:chExt cx="914400" cy="558292"/>
          </a:xfrm>
        </p:grpSpPr>
        <p:sp>
          <p:nvSpPr>
            <p:cNvPr id="38" name="Oval 37"/>
            <p:cNvSpPr/>
            <p:nvPr/>
          </p:nvSpPr>
          <p:spPr>
            <a:xfrm>
              <a:off x="1492453" y="4383989"/>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14399" y="4538167"/>
              <a:ext cx="914400" cy="249935"/>
            </a:xfrm>
            <a:prstGeom prst="rect">
              <a:avLst/>
            </a:prstGeom>
            <a:noFill/>
          </p:spPr>
          <p:txBody>
            <a:bodyPr wrap="square" lIns="0" rIns="0" tIns="0" bIns="0" anchor="ctr">
              <a:spAutoFit/>
            </a:bodyPr>
            <a:lstStyle/>
            <a:p>
              <a:pPr algn="ctr"/>
              <a:r>
                <a:rPr sz="700" b="0">
                  <a:solidFill>
                    <a:srgbClr val="1F2937"/>
                  </a:solidFill>
                  <a:latin typeface="Arial"/>
                </a:rPr>
                <a:t>Aaron</a:t>
              </a:r>
            </a:p>
            <a:p>
              <a:pPr algn="ctr"/>
              <a:r>
                <a:rPr sz="700" b="0">
                  <a:solidFill>
                    <a:srgbClr val="1F2937"/>
                  </a:solidFill>
                  <a:latin typeface="Arial"/>
                </a:rPr>
                <a:t>keys + vox</a:t>
              </a:r>
            </a:p>
          </p:txBody>
        </p:sp>
      </p:grpSp>
      <p:grpSp>
        <p:nvGrpSpPr>
          <p:cNvPr id="40" name="Keys (own) · stereo DI ch 19/20"/>
          <p:cNvGrpSpPr/>
          <p:nvPr/>
        </p:nvGrpSpPr>
        <p:grpSpPr>
          <a:xfrm>
            <a:off x="1040079" y="5053939"/>
            <a:ext cx="1463040" cy="446633"/>
            <a:chOff x="1040079" y="5053939"/>
            <a:chExt cx="1463040" cy="446633"/>
          </a:xfrm>
        </p:grpSpPr>
        <p:sp>
          <p:nvSpPr>
            <p:cNvPr id="41" name="Rounded Rectangle 40"/>
            <p:cNvSpPr/>
            <p:nvPr/>
          </p:nvSpPr>
          <p:spPr>
            <a:xfrm>
              <a:off x="1101648" y="5053939"/>
              <a:ext cx="1339900" cy="446633"/>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0079" y="5205628"/>
              <a:ext cx="1463040" cy="143256"/>
            </a:xfrm>
            <a:prstGeom prst="rect">
              <a:avLst/>
            </a:prstGeom>
            <a:noFill/>
          </p:spPr>
          <p:txBody>
            <a:bodyPr wrap="square" lIns="0" rIns="0" tIns="0" bIns="0" anchor="ctr">
              <a:spAutoFit/>
            </a:bodyPr>
            <a:lstStyle/>
            <a:p>
              <a:pPr algn="ctr"/>
              <a:r>
                <a:rPr sz="700" b="0">
                  <a:solidFill>
                    <a:srgbClr val="1F2937"/>
                  </a:solidFill>
                  <a:latin typeface="Arial"/>
                </a:rPr>
                <a:t>Keys (own) · stereo DI ch 19/20</a:t>
              </a:r>
            </a:p>
          </p:txBody>
        </p:sp>
      </p:grpSp>
      <p:grpSp>
        <p:nvGrpSpPr>
          <p:cNvPr id="43" name="Keira"/>
          <p:cNvGrpSpPr/>
          <p:nvPr/>
        </p:nvGrpSpPr>
        <p:grpSpPr>
          <a:xfrm>
            <a:off x="3659225" y="4998110"/>
            <a:ext cx="914400" cy="558292"/>
            <a:chOff x="3659225" y="4998110"/>
            <a:chExt cx="914400" cy="558292"/>
          </a:xfrm>
        </p:grpSpPr>
        <p:sp>
          <p:nvSpPr>
            <p:cNvPr id="44" name="Oval 43"/>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Keira</a:t>
              </a:r>
            </a:p>
            <a:p>
              <a:pPr algn="ctr"/>
              <a:r>
                <a:rPr sz="700" b="0">
                  <a:solidFill>
                    <a:srgbClr val="1F2937"/>
                  </a:solidFill>
                  <a:latin typeface="Arial"/>
                </a:rPr>
                <a:t>lead vox</a:t>
              </a:r>
            </a:p>
          </p:txBody>
        </p:sp>
      </p:grpSp>
      <p:grpSp>
        <p:nvGrpSpPr>
          <p:cNvPr id="46" name="Tyler"/>
          <p:cNvGrpSpPr/>
          <p:nvPr/>
        </p:nvGrpSpPr>
        <p:grpSpPr>
          <a:xfrm>
            <a:off x="6115710" y="4998110"/>
            <a:ext cx="914400" cy="558292"/>
            <a:chOff x="6115710" y="4998110"/>
            <a:chExt cx="914400" cy="558292"/>
          </a:xfrm>
        </p:grpSpPr>
        <p:sp>
          <p:nvSpPr>
            <p:cNvPr id="47" name="Oval 46"/>
            <p:cNvSpPr/>
            <p:nvPr/>
          </p:nvSpPr>
          <p:spPr>
            <a:xfrm>
              <a:off x="6293764"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15710" y="5098948"/>
              <a:ext cx="914400" cy="356615"/>
            </a:xfrm>
            <a:prstGeom prst="rect">
              <a:avLst/>
            </a:prstGeom>
            <a:noFill/>
          </p:spPr>
          <p:txBody>
            <a:bodyPr wrap="square" lIns="0" rIns="0" tIns="0" bIns="0" anchor="ctr">
              <a:spAutoFit/>
            </a:bodyPr>
            <a:lstStyle/>
            <a:p>
              <a:pPr algn="ctr"/>
              <a:r>
                <a:rPr sz="700" b="0">
                  <a:solidFill>
                    <a:srgbClr val="1F2937"/>
                  </a:solidFill>
                  <a:latin typeface="Arial"/>
                </a:rPr>
                <a:t>Tyler</a:t>
              </a:r>
            </a:p>
            <a:p>
              <a:pPr algn="ctr"/>
              <a:r>
                <a:rPr sz="700" b="0">
                  <a:solidFill>
                    <a:srgbClr val="1F2937"/>
                  </a:solidFill>
                  <a:latin typeface="Arial"/>
                </a:rPr>
                <a:t>guitar</a:t>
              </a:r>
            </a:p>
            <a:p>
              <a:pPr algn="ctr"/>
              <a:r>
                <a:rPr sz="700" b="0">
                  <a:solidFill>
                    <a:srgbClr val="1F2937"/>
                  </a:solidFill>
                  <a:latin typeface="Arial"/>
                </a:rPr>
                <a:t>+ vox</a:t>
              </a:r>
            </a:p>
          </p:txBody>
        </p:sp>
      </p:grpSp>
      <p:grpSp>
        <p:nvGrpSpPr>
          <p:cNvPr id="49" name="Vox 1 · ch 21"/>
          <p:cNvGrpSpPr/>
          <p:nvPr/>
        </p:nvGrpSpPr>
        <p:grpSpPr>
          <a:xfrm>
            <a:off x="902919" y="5723890"/>
            <a:ext cx="1737360" cy="594054"/>
            <a:chOff x="902919" y="5723890"/>
            <a:chExt cx="1737360" cy="594054"/>
          </a:xfrm>
        </p:grpSpPr>
        <p:sp>
          <p:nvSpPr>
            <p:cNvPr id="50" name="Oval 49"/>
            <p:cNvSpPr/>
            <p:nvPr/>
          </p:nvSpPr>
          <p:spPr>
            <a:xfrm>
              <a:off x="1604111"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2919"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Vox 1 · ch 21</a:t>
              </a:r>
            </a:p>
            <a:p>
              <a:pPr algn="ctr"/>
              <a:r>
                <a:rPr sz="700" b="0">
                  <a:solidFill>
                    <a:srgbClr val="1F2937"/>
                  </a:solidFill>
                  <a:latin typeface="Arial"/>
                </a:rPr>
                <a:t>(over the keys)</a:t>
              </a:r>
            </a:p>
          </p:txBody>
        </p:sp>
      </p:grpSp>
      <p:grpSp>
        <p:nvGrpSpPr>
          <p:cNvPr id="52" name="Wireless · ch 26"/>
          <p:cNvGrpSpPr/>
          <p:nvPr/>
        </p:nvGrpSpPr>
        <p:grpSpPr>
          <a:xfrm>
            <a:off x="3247745" y="5723890"/>
            <a:ext cx="1737360" cy="594054"/>
            <a:chOff x="3247745" y="5723890"/>
            <a:chExt cx="1737360" cy="594054"/>
          </a:xfrm>
        </p:grpSpPr>
        <p:sp>
          <p:nvSpPr>
            <p:cNvPr id="53" name="Oval 52"/>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47745"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Wireless · ch 26</a:t>
              </a:r>
            </a:p>
            <a:p>
              <a:pPr algn="ctr"/>
              <a:r>
                <a:rPr sz="700" b="0">
                  <a:solidFill>
                    <a:srgbClr val="1F2937"/>
                  </a:solidFill>
                  <a:latin typeface="Arial"/>
                </a:rPr>
                <a:t>straight stand</a:t>
              </a:r>
            </a:p>
          </p:txBody>
        </p:sp>
      </p:grpSp>
      <p:grpSp>
        <p:nvGrpSpPr>
          <p:cNvPr id="55" name="Vox 3 · ch 23"/>
          <p:cNvGrpSpPr/>
          <p:nvPr/>
        </p:nvGrpSpPr>
        <p:grpSpPr>
          <a:xfrm>
            <a:off x="5704230" y="5723890"/>
            <a:ext cx="1737360" cy="487375"/>
            <a:chOff x="5704230" y="5723890"/>
            <a:chExt cx="1737360" cy="487375"/>
          </a:xfrm>
        </p:grpSpPr>
        <p:sp>
          <p:nvSpPr>
            <p:cNvPr id="56" name="Oval 55"/>
            <p:cNvSpPr/>
            <p:nvPr/>
          </p:nvSpPr>
          <p:spPr>
            <a:xfrm>
              <a:off x="6405422"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3 · ch 23</a:t>
              </a:r>
            </a:p>
          </p:txBody>
        </p:sp>
      </p:grpSp>
      <p:grpSp>
        <p:nvGrpSpPr>
          <p:cNvPr id="58" name="Vox 4 · fold down"/>
          <p:cNvGrpSpPr/>
          <p:nvPr/>
        </p:nvGrpSpPr>
        <p:grpSpPr>
          <a:xfrm>
            <a:off x="8049056" y="5723890"/>
            <a:ext cx="1737360" cy="487375"/>
            <a:chOff x="8049056" y="5723890"/>
            <a:chExt cx="1737360" cy="487375"/>
          </a:xfrm>
        </p:grpSpPr>
        <p:sp>
          <p:nvSpPr>
            <p:cNvPr id="59" name="Oval 58"/>
            <p:cNvSpPr/>
            <p:nvPr/>
          </p:nvSpPr>
          <p:spPr>
            <a:xfrm>
              <a:off x="8750249"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4 · fold down</a:t>
              </a:r>
            </a:p>
          </p:txBody>
        </p:sp>
      </p:grpSp>
      <p:sp>
        <p:nvSpPr>
          <p:cNvPr id="61"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2" name="TextBox 61"/>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63"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4" name="TextBox 63"/>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65"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6" name="TextBox 65"/>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67"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8" name="TextBox 67"/>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69"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0" name="TextBox 69"/>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71"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2" name="TextBox 71"/>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73"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4" name="TextBox 73"/>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75" name="TextBox 74"/>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76" name="Rectangle 75"/>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3182481"/>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32282">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Andrew; Keira plays on 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Sam: Ampeg DI out (uses a tuner)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Ampeg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Tim, with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Tyler, with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19/20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Keys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Aaron: own keyboard, stereo, needs a DI with two inputs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Aaron: backing on song 6. Andrew's cowbell spot on 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Tyler: co-lead on song 3, backing on 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5 (drums)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Andrew: spoken line. Keira: sings song 4 from the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Wireless vocal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Keira: own mic and receiver (XLR out), on a straight stand at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27/28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Playback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Laptop audio over HDMI: Alexa voice-over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4005452"/>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14, 16, 17, 18, 22, 24. Ch 31/32 are the crowd mics, for the recording only.</a:t>
            </a:r>
          </a:p>
        </p:txBody>
      </p:sp>
      <p:sp>
        <p:nvSpPr>
          <p:cNvPr id="7" name="Monitors and in-ears"/>
          <p:cNvSpPr/>
          <p:nvPr/>
        </p:nvSpPr>
        <p:spPr>
          <a:xfrm>
            <a:off x="5257799" y="777240"/>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Keira has her own wireless in-ears; her transmitter takes an XLR from the desk. The mix is vocals only: her wireless (ch 26), plus Vox 5 when she sings from the kit (song 4), plus a little Vox 3 on song 3.</a:t>
            </a:r>
          </a:p>
        </p:txBody>
      </p:sp>
      <p:sp>
        <p:nvSpPr>
          <p:cNvPr id="8" name="Screen and playback"/>
          <p:cNvSpPr/>
          <p:nvPr/>
        </p:nvSpPr>
        <p:spPr>
          <a:xfrm>
            <a:off x="5257799" y="1681035"/>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Laptop at side stage on HDMI. Video all the way through; Alexa voice-over audio at the intro, between songs 3 → 4 and 5 → 6, and at the finish (ch 27/28). Keira runs it with a clicker.</a:t>
            </a:r>
          </a:p>
        </p:txBody>
      </p:sp>
      <p:sp>
        <p:nvSpPr>
          <p:cNvPr id="9" name="Changeover into this set"/>
          <p:cNvSpPr/>
          <p:nvPr/>
        </p:nvSpPr>
        <p:spPr>
          <a:xfrm>
            <a:off x="5257799" y="2584831"/>
            <a:ext cx="5111496" cy="1095692"/>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Changeover into this set</a:t>
            </a:r>
          </a:p>
          <a:p>
            <a:r>
              <a:rPr sz="950">
                <a:solidFill>
                  <a:srgbClr val="1F2937"/>
                </a:solidFill>
                <a:latin typeface="Arial"/>
              </a:rPr>
              <a:t>Strike the Kronos and the three guitar DIs. Aaron's keyboard and stand go house left at Vox 1, on a stereo DI. Amps back in: Tim on the Fender, Tyler on the AC30. Swap the Vox 2 stand for a straight (boomless) stand with Keira's wireless mic and clip. Vox 5 up at the kit. Patch her receiver (ch 26) and in-ear transmitter. Andrew fits clamps for cowbell and tambourine.</a:t>
            </a:r>
          </a:p>
        </p:txBody>
      </p:sp>
      <p:sp>
        <p:nvSpPr>
          <p:cNvPr id="10" name="Notes and to confirm"/>
          <p:cNvSpPr/>
          <p:nvPr/>
        </p:nvSpPr>
        <p:spPr>
          <a:xfrm>
            <a:off x="5257799" y="3790251"/>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Song 4: Keira and Andrew swap on the kit. Andrew plays cowbell at Vox 1, then takes the kit back at the guitar solo. Where the wireless receiver and in-ear transmitter sit. Planned running time is 24:00 in a 25-minute slot.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24:00 planned, in a 25-minute slot. The band's own run sheet has the full spoken script.</a:t>
            </a:r>
          </a:p>
        </p:txBody>
      </p:sp>
      <p:graphicFrame>
        <p:nvGraphicFramePr>
          <p:cNvPr id="6" name="Table 5"/>
          <p:cNvGraphicFramePr>
            <a:graphicFrameLocks noGrp="1"/>
          </p:cNvGraphicFramePr>
          <p:nvPr/>
        </p:nvGraphicFramePr>
        <p:xfrm>
          <a:off x="320040" y="1097280"/>
          <a:ext cx="10049256" cy="5126725"/>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Alexa's intro (band already on stage)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 until Alexa says “Amakazaam!”, then bring up a warm wash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Valerie — Amy Winehouse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(wireless,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Warm vintage vibes, gold and pink</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 →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Superstition — Stevie Wonder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Groovy and spooky? Halloween orange, occasional greens, occasional disco?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472440">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Under Pressure — Queen &amp; David Bowie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(wireless) and Tyler (Vox 3). Add a bit of Vox 3 to Keira's in-ears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Start with spotlights on lead vox (wireless) and lead guitar (Vox 3). Bright whites with red and blue accents. Build and break tension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3 →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 over dialogue between Keira, Alexa and Andrew</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Andrew speaks from the kit (Vox 5), then Keira takes over the drums and Andrew moves to cowbell at Vox 1. Keira's in-ears need Vox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596391">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Are You Gonna Go My Way — Lenny Kravitz</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Keira sings from the kit on Vox 5; Andrew on cowbell near Vox 1. At the hits at the top of the guitar solo Andrew takes the kit back, and Keira sings the final line on the wireless at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Cue: Keira's first drum fill (after the opening hits). Epic stadium: flashes on song accents, backlights, colour and movement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 →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 Sam tunes down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Moody, but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472440">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You Oughta Know — Alanis Morissette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At the first lyric, bring the wash down to just a spotlight on lead vox. Moody blue and magenta. Start small and build to hectic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5 →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Alexa dialogue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(wireless) and Alexa (laptop). Sam tunes back up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720343">
                <a:tc>
                  <a:txBody>
                    <a:bodyPr wrap="square"/>
                    <a:lstStyle/>
                    <a:p>
                      <a:pPr algn="l"/>
                      <a:r>
                        <a:rPr sz="800" b="1">
                          <a:solidFill>
                            <a:srgbClr val="1F2937"/>
                          </a:solidFill>
                          <a:latin typeface="Arial"/>
                        </a:rPr>
                        <a:t>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Killing in the Name — Rage Against the Machine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5:00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Backing: Tyler (Vox 3), Aaron (Vox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 the on-screen gauge explodes at the big section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Song cue: “Okay crew, we know what to do.” Start dark, end in absolute carnage: red and orange like flames, flashes on song accents, strobe by the end. Important: “destruction” lights at the big “fuck you I won't do what you tell me!” section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Finish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Alexa's outro, curtain call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Jai (songs 1–3) · Shane (4–5)</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Taz</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ch 11 + 12</a:t>
              </a:r>
            </a:p>
          </p:txBody>
        </p:sp>
      </p:grpSp>
      <p:grpSp>
        <p:nvGrpSpPr>
          <p:cNvPr id="19" name="Vox AC30 · not used"/>
          <p:cNvGrpSpPr/>
          <p:nvPr/>
        </p:nvGrpSpPr>
        <p:grpSpPr>
          <a:xfrm>
            <a:off x="7602423" y="2837520"/>
            <a:ext cx="1737360" cy="453878"/>
            <a:chOff x="7602423" y="2837520"/>
            <a:chExt cx="1737360" cy="453878"/>
          </a:xfrm>
        </p:grpSpPr>
        <p:sp>
          <p:nvSpPr>
            <p:cNvPr id="20" name="Rounded Rectangle 19"/>
            <p:cNvSpPr/>
            <p:nvPr/>
          </p:nvSpPr>
          <p:spPr>
            <a:xfrm>
              <a:off x="8080298" y="2837520"/>
              <a:ext cx="781608" cy="301477"/>
            </a:xfrm>
            <a:prstGeom prst="roundRect">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143256"/>
            </a:xfrm>
            <a:prstGeom prst="rect">
              <a:avLst/>
            </a:prstGeom>
            <a:noFill/>
          </p:spPr>
          <p:txBody>
            <a:bodyPr wrap="square" lIns="0" rIns="0" tIns="0" bIns="0" anchor="ctr">
              <a:spAutoFit/>
            </a:bodyPr>
            <a:lstStyle/>
            <a:p>
              <a:pPr algn="ctr"/>
              <a:r>
                <a:rPr sz="700" b="0">
                  <a:solidFill>
                    <a:srgbClr val="9CA3AF"/>
                  </a:solidFill>
                  <a:latin typeface="Arial"/>
                </a:rPr>
                <a:t>Vox AC30 · not used</a:t>
              </a:r>
            </a:p>
          </p:txBody>
        </p:sp>
      </p:grpSp>
      <p:grpSp>
        <p:nvGrpSpPr>
          <p:cNvPr id="22" name="Laptop on the riser"/>
          <p:cNvGrpSpPr/>
          <p:nvPr/>
        </p:nvGrpSpPr>
        <p:grpSpPr>
          <a:xfrm>
            <a:off x="3638549" y="2569540"/>
            <a:ext cx="1737360" cy="761541"/>
            <a:chOff x="3638549" y="2569540"/>
            <a:chExt cx="1737360" cy="761541"/>
          </a:xfrm>
        </p:grpSpPr>
        <p:sp>
          <p:nvSpPr>
            <p:cNvPr id="23" name="Rounded Rectangle 22"/>
            <p:cNvSpPr/>
            <p:nvPr/>
          </p:nvSpPr>
          <p:spPr>
            <a:xfrm>
              <a:off x="4172254" y="2569540"/>
              <a:ext cx="669950" cy="50246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8549" y="3081146"/>
              <a:ext cx="1737360" cy="249935"/>
            </a:xfrm>
            <a:prstGeom prst="rect">
              <a:avLst/>
            </a:prstGeom>
            <a:noFill/>
          </p:spPr>
          <p:txBody>
            <a:bodyPr wrap="square" lIns="0" rIns="0" tIns="0" bIns="0" anchor="ctr">
              <a:spAutoFit/>
            </a:bodyPr>
            <a:lstStyle/>
            <a:p>
              <a:pPr algn="ctr"/>
              <a:r>
                <a:rPr sz="700" b="0">
                  <a:solidFill>
                    <a:srgbClr val="1F2937"/>
                  </a:solidFill>
                  <a:latin typeface="Arial"/>
                </a:rPr>
                <a:t>Laptop on the riser</a:t>
              </a:r>
            </a:p>
            <a:p>
              <a:pPr algn="ctr"/>
              <a:r>
                <a:rPr sz="700" b="0">
                  <a:solidFill>
                    <a:srgbClr val="1F2937"/>
                  </a:solidFill>
                  <a:latin typeface="Arial"/>
                </a:rPr>
                <a:t>HDMI video · click to drummer</a:t>
              </a:r>
            </a:p>
          </p:txBody>
        </p:sp>
      </p:grpSp>
      <p:grpSp>
        <p:nvGrpSpPr>
          <p:cNvPr id="25" name="Backing DI · ch 27"/>
          <p:cNvGrpSpPr/>
          <p:nvPr/>
        </p:nvGrpSpPr>
        <p:grpSpPr>
          <a:xfrm>
            <a:off x="4886868" y="3747536"/>
            <a:ext cx="1562385" cy="156321"/>
            <a:chOff x="4886868" y="3747536"/>
            <a:chExt cx="1562385" cy="156321"/>
          </a:xfrm>
        </p:grpSpPr>
        <p:sp>
          <p:nvSpPr>
            <p:cNvPr id="26" name="Rounded Rectangle 25"/>
            <p:cNvSpPr/>
            <p:nvPr/>
          </p:nvSpPr>
          <p:spPr>
            <a:xfrm>
              <a:off x="4886868" y="3747536"/>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9093" y="3754069"/>
              <a:ext cx="1280160" cy="143256"/>
            </a:xfrm>
            <a:prstGeom prst="rect">
              <a:avLst/>
            </a:prstGeom>
            <a:noFill/>
          </p:spPr>
          <p:txBody>
            <a:bodyPr wrap="square" lIns="0" rIns="0" tIns="0" bIns="0" anchor="ctr">
              <a:spAutoFit/>
            </a:bodyPr>
            <a:lstStyle/>
            <a:p>
              <a:pPr algn="l"/>
              <a:r>
                <a:rPr sz="700" b="0">
                  <a:solidFill>
                    <a:srgbClr val="1F2937"/>
                  </a:solidFill>
                  <a:latin typeface="Arial"/>
                </a:rPr>
                <a:t>Backing DI · ch 27</a:t>
              </a:r>
            </a:p>
          </p:txBody>
        </p:sp>
      </p:grpSp>
      <p:grpSp>
        <p:nvGrpSpPr>
          <p:cNvPr id="28" name="Taz"/>
          <p:cNvGrpSpPr/>
          <p:nvPr/>
        </p:nvGrpSpPr>
        <p:grpSpPr>
          <a:xfrm>
            <a:off x="2319324" y="3769868"/>
            <a:ext cx="914400" cy="558292"/>
            <a:chOff x="2319324" y="3769868"/>
            <a:chExt cx="914400" cy="558292"/>
          </a:xfrm>
        </p:grpSpPr>
        <p:sp>
          <p:nvSpPr>
            <p:cNvPr id="29" name="Oval 28"/>
            <p:cNvSpPr/>
            <p:nvPr/>
          </p:nvSpPr>
          <p:spPr>
            <a:xfrm>
              <a:off x="2497378" y="37698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19324" y="3924046"/>
              <a:ext cx="914400" cy="249935"/>
            </a:xfrm>
            <a:prstGeom prst="rect">
              <a:avLst/>
            </a:prstGeom>
            <a:noFill/>
          </p:spPr>
          <p:txBody>
            <a:bodyPr wrap="square" lIns="0" rIns="0" tIns="0" bIns="0" anchor="ctr">
              <a:spAutoFit/>
            </a:bodyPr>
            <a:lstStyle/>
            <a:p>
              <a:pPr algn="ctr"/>
              <a:r>
                <a:rPr sz="700" b="0">
                  <a:solidFill>
                    <a:srgbClr val="1F2937"/>
                  </a:solidFill>
                  <a:latin typeface="Arial"/>
                </a:rPr>
                <a:t>Taz</a:t>
              </a:r>
            </a:p>
            <a:p>
              <a:pPr algn="ctr"/>
              <a:r>
                <a:rPr sz="700" b="0">
                  <a:solidFill>
                    <a:srgbClr val="1F2937"/>
                  </a:solidFill>
                  <a:latin typeface="Arial"/>
                </a:rPr>
                <a:t>guitar</a:t>
              </a:r>
            </a:p>
          </p:txBody>
        </p:sp>
      </p:grpSp>
      <p:grpSp>
        <p:nvGrpSpPr>
          <p:cNvPr id="31" name="Cam"/>
          <p:cNvGrpSpPr/>
          <p:nvPr/>
        </p:nvGrpSpPr>
        <p:grpSpPr>
          <a:xfrm>
            <a:off x="6674002" y="3881526"/>
            <a:ext cx="914400" cy="558292"/>
            <a:chOff x="6674002" y="3881526"/>
            <a:chExt cx="914400" cy="558292"/>
          </a:xfrm>
        </p:grpSpPr>
        <p:sp>
          <p:nvSpPr>
            <p:cNvPr id="32" name="Oval 31"/>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Cam</a:t>
              </a:r>
            </a:p>
            <a:p>
              <a:pPr algn="ctr"/>
              <a:r>
                <a:rPr sz="700" b="0">
                  <a:solidFill>
                    <a:srgbClr val="1F2937"/>
                  </a:solidFill>
                  <a:latin typeface="Arial"/>
                </a:rPr>
                <a:t>bass</a:t>
              </a:r>
            </a:p>
          </p:txBody>
        </p:sp>
      </p:grpSp>
      <p:grpSp>
        <p:nvGrpSpPr>
          <p:cNvPr id="34" name="Holly's in-ears (Xvive U4)"/>
          <p:cNvGrpSpPr/>
          <p:nvPr/>
        </p:nvGrpSpPr>
        <p:grpSpPr>
          <a:xfrm>
            <a:off x="2019503" y="4718964"/>
            <a:ext cx="1737360" cy="705712"/>
            <a:chOff x="2019503" y="4718964"/>
            <a:chExt cx="1737360" cy="705712"/>
          </a:xfrm>
        </p:grpSpPr>
        <p:sp>
          <p:nvSpPr>
            <p:cNvPr id="35" name="Rounded Rectangle 34"/>
            <p:cNvSpPr/>
            <p:nvPr/>
          </p:nvSpPr>
          <p:spPr>
            <a:xfrm>
              <a:off x="2609037" y="4718964"/>
              <a:ext cx="558292" cy="446633"/>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9503" y="5174741"/>
              <a:ext cx="1737360" cy="249935"/>
            </a:xfrm>
            <a:prstGeom prst="rect">
              <a:avLst/>
            </a:prstGeom>
            <a:noFill/>
          </p:spPr>
          <p:txBody>
            <a:bodyPr wrap="square" lIns="0" rIns="0" tIns="0" bIns="0" anchor="ctr">
              <a:spAutoFit/>
            </a:bodyPr>
            <a:lstStyle/>
            <a:p>
              <a:pPr algn="ctr"/>
              <a:r>
                <a:rPr sz="700" b="0">
                  <a:solidFill>
                    <a:srgbClr val="1F2937"/>
                  </a:solidFill>
                  <a:latin typeface="Arial"/>
                </a:rPr>
                <a:t>Holly's in-ears (Xvive U4)</a:t>
              </a:r>
            </a:p>
            <a:p>
              <a:pPr algn="ctr"/>
              <a:r>
                <a:rPr sz="700" b="0">
                  <a:solidFill>
                    <a:srgbClr val="1F2937"/>
                  </a:solidFill>
                  <a:latin typeface="Arial"/>
                </a:rPr>
                <a:t>transmitter needs a mix feed</a:t>
              </a:r>
            </a:p>
          </p:txBody>
        </p:sp>
      </p:grpSp>
      <p:grpSp>
        <p:nvGrpSpPr>
          <p:cNvPr id="37" name="Acoustic DI · ch 17"/>
          <p:cNvGrpSpPr/>
          <p:nvPr/>
        </p:nvGrpSpPr>
        <p:grpSpPr>
          <a:xfrm>
            <a:off x="8069132" y="4584974"/>
            <a:ext cx="1562385" cy="156321"/>
            <a:chOff x="8069132" y="4584974"/>
            <a:chExt cx="1562385" cy="156321"/>
          </a:xfrm>
        </p:grpSpPr>
        <p:sp>
          <p:nvSpPr>
            <p:cNvPr id="38" name="Rounded Rectangle 37"/>
            <p:cNvSpPr/>
            <p:nvPr/>
          </p:nvSpPr>
          <p:spPr>
            <a:xfrm>
              <a:off x="8069132" y="4584974"/>
              <a:ext cx="245648" cy="156321"/>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1357" y="4591507"/>
              <a:ext cx="1280160" cy="143256"/>
            </a:xfrm>
            <a:prstGeom prst="rect">
              <a:avLst/>
            </a:prstGeom>
            <a:noFill/>
          </p:spPr>
          <p:txBody>
            <a:bodyPr wrap="square" lIns="0" rIns="0" tIns="0" bIns="0" anchor="ctr">
              <a:spAutoFit/>
            </a:bodyPr>
            <a:lstStyle/>
            <a:p>
              <a:pPr algn="l"/>
              <a:r>
                <a:rPr sz="700" b="0">
                  <a:solidFill>
                    <a:srgbClr val="1F2937"/>
                  </a:solidFill>
                  <a:latin typeface="Arial"/>
                </a:rPr>
                <a:t>Acoustic DI · ch 17</a:t>
              </a:r>
            </a:p>
          </p:txBody>
        </p:sp>
      </p:grpSp>
      <p:grpSp>
        <p:nvGrpSpPr>
          <p:cNvPr id="40" name="Holly"/>
          <p:cNvGrpSpPr/>
          <p:nvPr/>
        </p:nvGrpSpPr>
        <p:grpSpPr>
          <a:xfrm>
            <a:off x="3659225" y="4998110"/>
            <a:ext cx="914400" cy="558292"/>
            <a:chOff x="3659225" y="4998110"/>
            <a:chExt cx="914400" cy="558292"/>
          </a:xfrm>
        </p:grpSpPr>
        <p:sp>
          <p:nvSpPr>
            <p:cNvPr id="41" name="Oval 40"/>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Holly</a:t>
              </a:r>
            </a:p>
            <a:p>
              <a:pPr algn="ctr"/>
              <a:r>
                <a:rPr sz="700" b="0">
                  <a:solidFill>
                    <a:srgbClr val="1F2937"/>
                  </a:solidFill>
                  <a:latin typeface="Arial"/>
                </a:rPr>
                <a:t>lead vox</a:t>
              </a:r>
            </a:p>
          </p:txBody>
        </p:sp>
      </p:grpSp>
      <p:grpSp>
        <p:nvGrpSpPr>
          <p:cNvPr id="43" name="Milly"/>
          <p:cNvGrpSpPr/>
          <p:nvPr/>
        </p:nvGrpSpPr>
        <p:grpSpPr>
          <a:xfrm>
            <a:off x="8460536" y="4998110"/>
            <a:ext cx="914400" cy="558292"/>
            <a:chOff x="8460536" y="4998110"/>
            <a:chExt cx="914400" cy="558292"/>
          </a:xfrm>
        </p:grpSpPr>
        <p:sp>
          <p:nvSpPr>
            <p:cNvPr id="44" name="Oval 43"/>
            <p:cNvSpPr/>
            <p:nvPr/>
          </p:nvSpPr>
          <p:spPr>
            <a:xfrm>
              <a:off x="8638590"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60536" y="5098948"/>
              <a:ext cx="914400" cy="356615"/>
            </a:xfrm>
            <a:prstGeom prst="rect">
              <a:avLst/>
            </a:prstGeom>
            <a:noFill/>
          </p:spPr>
          <p:txBody>
            <a:bodyPr wrap="square" lIns="0" rIns="0" tIns="0" bIns="0" anchor="ctr">
              <a:spAutoFit/>
            </a:bodyPr>
            <a:lstStyle/>
            <a:p>
              <a:pPr algn="ctr"/>
              <a:r>
                <a:rPr sz="700" b="0">
                  <a:solidFill>
                    <a:srgbClr val="1F2937"/>
                  </a:solidFill>
                  <a:latin typeface="Arial"/>
                </a:rPr>
                <a:t>Milly</a:t>
              </a:r>
            </a:p>
            <a:p>
              <a:pPr algn="ctr"/>
              <a:r>
                <a:rPr sz="700" b="0">
                  <a:solidFill>
                    <a:srgbClr val="1F2937"/>
                  </a:solidFill>
                  <a:latin typeface="Arial"/>
                </a:rPr>
                <a:t>acoustic</a:t>
              </a:r>
            </a:p>
            <a:p>
              <a:pPr algn="ctr"/>
              <a:r>
                <a:rPr sz="700" b="0">
                  <a:solidFill>
                    <a:srgbClr val="1F2937"/>
                  </a:solidFill>
                  <a:latin typeface="Arial"/>
                </a:rPr>
                <a:t>+ vox</a:t>
              </a:r>
            </a:p>
          </p:txBody>
        </p:sp>
      </p:grpSp>
      <p:grpSp>
        <p:nvGrpSpPr>
          <p:cNvPr id="46" name="Vox 1 · fold down"/>
          <p:cNvGrpSpPr/>
          <p:nvPr/>
        </p:nvGrpSpPr>
        <p:grpSpPr>
          <a:xfrm>
            <a:off x="902919" y="5723890"/>
            <a:ext cx="1737360" cy="487375"/>
            <a:chOff x="902919" y="5723890"/>
            <a:chExt cx="1737360" cy="487375"/>
          </a:xfrm>
        </p:grpSpPr>
        <p:sp>
          <p:nvSpPr>
            <p:cNvPr id="47" name="Oval 46"/>
            <p:cNvSpPr/>
            <p:nvPr/>
          </p:nvSpPr>
          <p:spPr>
            <a:xfrm>
              <a:off x="1604111"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2919"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1 · fold down</a:t>
              </a:r>
            </a:p>
          </p:txBody>
        </p:sp>
      </p:grpSp>
      <p:grpSp>
        <p:nvGrpSpPr>
          <p:cNvPr id="49" name="Vox 2 · ch 22"/>
          <p:cNvGrpSpPr/>
          <p:nvPr/>
        </p:nvGrpSpPr>
        <p:grpSpPr>
          <a:xfrm>
            <a:off x="3247745" y="5723890"/>
            <a:ext cx="1737360" cy="594054"/>
            <a:chOff x="3247745" y="5723890"/>
            <a:chExt cx="1737360" cy="594054"/>
          </a:xfrm>
        </p:grpSpPr>
        <p:sp>
          <p:nvSpPr>
            <p:cNvPr id="50" name="Oval 49"/>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47745"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Vox 2 · ch 22</a:t>
              </a:r>
            </a:p>
            <a:p>
              <a:pPr algn="ctr"/>
              <a:r>
                <a:rPr sz="700" b="0">
                  <a:solidFill>
                    <a:srgbClr val="1F2937"/>
                  </a:solidFill>
                  <a:latin typeface="Arial"/>
                </a:rPr>
                <a:t>Holly's own Beta 58</a:t>
              </a:r>
            </a:p>
          </p:txBody>
        </p:sp>
      </p:grpSp>
      <p:grpSp>
        <p:nvGrpSpPr>
          <p:cNvPr id="52" name="Vox 3 · fold down"/>
          <p:cNvGrpSpPr/>
          <p:nvPr/>
        </p:nvGrpSpPr>
        <p:grpSpPr>
          <a:xfrm>
            <a:off x="5704230" y="5723890"/>
            <a:ext cx="1737360" cy="487375"/>
            <a:chOff x="5704230" y="5723890"/>
            <a:chExt cx="1737360" cy="487375"/>
          </a:xfrm>
        </p:grpSpPr>
        <p:sp>
          <p:nvSpPr>
            <p:cNvPr id="53" name="Oval 52"/>
            <p:cNvSpPr/>
            <p:nvPr/>
          </p:nvSpPr>
          <p:spPr>
            <a:xfrm>
              <a:off x="6405422"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3 · fold down</a:t>
              </a:r>
            </a:p>
          </p:txBody>
        </p:sp>
      </p:grpSp>
      <p:grpSp>
        <p:nvGrpSpPr>
          <p:cNvPr id="55" name="Vox 4 · ch 24"/>
          <p:cNvGrpSpPr/>
          <p:nvPr/>
        </p:nvGrpSpPr>
        <p:grpSpPr>
          <a:xfrm>
            <a:off x="8049056" y="5723890"/>
            <a:ext cx="1737360" cy="487375"/>
            <a:chOff x="8049056" y="5723890"/>
            <a:chExt cx="1737360" cy="487375"/>
          </a:xfrm>
        </p:grpSpPr>
        <p:sp>
          <p:nvSpPr>
            <p:cNvPr id="56" name="Oval 55"/>
            <p:cNvSpPr/>
            <p:nvPr/>
          </p:nvSpPr>
          <p:spPr>
            <a:xfrm>
              <a:off x="8750249"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4 · ch 24</a:t>
              </a:r>
            </a:p>
          </p:txBody>
        </p:sp>
      </p:grpSp>
      <p:sp>
        <p:nvSpPr>
          <p:cNvPr id="58"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59" name="TextBox 58"/>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60"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1" name="TextBox 60"/>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62"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3" name="TextBox 62"/>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64"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5" name="TextBox 64"/>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66"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7" name="TextBox 66"/>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68"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9" name="TextBox 68"/>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70"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1" name="TextBox 70"/>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72" name="TextBox 71"/>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73" name="Rectangle 72"/>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2353936"/>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63981">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Jai on songs 1–3 (lighter player), Shane on songs 4–5 (hard hitter)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Cam: Ampeg DI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Ampeg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Taz</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Acoustic guitar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Milly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Holly, on her own Shure Beta 58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Milly: light backing vocals, and tambourine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Playback L (mono)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Backing track from the band's Mooer Micro DI at the riser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3176904"/>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14, 15, 16, 18, 19, 20, 21, 23, 25, 26, 28. Ch 31/32 are the crowd mics, for the recording only.</a:t>
            </a:r>
          </a:p>
        </p:txBody>
      </p:sp>
      <p:sp>
        <p:nvSpPr>
          <p:cNvPr id="7" name="Monitors and in-ears"/>
          <p:cNvSpPr/>
          <p:nvPr/>
        </p:nvSpPr>
        <p:spPr>
          <a:xfrm>
            <a:off x="5257799" y="777240"/>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Holly has her own wireless in-ears (Xvive U4); the transmitter needs a mix feed from the desk. The drummers' click comes from the band's own headphone amp, not the desk.</a:t>
            </a:r>
          </a:p>
        </p:txBody>
      </p:sp>
      <p:sp>
        <p:nvSpPr>
          <p:cNvPr id="8" name="Screen and playback"/>
          <p:cNvSpPr/>
          <p:nvPr/>
        </p:nvSpPr>
        <p:spPr>
          <a:xfrm>
            <a:off x="5257799" y="1681035"/>
            <a:ext cx="5111496" cy="944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The band's laptop at the drum riser runs the whole set as one Reaper session. Video over HDMI (no audio), already cut and cued, so no VJ needed. Backing track is mono, from their own Mooer Micro DI (or a house DI) into ch 27. An idle loop plays between songs.</a:t>
            </a:r>
          </a:p>
        </p:txBody>
      </p:sp>
      <p:sp>
        <p:nvSpPr>
          <p:cNvPr id="9" name="Changeover into this set"/>
          <p:cNvSpPr/>
          <p:nvPr/>
        </p:nvSpPr>
        <p:spPr>
          <a:xfrm>
            <a:off x="5257799" y="2735643"/>
            <a:ext cx="5111496" cy="944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Changeover into this set</a:t>
            </a:r>
          </a:p>
          <a:p>
            <a:r>
              <a:rPr sz="950">
                <a:solidFill>
                  <a:srgbClr val="1F2937"/>
                </a:solidFill>
                <a:latin typeface="Arial"/>
              </a:rPr>
              <a:t>Strike Aaron's keys, Keira's wireless rig and the side-stage laptop. Regular stand back at Vox 2, with Holly's own Beta 58. AC30 isn't used: mute ch 15. Acoustic DI (ch 17) at Vox 4. Fold down Vox 1, 3 and 5. HDMI run and a DI line to the laptop at the riser.</a:t>
            </a:r>
          </a:p>
        </p:txBody>
      </p:sp>
      <p:sp>
        <p:nvSpPr>
          <p:cNvPr id="10" name="Notes and to confirm"/>
          <p:cNvSpPr/>
          <p:nvPr/>
        </p:nvSpPr>
        <p:spPr>
          <a:xfrm>
            <a:off x="5257799" y="3790251"/>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Two drummers; about a minute to swap before song 4. Milly chose Vox 4 (house right) but also wrote “stage right”, which is house left: confirm her side. The band asks for a smoke machine on the walk-on.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V2 Voyagers (V2 AI)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9:35–10:00 pm · soundcheck 5:00 pm · contact on the day: Holly or Shane</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20:55 planned, in a 25-minute slot.</a:t>
            </a:r>
          </a:p>
        </p:txBody>
      </p:sp>
      <p:graphicFrame>
        <p:nvGraphicFramePr>
          <p:cNvPr id="6" name="Table 5"/>
          <p:cNvGraphicFramePr>
            <a:graphicFrameLocks noGrp="1"/>
          </p:cNvGraphicFramePr>
          <p:nvPr/>
        </p:nvGraphicFramePr>
        <p:xfrm>
          <a:off x="320040" y="1097280"/>
          <a:ext cx="10049256" cy="3089646"/>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472440">
                <a:tc>
                  <a:txBody>
                    <a:bodyPr wrap="square"/>
                    <a:lstStyle/>
                    <a:p>
                      <a:pPr algn="l"/>
                      <a:r>
                        <a:rPr sz="800" b="1">
                          <a:solidFill>
                            <a:srgbClr val="1F2937"/>
                          </a:solidFill>
                          <a:latin typeface="Arial"/>
                        </a:rPr>
                        <a:t>Walk-on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Intro video and audio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Intro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No front lighting, band in silhouette. Bring lights up as the rocket takes off. Smoke machine here too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Venus — Bananarama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2:40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reds, blues, purples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 →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24535">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Cosmic Girl — Jamiroquai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amber, sky blue, purples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Drops of Jupiter — Train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Jai.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turquoise, deep blue, lime green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 →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Drummer 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1:00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Jai off, Shane 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All Star — Smash Mouth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Shane.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Match colours of video: deep greens, reds, sky blue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 →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Idle loop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Medley: Starships — Nicki Minaj / UFO — Sneaky Sound System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5:20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Holly, Cam, Taz, Milly, Shane. Lead: Holly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Backing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Starships: purples, pinks, blues. UFO: golds, reds, whites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